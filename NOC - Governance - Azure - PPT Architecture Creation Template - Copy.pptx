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omments/modernComment_107_697EA86C.xml" ContentType="application/vnd.ms-powerpoint.comment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6"/>
  </p:notesMasterIdLst>
  <p:sldIdLst>
    <p:sldId id="286" r:id="rId5"/>
    <p:sldId id="278" r:id="rId6"/>
    <p:sldId id="258" r:id="rId7"/>
    <p:sldId id="287" r:id="rId8"/>
    <p:sldId id="256" r:id="rId9"/>
    <p:sldId id="285" r:id="rId10"/>
    <p:sldId id="257" r:id="rId11"/>
    <p:sldId id="261" r:id="rId12"/>
    <p:sldId id="262" r:id="rId13"/>
    <p:sldId id="263" r:id="rId14"/>
    <p:sldId id="260" r:id="rId15"/>
    <p:sldId id="264" r:id="rId16"/>
    <p:sldId id="265" r:id="rId17"/>
    <p:sldId id="267" r:id="rId18"/>
    <p:sldId id="266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9" r:id="rId27"/>
    <p:sldId id="288" r:id="rId28"/>
    <p:sldId id="289" r:id="rId29"/>
    <p:sldId id="290" r:id="rId30"/>
    <p:sldId id="282" r:id="rId31"/>
    <p:sldId id="283" r:id="rId32"/>
    <p:sldId id="284" r:id="rId33"/>
    <p:sldId id="291" r:id="rId34"/>
    <p:sldId id="25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5" userDrawn="1">
          <p15:clr>
            <a:srgbClr val="A4A3A4"/>
          </p15:clr>
        </p15:guide>
        <p15:guide id="2" pos="4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A8D453-6D17-49E4-E5EB-4359726CF6EC}" name="Rohit Vaishnav" initials="RV" userId="S::rohit.vaishnav@celebaltech.com::5d0aba6c-2a59-4d1c-be96-0169c51fe3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5A5A5"/>
    <a:srgbClr val="A67AF4"/>
    <a:srgbClr val="9BCD6D"/>
    <a:srgbClr val="2BCBED"/>
    <a:srgbClr val="EDF1FA"/>
    <a:srgbClr val="4472C4"/>
    <a:srgbClr val="F4F4F4"/>
    <a:srgbClr val="5B9BD5"/>
    <a:srgbClr val="FFD7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FB238D-4AA2-4219-A28F-40D039FC95F7}" v="2" dt="2025-12-16T09:18:13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72"/>
      </p:cViewPr>
      <p:guideLst>
        <p:guide orient="horz" pos="1865"/>
        <p:guide pos="4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i Sharma1" userId="b7918129-1473-466d-8bb8-fd2316f5c4f1" providerId="ADAL" clId="{96C930D0-DA80-4A75-B27D-0560DFA8B268}"/>
    <pc:docChg chg="undo custSel modSld">
      <pc:chgData name="Ayushi Sharma1" userId="b7918129-1473-466d-8bb8-fd2316f5c4f1" providerId="ADAL" clId="{96C930D0-DA80-4A75-B27D-0560DFA8B268}" dt="2025-12-16T11:56:43.385" v="61" actId="1076"/>
      <pc:docMkLst>
        <pc:docMk/>
      </pc:docMkLst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2014332127" sldId="256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2014332127" sldId="256"/>
            <ac:picMk id="2" creationId="{29A4A5A8-CF34-C8CF-0EB4-1F03530E06F7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12104053" sldId="257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12104053" sldId="257"/>
            <ac:picMk id="2" creationId="{74BA8098-F34B-7354-5563-E89535296032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744518393" sldId="258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744518393" sldId="258"/>
            <ac:picMk id="3" creationId="{6E159408-88F1-1545-4C08-B799AE43D5D2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87851358" sldId="259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87851358" sldId="259"/>
            <ac:picMk id="2" creationId="{7C95F66B-F316-11CE-40CE-18579FE6BE8C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586976111" sldId="260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586976111" sldId="260"/>
            <ac:picMk id="2" creationId="{35067685-411E-E109-80D6-C436E0805FC4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3271885595" sldId="261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3271885595" sldId="261"/>
            <ac:picMk id="2" creationId="{09116B9B-EA84-7337-A84E-8B5926898BEB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730499938" sldId="262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730499938" sldId="262"/>
            <ac:picMk id="3" creationId="{94B857B0-3F58-325D-DD7A-3AB15628E1B2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769908332" sldId="263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769908332" sldId="263"/>
            <ac:picMk id="2" creationId="{1E9B525B-DED0-2DEF-9EFD-0F6C50466FD8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73147301" sldId="264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73147301" sldId="264"/>
            <ac:picMk id="2" creationId="{7EA26B14-64B0-935D-5FF4-C9A04EC85ECF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3064584571" sldId="265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3064584571" sldId="265"/>
            <ac:picMk id="9" creationId="{4F0D2FEC-6EAF-D892-8A0E-B2A863070E07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2360805346" sldId="266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2360805346" sldId="266"/>
            <ac:picMk id="5" creationId="{E4916FBA-F48C-6D07-ED75-4670693A5466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485689195" sldId="267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485689195" sldId="267"/>
            <ac:picMk id="14" creationId="{16DF8B93-4A3C-3E56-D1FC-4879B839DDAA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808446982" sldId="268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808446982" sldId="268"/>
            <ac:picMk id="5" creationId="{97B0E803-8DF8-4BC3-B0C2-3CCBECDD8647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697103950" sldId="269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697103950" sldId="269"/>
            <ac:picMk id="5" creationId="{4101D50B-3878-D98A-FFC7-513DAD446CD3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779830009" sldId="270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779830009" sldId="270"/>
            <ac:picMk id="5" creationId="{56CBAF78-72E8-311E-D04D-6FC8F6414DEE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2081978450" sldId="271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2081978450" sldId="271"/>
            <ac:picMk id="6" creationId="{EC8F8AC3-FFE5-779B-A285-C7A8DA7B5852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96449330" sldId="272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96449330" sldId="272"/>
            <ac:picMk id="7" creationId="{C2AD3A48-7329-F081-7E6C-019731ADB141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217665880" sldId="273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217665880" sldId="273"/>
            <ac:picMk id="9" creationId="{8DAC04C9-EC6C-7AEE-2CB3-77E2094112C6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3937918366" sldId="274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3937918366" sldId="274"/>
            <ac:picMk id="2" creationId="{9C9CBFCC-B9FE-749D-7E89-893EE7F1F99A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3034816322" sldId="278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3034816322" sldId="278"/>
            <ac:picMk id="5" creationId="{01D675FA-0F79-02B7-5763-8473791BD82A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4195937827" sldId="279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4195937827" sldId="279"/>
            <ac:picMk id="4" creationId="{6E72DC54-64DF-792B-A2CF-F2DC265585FD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639661314" sldId="282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639661314" sldId="282"/>
            <ac:picMk id="2" creationId="{DE4CDEB8-C110-B5C2-C7BA-0908878BD3D5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125205768" sldId="283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125205768" sldId="283"/>
            <ac:picMk id="2" creationId="{A48830C1-618E-9030-A5DE-07A07A7250A9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857847128" sldId="284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857847128" sldId="284"/>
            <ac:picMk id="5" creationId="{9F3F382C-3316-BE4F-09D2-78882C895F72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3972453214" sldId="285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3972453214" sldId="285"/>
            <ac:picMk id="2" creationId="{B7189B99-7F06-ABC4-7C77-3E4783C4EDC8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1240256693" sldId="286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240256693" sldId="286"/>
            <ac:picMk id="2" creationId="{CD15B4A8-A8D8-ECE7-581E-A467057DCD72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3009381122" sldId="287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3009381122" sldId="287"/>
            <ac:picMk id="2" creationId="{EFF85AB8-5F01-139C-C13C-09C2F82F3317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11:56:43.385" v="61" actId="1076"/>
        <pc:sldMkLst>
          <pc:docMk/>
          <pc:sldMk cId="1258501486" sldId="288"/>
        </pc:sldMkLst>
        <pc:spChg chg="mod">
          <ac:chgData name="Ayushi Sharma1" userId="b7918129-1473-466d-8bb8-fd2316f5c4f1" providerId="ADAL" clId="{96C930D0-DA80-4A75-B27D-0560DFA8B268}" dt="2025-11-28T09:04:58.971" v="0" actId="14100"/>
          <ac:spMkLst>
            <pc:docMk/>
            <pc:sldMk cId="1258501486" sldId="288"/>
            <ac:spMk id="5" creationId="{A1C6200A-3C49-809D-1249-C825F86474C1}"/>
          </ac:spMkLst>
        </pc:spChg>
        <pc:spChg chg="mod">
          <ac:chgData name="Ayushi Sharma1" userId="b7918129-1473-466d-8bb8-fd2316f5c4f1" providerId="ADAL" clId="{96C930D0-DA80-4A75-B27D-0560DFA8B268}" dt="2025-12-16T11:56:29.585" v="41" actId="1076"/>
          <ac:spMkLst>
            <pc:docMk/>
            <pc:sldMk cId="1258501486" sldId="288"/>
            <ac:spMk id="11" creationId="{79E4CEF7-81A5-654A-1F87-1C724F4081FA}"/>
          </ac:spMkLst>
        </pc:spChg>
        <pc:spChg chg="mod">
          <ac:chgData name="Ayushi Sharma1" userId="b7918129-1473-466d-8bb8-fd2316f5c4f1" providerId="ADAL" clId="{96C930D0-DA80-4A75-B27D-0560DFA8B268}" dt="2025-12-16T11:56:43.385" v="61" actId="1076"/>
          <ac:spMkLst>
            <pc:docMk/>
            <pc:sldMk cId="1258501486" sldId="288"/>
            <ac:spMk id="26" creationId="{E8238482-A874-E09F-4267-2A58010BEE6D}"/>
          </ac:spMkLst>
        </pc:spChg>
        <pc:spChg chg="mod">
          <ac:chgData name="Ayushi Sharma1" userId="b7918129-1473-466d-8bb8-fd2316f5c4f1" providerId="ADAL" clId="{96C930D0-DA80-4A75-B27D-0560DFA8B268}" dt="2025-12-16T09:22:25.938" v="12" actId="1076"/>
          <ac:spMkLst>
            <pc:docMk/>
            <pc:sldMk cId="1258501486" sldId="288"/>
            <ac:spMk id="119" creationId="{E5CE4D98-A818-83C9-E731-291D739CE7DE}"/>
          </ac:spMkLst>
        </pc:spChg>
        <pc:spChg chg="add del">
          <ac:chgData name="Ayushi Sharma1" userId="b7918129-1473-466d-8bb8-fd2316f5c4f1" providerId="ADAL" clId="{96C930D0-DA80-4A75-B27D-0560DFA8B268}" dt="2025-12-16T09:22:26.343" v="13" actId="478"/>
          <ac:spMkLst>
            <pc:docMk/>
            <pc:sldMk cId="1258501486" sldId="288"/>
            <ac:spMk id="122" creationId="{764529A6-0D2D-4206-209A-8649BE342894}"/>
          </ac:spMkLst>
        </pc:spChg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1258501486" sldId="288"/>
            <ac:picMk id="2" creationId="{57730556-B4DD-8AE8-0FE8-1E6F2BEA14FA}"/>
          </ac:picMkLst>
        </pc:picChg>
        <pc:picChg chg="mod">
          <ac:chgData name="Ayushi Sharma1" userId="b7918129-1473-466d-8bb8-fd2316f5c4f1" providerId="ADAL" clId="{96C930D0-DA80-4A75-B27D-0560DFA8B268}" dt="2025-12-16T09:22:25.938" v="12" actId="1076"/>
          <ac:picMkLst>
            <pc:docMk/>
            <pc:sldMk cId="1258501486" sldId="288"/>
            <ac:picMk id="120" creationId="{9D502AFA-4092-9892-5B82-B362E32D3B0B}"/>
          </ac:picMkLst>
        </pc:picChg>
        <pc:picChg chg="add del">
          <ac:chgData name="Ayushi Sharma1" userId="b7918129-1473-466d-8bb8-fd2316f5c4f1" providerId="ADAL" clId="{96C930D0-DA80-4A75-B27D-0560DFA8B268}" dt="2025-12-16T09:22:27.171" v="14" actId="478"/>
          <ac:picMkLst>
            <pc:docMk/>
            <pc:sldMk cId="1258501486" sldId="288"/>
            <ac:picMk id="123" creationId="{FBD36ECC-0241-0600-DF70-059C350FE832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292889179" sldId="289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292889179" sldId="289"/>
            <ac:picMk id="6" creationId="{2104F970-D0F0-AF4F-B2CC-FDC914C7BD5D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6:16:11.757" v="2" actId="34818"/>
        <pc:sldMkLst>
          <pc:docMk/>
          <pc:sldMk cId="3082433349" sldId="290"/>
        </pc:sldMkLst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3082433349" sldId="290"/>
            <ac:picMk id="2" creationId="{2A8BC0FA-730D-56F2-60DB-CAF860DB8D5E}"/>
          </ac:picMkLst>
        </pc:picChg>
      </pc:sldChg>
      <pc:sldChg chg="addSp delSp modSp mod">
        <pc:chgData name="Ayushi Sharma1" userId="b7918129-1473-466d-8bb8-fd2316f5c4f1" providerId="ADAL" clId="{96C930D0-DA80-4A75-B27D-0560DFA8B268}" dt="2025-12-16T09:18:13.323" v="4" actId="165"/>
        <pc:sldMkLst>
          <pc:docMk/>
          <pc:sldMk cId="2233340959" sldId="291"/>
        </pc:sldMkLst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74" creationId="{976836C5-44F9-127E-A998-B1B5B6C685A1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77" creationId="{DDFC0FA3-67A6-60F5-BC94-95E4C6F97307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78" creationId="{98600D82-F8BD-E7E3-FA91-E0E6B4DE15C7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80" creationId="{3C44163B-4E46-F10E-693B-BDE1A4C5FC45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83" creationId="{6044AB6C-1201-4171-6DDB-A18BC52AFAF5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84" creationId="{FBB066A6-47D2-AEB7-ED71-4484FE7ABDE6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86" creationId="{5A078825-479D-BCC9-6506-68B81BE6DE73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88" creationId="{05AB85A0-955B-E3A4-30A2-8C6BA2B6B215}"/>
          </ac:spMkLst>
        </pc:spChg>
        <pc:spChg chg="mod">
          <ac:chgData name="Ayushi Sharma1" userId="b7918129-1473-466d-8bb8-fd2316f5c4f1" providerId="ADAL" clId="{96C930D0-DA80-4A75-B27D-0560DFA8B268}" dt="2025-12-16T09:18:08.689" v="3" actId="164"/>
          <ac:spMkLst>
            <pc:docMk/>
            <pc:sldMk cId="2233340959" sldId="291"/>
            <ac:spMk id="142" creationId="{A302C09F-2544-9F5C-47AA-5319461911DE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145" creationId="{1D9C9505-7433-3384-555E-641EAE446016}"/>
          </ac:spMkLst>
        </pc:spChg>
        <pc:spChg chg="mod topLvl">
          <ac:chgData name="Ayushi Sharma1" userId="b7918129-1473-466d-8bb8-fd2316f5c4f1" providerId="ADAL" clId="{96C930D0-DA80-4A75-B27D-0560DFA8B268}" dt="2025-12-16T09:18:13.323" v="4" actId="165"/>
          <ac:spMkLst>
            <pc:docMk/>
            <pc:sldMk cId="2233340959" sldId="291"/>
            <ac:spMk id="147" creationId="{D63B495B-ED03-94F2-7242-6C18490B5CAB}"/>
          </ac:spMkLst>
        </pc:spChg>
        <pc:grpChg chg="add mod">
          <ac:chgData name="Ayushi Sharma1" userId="b7918129-1473-466d-8bb8-fd2316f5c4f1" providerId="ADAL" clId="{96C930D0-DA80-4A75-B27D-0560DFA8B268}" dt="2025-12-16T09:18:08.689" v="3" actId="164"/>
          <ac:grpSpMkLst>
            <pc:docMk/>
            <pc:sldMk cId="2233340959" sldId="291"/>
            <ac:grpSpMk id="31" creationId="{B90D4C76-29EA-C0D8-A692-723BE584A82F}"/>
          </ac:grpSpMkLst>
        </pc:grpChg>
        <pc:picChg chg="add del mod">
          <ac:chgData name="Ayushi Sharma1" userId="b7918129-1473-466d-8bb8-fd2316f5c4f1" providerId="ADAL" clId="{96C930D0-DA80-4A75-B27D-0560DFA8B268}" dt="2025-12-16T06:16:11.757" v="2" actId="34818"/>
          <ac:picMkLst>
            <pc:docMk/>
            <pc:sldMk cId="2233340959" sldId="291"/>
            <ac:picMk id="7" creationId="{66555B52-1B06-212C-C8BB-01A41F334566}"/>
          </ac:picMkLst>
        </pc:picChg>
        <pc:picChg chg="mod">
          <ac:chgData name="Ayushi Sharma1" userId="b7918129-1473-466d-8bb8-fd2316f5c4f1" providerId="ADAL" clId="{96C930D0-DA80-4A75-B27D-0560DFA8B268}" dt="2025-12-16T09:18:08.689" v="3" actId="164"/>
          <ac:picMkLst>
            <pc:docMk/>
            <pc:sldMk cId="2233340959" sldId="291"/>
            <ac:picMk id="146" creationId="{746634EA-FA70-9E06-0086-765444A5F9E7}"/>
          </ac:picMkLst>
        </pc:picChg>
      </pc:sldChg>
    </pc:docChg>
  </pc:docChgLst>
</pc:chgInfo>
</file>

<file path=ppt/comments/modernComment_107_697EA8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53E74F-DD5C-4E0A-A7B8-A2E111E21E9A}" authorId="{24A8D453-6D17-49E4-E5EB-4359726CF6EC}" created="2024-10-03T13:56:34.785">
    <pc:sldMkLst xmlns:pc="http://schemas.microsoft.com/office/powerpoint/2013/main/command">
      <pc:docMk/>
      <pc:sldMk cId="1769908332" sldId="263"/>
    </pc:sldMkLst>
    <p188:replyLst>
      <p188:reply id="{ED0E652D-AEA8-4094-A8A1-E3D539B5E966}" authorId="{24A8D453-6D17-49E4-E5EB-4359726CF6EC}" created="2024-10-03T13:56:57.238">
        <p188:txBody>
          <a:bodyPr/>
          <a:lstStyle/>
          <a:p>
            <a:r>
              <a:rPr lang="en-IN"/>
              <a:t>And keep this in portrait rather than landscape view</a:t>
            </a:r>
          </a:p>
        </p188:txBody>
      </p188:reply>
    </p188:replyLst>
    <p188:txBody>
      <a:bodyPr/>
      <a:lstStyle/>
      <a:p>
        <a:r>
          <a:rPr lang="en-IN"/>
          <a:t>Please change the representation with additional space to accommodate more subnets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49240-4A42-4DAB-A56A-3344BBFE09E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04BE0-9665-4AEC-9567-B033451A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97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04BE0-9665-4AEC-9567-B033451A07F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2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82C4-4F4A-0638-5B27-C42F8388A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3AA6F-C8BC-9E04-BF5A-FF382FE35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94D53-2CC1-4220-9A2A-AE8677836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9A0F8-5123-F244-8ADC-71CFD9D5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3AA48-5275-EF9C-6A6D-8B3089BF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5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F5E830-C0AE-DB53-5670-6F63EF0B309E}"/>
              </a:ext>
            </a:extLst>
          </p:cNvPr>
          <p:cNvSpPr/>
          <p:nvPr/>
        </p:nvSpPr>
        <p:spPr>
          <a:xfrm>
            <a:off x="1" y="6615736"/>
            <a:ext cx="12192000" cy="2422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3671A7-995B-1B7E-67E5-326F27220EDB}"/>
              </a:ext>
            </a:extLst>
          </p:cNvPr>
          <p:cNvSpPr/>
          <p:nvPr/>
        </p:nvSpPr>
        <p:spPr>
          <a:xfrm>
            <a:off x="10962462" y="6546365"/>
            <a:ext cx="949125" cy="13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0B4C1B-60A2-F27C-68D3-6F6F7AF42AF8}"/>
              </a:ext>
            </a:extLst>
          </p:cNvPr>
          <p:cNvSpPr/>
          <p:nvPr/>
        </p:nvSpPr>
        <p:spPr>
          <a:xfrm>
            <a:off x="0" y="194849"/>
            <a:ext cx="127322" cy="6192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BA0682-8588-34B8-9C3F-F6736EDD4B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84241" y="192121"/>
            <a:ext cx="1666505" cy="590548"/>
          </a:xfrm>
          <a:prstGeom prst="rect">
            <a:avLst/>
          </a:prstGeom>
        </p:spPr>
      </p:pic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0140FFD0-770D-1851-74BD-88591F62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22" y="202164"/>
            <a:ext cx="8988747" cy="611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1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microsoft.com/office/2018/10/relationships/comments" Target="../comments/modernComment_107_697EA86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9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svg"/><Relationship Id="rId7" Type="http://schemas.openxmlformats.org/officeDocument/2006/relationships/image" Target="../media/image43.jpeg"/><Relationship Id="rId12" Type="http://schemas.openxmlformats.org/officeDocument/2006/relationships/image" Target="../media/image48.png"/><Relationship Id="rId17" Type="http://schemas.openxmlformats.org/officeDocument/2006/relationships/image" Target="../media/image53.sv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emf"/><Relationship Id="rId10" Type="http://schemas.openxmlformats.org/officeDocument/2006/relationships/image" Target="../media/image46.png"/><Relationship Id="rId19" Type="http://schemas.openxmlformats.org/officeDocument/2006/relationships/image" Target="../media/image55.svg"/><Relationship Id="rId4" Type="http://schemas.openxmlformats.org/officeDocument/2006/relationships/image" Target="../media/image40.svg"/><Relationship Id="rId9" Type="http://schemas.openxmlformats.org/officeDocument/2006/relationships/image" Target="../media/image45.jpeg"/><Relationship Id="rId14" Type="http://schemas.openxmlformats.org/officeDocument/2006/relationships/image" Target="../media/image5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13" Type="http://schemas.openxmlformats.org/officeDocument/2006/relationships/image" Target="../media/image68.png"/><Relationship Id="rId18" Type="http://schemas.openxmlformats.org/officeDocument/2006/relationships/image" Target="../media/image71.svg"/><Relationship Id="rId26" Type="http://schemas.openxmlformats.org/officeDocument/2006/relationships/image" Target="../media/image77.svg"/><Relationship Id="rId3" Type="http://schemas.openxmlformats.org/officeDocument/2006/relationships/image" Target="../media/image58.png"/><Relationship Id="rId21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svg"/><Relationship Id="rId17" Type="http://schemas.openxmlformats.org/officeDocument/2006/relationships/image" Target="../media/image70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0" Type="http://schemas.openxmlformats.org/officeDocument/2006/relationships/image" Target="../media/image7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svg"/><Relationship Id="rId11" Type="http://schemas.openxmlformats.org/officeDocument/2006/relationships/image" Target="../media/image66.png"/><Relationship Id="rId24" Type="http://schemas.openxmlformats.org/officeDocument/2006/relationships/image" Target="../media/image11.svg"/><Relationship Id="rId5" Type="http://schemas.openxmlformats.org/officeDocument/2006/relationships/image" Target="../media/image60.png"/><Relationship Id="rId15" Type="http://schemas.openxmlformats.org/officeDocument/2006/relationships/image" Target="../media/image12.png"/><Relationship Id="rId23" Type="http://schemas.openxmlformats.org/officeDocument/2006/relationships/image" Target="../media/image10.png"/><Relationship Id="rId10" Type="http://schemas.openxmlformats.org/officeDocument/2006/relationships/image" Target="../media/image65.svg"/><Relationship Id="rId19" Type="http://schemas.openxmlformats.org/officeDocument/2006/relationships/image" Target="../media/image72.png"/><Relationship Id="rId4" Type="http://schemas.openxmlformats.org/officeDocument/2006/relationships/image" Target="../media/image59.sv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7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5.svg"/><Relationship Id="rId7" Type="http://schemas.openxmlformats.org/officeDocument/2006/relationships/image" Target="../media/image63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11.svg"/><Relationship Id="rId5" Type="http://schemas.openxmlformats.org/officeDocument/2006/relationships/image" Target="../media/image61.svg"/><Relationship Id="rId10" Type="http://schemas.openxmlformats.org/officeDocument/2006/relationships/image" Target="../media/image10.png"/><Relationship Id="rId4" Type="http://schemas.openxmlformats.org/officeDocument/2006/relationships/image" Target="../media/image60.png"/><Relationship Id="rId9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svg"/><Relationship Id="rId3" Type="http://schemas.openxmlformats.org/officeDocument/2006/relationships/image" Target="../media/image79.svg"/><Relationship Id="rId7" Type="http://schemas.openxmlformats.org/officeDocument/2006/relationships/image" Target="../media/image17.svg"/><Relationship Id="rId12" Type="http://schemas.openxmlformats.org/officeDocument/2006/relationships/image" Target="../media/image20.png"/><Relationship Id="rId17" Type="http://schemas.openxmlformats.org/officeDocument/2006/relationships/image" Target="../media/image13.svg"/><Relationship Id="rId2" Type="http://schemas.openxmlformats.org/officeDocument/2006/relationships/image" Target="../media/image7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81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9.svg"/><Relationship Id="rId1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61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67.svg"/><Relationship Id="rId5" Type="http://schemas.openxmlformats.org/officeDocument/2006/relationships/image" Target="../media/image71.svg"/><Relationship Id="rId10" Type="http://schemas.openxmlformats.org/officeDocument/2006/relationships/image" Target="../media/image66.png"/><Relationship Id="rId4" Type="http://schemas.openxmlformats.org/officeDocument/2006/relationships/image" Target="../media/image70.png"/><Relationship Id="rId9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53.svg"/><Relationship Id="rId18" Type="http://schemas.openxmlformats.org/officeDocument/2006/relationships/image" Target="../media/image10.png"/><Relationship Id="rId3" Type="http://schemas.openxmlformats.org/officeDocument/2006/relationships/image" Target="../media/image65.svg"/><Relationship Id="rId7" Type="http://schemas.openxmlformats.org/officeDocument/2006/relationships/image" Target="../media/image82.svg"/><Relationship Id="rId12" Type="http://schemas.openxmlformats.org/officeDocument/2006/relationships/image" Target="../media/image52.png"/><Relationship Id="rId17" Type="http://schemas.openxmlformats.org/officeDocument/2006/relationships/image" Target="../media/image75.svg"/><Relationship Id="rId2" Type="http://schemas.openxmlformats.org/officeDocument/2006/relationships/image" Target="../media/image64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55.svg"/><Relationship Id="rId10" Type="http://schemas.openxmlformats.org/officeDocument/2006/relationships/image" Target="../media/image66.png"/><Relationship Id="rId19" Type="http://schemas.openxmlformats.org/officeDocument/2006/relationships/image" Target="../media/image11.svg"/><Relationship Id="rId4" Type="http://schemas.openxmlformats.org/officeDocument/2006/relationships/image" Target="../media/image60.png"/><Relationship Id="rId9" Type="http://schemas.openxmlformats.org/officeDocument/2006/relationships/image" Target="../media/image13.svg"/><Relationship Id="rId1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79.svg"/><Relationship Id="rId7" Type="http://schemas.openxmlformats.org/officeDocument/2006/relationships/image" Target="../media/image15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3.svg"/><Relationship Id="rId5" Type="http://schemas.openxmlformats.org/officeDocument/2006/relationships/image" Target="../media/image9.sv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6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7" Type="http://schemas.openxmlformats.org/officeDocument/2006/relationships/image" Target="../media/image84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13.svg"/><Relationship Id="rId18" Type="http://schemas.openxmlformats.org/officeDocument/2006/relationships/image" Target="../media/image88.png"/><Relationship Id="rId26" Type="http://schemas.openxmlformats.org/officeDocument/2006/relationships/image" Target="../media/image96.png"/><Relationship Id="rId3" Type="http://schemas.openxmlformats.org/officeDocument/2006/relationships/image" Target="../media/image9.svg"/><Relationship Id="rId21" Type="http://schemas.openxmlformats.org/officeDocument/2006/relationships/image" Target="../media/image91.svg"/><Relationship Id="rId7" Type="http://schemas.openxmlformats.org/officeDocument/2006/relationships/image" Target="../media/image11.svg"/><Relationship Id="rId12" Type="http://schemas.openxmlformats.org/officeDocument/2006/relationships/image" Target="../media/image12.png"/><Relationship Id="rId17" Type="http://schemas.openxmlformats.org/officeDocument/2006/relationships/image" Target="../media/image87.svg"/><Relationship Id="rId25" Type="http://schemas.openxmlformats.org/officeDocument/2006/relationships/image" Target="../media/image95.svg"/><Relationship Id="rId2" Type="http://schemas.openxmlformats.org/officeDocument/2006/relationships/image" Target="../media/image8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29" Type="http://schemas.openxmlformats.org/officeDocument/2006/relationships/image" Target="../media/image9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85.svg"/><Relationship Id="rId24" Type="http://schemas.openxmlformats.org/officeDocument/2006/relationships/image" Target="../media/image94.png"/><Relationship Id="rId5" Type="http://schemas.openxmlformats.org/officeDocument/2006/relationships/image" Target="../media/image55.svg"/><Relationship Id="rId15" Type="http://schemas.openxmlformats.org/officeDocument/2006/relationships/image" Target="../media/image61.svg"/><Relationship Id="rId23" Type="http://schemas.openxmlformats.org/officeDocument/2006/relationships/image" Target="../media/image93.svg"/><Relationship Id="rId28" Type="http://schemas.openxmlformats.org/officeDocument/2006/relationships/image" Target="../media/image98.png"/><Relationship Id="rId10" Type="http://schemas.openxmlformats.org/officeDocument/2006/relationships/image" Target="../media/image70.png"/><Relationship Id="rId19" Type="http://schemas.openxmlformats.org/officeDocument/2006/relationships/image" Target="../media/image89.svg"/><Relationship Id="rId31" Type="http://schemas.openxmlformats.org/officeDocument/2006/relationships/image" Target="../media/image5.svg"/><Relationship Id="rId4" Type="http://schemas.openxmlformats.org/officeDocument/2006/relationships/image" Target="../media/image54.png"/><Relationship Id="rId9" Type="http://schemas.openxmlformats.org/officeDocument/2006/relationships/image" Target="../media/image67.svg"/><Relationship Id="rId14" Type="http://schemas.openxmlformats.org/officeDocument/2006/relationships/image" Target="../media/image60.png"/><Relationship Id="rId22" Type="http://schemas.openxmlformats.org/officeDocument/2006/relationships/image" Target="../media/image92.png"/><Relationship Id="rId27" Type="http://schemas.openxmlformats.org/officeDocument/2006/relationships/image" Target="../media/image97.svg"/><Relationship Id="rId30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67.svg"/><Relationship Id="rId18" Type="http://schemas.openxmlformats.org/officeDocument/2006/relationships/image" Target="../media/image60.png"/><Relationship Id="rId26" Type="http://schemas.openxmlformats.org/officeDocument/2006/relationships/image" Target="../media/image68.png"/><Relationship Id="rId3" Type="http://schemas.openxmlformats.org/officeDocument/2006/relationships/image" Target="../media/image9.svg"/><Relationship Id="rId21" Type="http://schemas.openxmlformats.org/officeDocument/2006/relationships/image" Target="../media/image105.svg"/><Relationship Id="rId7" Type="http://schemas.openxmlformats.org/officeDocument/2006/relationships/image" Target="../media/image5.svg"/><Relationship Id="rId12" Type="http://schemas.openxmlformats.org/officeDocument/2006/relationships/image" Target="../media/image66.png"/><Relationship Id="rId17" Type="http://schemas.openxmlformats.org/officeDocument/2006/relationships/image" Target="../media/image13.svg"/><Relationship Id="rId25" Type="http://schemas.openxmlformats.org/officeDocument/2006/relationships/image" Target="../media/image59.svg"/><Relationship Id="rId2" Type="http://schemas.openxmlformats.org/officeDocument/2006/relationships/image" Target="../media/image8.png"/><Relationship Id="rId16" Type="http://schemas.openxmlformats.org/officeDocument/2006/relationships/image" Target="../media/image12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24" Type="http://schemas.openxmlformats.org/officeDocument/2006/relationships/image" Target="../media/image58.png"/><Relationship Id="rId5" Type="http://schemas.openxmlformats.org/officeDocument/2006/relationships/image" Target="../media/image101.svg"/><Relationship Id="rId15" Type="http://schemas.openxmlformats.org/officeDocument/2006/relationships/image" Target="../media/image85.svg"/><Relationship Id="rId23" Type="http://schemas.openxmlformats.org/officeDocument/2006/relationships/image" Target="../media/image63.svg"/><Relationship Id="rId10" Type="http://schemas.openxmlformats.org/officeDocument/2006/relationships/image" Target="../media/image10.png"/><Relationship Id="rId19" Type="http://schemas.openxmlformats.org/officeDocument/2006/relationships/image" Target="../media/image61.svg"/><Relationship Id="rId4" Type="http://schemas.openxmlformats.org/officeDocument/2006/relationships/image" Target="../media/image100.png"/><Relationship Id="rId9" Type="http://schemas.openxmlformats.org/officeDocument/2006/relationships/image" Target="../media/image103.svg"/><Relationship Id="rId14" Type="http://schemas.openxmlformats.org/officeDocument/2006/relationships/image" Target="../media/image70.png"/><Relationship Id="rId22" Type="http://schemas.openxmlformats.org/officeDocument/2006/relationships/image" Target="../media/image62.png"/><Relationship Id="rId27" Type="http://schemas.openxmlformats.org/officeDocument/2006/relationships/image" Target="../media/image69.sv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svg"/><Relationship Id="rId18" Type="http://schemas.openxmlformats.org/officeDocument/2006/relationships/image" Target="../media/image119.png"/><Relationship Id="rId26" Type="http://schemas.openxmlformats.org/officeDocument/2006/relationships/image" Target="../media/image54.png"/><Relationship Id="rId39" Type="http://schemas.openxmlformats.org/officeDocument/2006/relationships/image" Target="../media/image134.png"/><Relationship Id="rId21" Type="http://schemas.openxmlformats.org/officeDocument/2006/relationships/image" Target="../media/image122.svg"/><Relationship Id="rId34" Type="http://schemas.openxmlformats.org/officeDocument/2006/relationships/image" Target="../media/image129.svg"/><Relationship Id="rId42" Type="http://schemas.openxmlformats.org/officeDocument/2006/relationships/image" Target="../media/image136.svg"/><Relationship Id="rId47" Type="http://schemas.openxmlformats.org/officeDocument/2006/relationships/image" Target="../media/image60.png"/><Relationship Id="rId50" Type="http://schemas.openxmlformats.org/officeDocument/2006/relationships/image" Target="../media/image67.svg"/><Relationship Id="rId7" Type="http://schemas.openxmlformats.org/officeDocument/2006/relationships/image" Target="../media/image109.svg"/><Relationship Id="rId2" Type="http://schemas.openxmlformats.org/officeDocument/2006/relationships/image" Target="../media/image64.png"/><Relationship Id="rId16" Type="http://schemas.openxmlformats.org/officeDocument/2006/relationships/image" Target="../media/image117.png"/><Relationship Id="rId29" Type="http://schemas.openxmlformats.org/officeDocument/2006/relationships/image" Target="../media/image126.png"/><Relationship Id="rId11" Type="http://schemas.openxmlformats.org/officeDocument/2006/relationships/image" Target="../media/image112.svg"/><Relationship Id="rId24" Type="http://schemas.openxmlformats.org/officeDocument/2006/relationships/image" Target="../media/image26.png"/><Relationship Id="rId32" Type="http://schemas.openxmlformats.org/officeDocument/2006/relationships/image" Target="../media/image81.svg"/><Relationship Id="rId37" Type="http://schemas.openxmlformats.org/officeDocument/2006/relationships/image" Target="../media/image132.png"/><Relationship Id="rId40" Type="http://schemas.openxmlformats.org/officeDocument/2006/relationships/image" Target="../media/image135.svg"/><Relationship Id="rId45" Type="http://schemas.openxmlformats.org/officeDocument/2006/relationships/image" Target="../media/image62.png"/><Relationship Id="rId5" Type="http://schemas.openxmlformats.org/officeDocument/2006/relationships/image" Target="../media/image108.svg"/><Relationship Id="rId15" Type="http://schemas.openxmlformats.org/officeDocument/2006/relationships/image" Target="../media/image116.svg"/><Relationship Id="rId23" Type="http://schemas.openxmlformats.org/officeDocument/2006/relationships/image" Target="../media/image124.svg"/><Relationship Id="rId28" Type="http://schemas.openxmlformats.org/officeDocument/2006/relationships/image" Target="../media/image125.svg"/><Relationship Id="rId36" Type="http://schemas.openxmlformats.org/officeDocument/2006/relationships/image" Target="../media/image131.svg"/><Relationship Id="rId49" Type="http://schemas.openxmlformats.org/officeDocument/2006/relationships/image" Target="../media/image66.png"/><Relationship Id="rId10" Type="http://schemas.openxmlformats.org/officeDocument/2006/relationships/image" Target="../media/image111.png"/><Relationship Id="rId19" Type="http://schemas.openxmlformats.org/officeDocument/2006/relationships/image" Target="../media/image120.svg"/><Relationship Id="rId31" Type="http://schemas.openxmlformats.org/officeDocument/2006/relationships/image" Target="../media/image80.png"/><Relationship Id="rId44" Type="http://schemas.openxmlformats.org/officeDocument/2006/relationships/image" Target="../media/image138.svg"/><Relationship Id="rId52" Type="http://schemas.openxmlformats.org/officeDocument/2006/relationships/image" Target="../media/image5.svg"/><Relationship Id="rId4" Type="http://schemas.openxmlformats.org/officeDocument/2006/relationships/image" Target="../media/image107.png"/><Relationship Id="rId9" Type="http://schemas.openxmlformats.org/officeDocument/2006/relationships/image" Target="../media/image110.sv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55.svg"/><Relationship Id="rId30" Type="http://schemas.openxmlformats.org/officeDocument/2006/relationships/image" Target="../media/image127.svg"/><Relationship Id="rId35" Type="http://schemas.openxmlformats.org/officeDocument/2006/relationships/image" Target="../media/image130.png"/><Relationship Id="rId43" Type="http://schemas.openxmlformats.org/officeDocument/2006/relationships/image" Target="../media/image137.png"/><Relationship Id="rId48" Type="http://schemas.openxmlformats.org/officeDocument/2006/relationships/image" Target="../media/image61.svg"/><Relationship Id="rId8" Type="http://schemas.openxmlformats.org/officeDocument/2006/relationships/image" Target="../media/image70.png"/><Relationship Id="rId51" Type="http://schemas.openxmlformats.org/officeDocument/2006/relationships/image" Target="../media/image4.png"/><Relationship Id="rId3" Type="http://schemas.openxmlformats.org/officeDocument/2006/relationships/image" Target="../media/image106.svg"/><Relationship Id="rId12" Type="http://schemas.openxmlformats.org/officeDocument/2006/relationships/image" Target="../media/image113.png"/><Relationship Id="rId17" Type="http://schemas.openxmlformats.org/officeDocument/2006/relationships/image" Target="../media/image118.svg"/><Relationship Id="rId25" Type="http://schemas.openxmlformats.org/officeDocument/2006/relationships/image" Target="../media/image27.svg"/><Relationship Id="rId33" Type="http://schemas.openxmlformats.org/officeDocument/2006/relationships/image" Target="../media/image128.png"/><Relationship Id="rId38" Type="http://schemas.openxmlformats.org/officeDocument/2006/relationships/image" Target="../media/image133.svg"/><Relationship Id="rId46" Type="http://schemas.openxmlformats.org/officeDocument/2006/relationships/image" Target="../media/image63.svg"/><Relationship Id="rId20" Type="http://schemas.openxmlformats.org/officeDocument/2006/relationships/image" Target="../media/image121.png"/><Relationship Id="rId41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1.svg"/><Relationship Id="rId7" Type="http://schemas.openxmlformats.org/officeDocument/2006/relationships/image" Target="../media/image14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8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1.svg"/><Relationship Id="rId7" Type="http://schemas.openxmlformats.org/officeDocument/2006/relationships/image" Target="../media/image14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85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6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12" Type="http://schemas.openxmlformats.org/officeDocument/2006/relationships/image" Target="../media/image145.png"/><Relationship Id="rId17" Type="http://schemas.openxmlformats.org/officeDocument/2006/relationships/image" Target="../media/image148.svg"/><Relationship Id="rId2" Type="http://schemas.openxmlformats.org/officeDocument/2006/relationships/image" Target="../media/image10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06.svg"/><Relationship Id="rId5" Type="http://schemas.openxmlformats.org/officeDocument/2006/relationships/image" Target="../media/image142.svg"/><Relationship Id="rId15" Type="http://schemas.openxmlformats.org/officeDocument/2006/relationships/image" Target="../media/image84.svg"/><Relationship Id="rId10" Type="http://schemas.openxmlformats.org/officeDocument/2006/relationships/image" Target="../media/image64.png"/><Relationship Id="rId4" Type="http://schemas.openxmlformats.org/officeDocument/2006/relationships/image" Target="../media/image141.png"/><Relationship Id="rId9" Type="http://schemas.openxmlformats.org/officeDocument/2006/relationships/image" Target="../media/image144.svg"/><Relationship Id="rId14" Type="http://schemas.openxmlformats.org/officeDocument/2006/relationships/image" Target="../media/image83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.svg"/><Relationship Id="rId21" Type="http://schemas.openxmlformats.org/officeDocument/2006/relationships/image" Target="../media/image34.png"/><Relationship Id="rId42" Type="http://schemas.openxmlformats.org/officeDocument/2006/relationships/image" Target="../media/image7.svg"/><Relationship Id="rId47" Type="http://schemas.openxmlformats.org/officeDocument/2006/relationships/image" Target="../media/image20.png"/><Relationship Id="rId63" Type="http://schemas.openxmlformats.org/officeDocument/2006/relationships/image" Target="../media/image158.svg"/><Relationship Id="rId68" Type="http://schemas.openxmlformats.org/officeDocument/2006/relationships/image" Target="../media/image163.png"/><Relationship Id="rId7" Type="http://schemas.openxmlformats.org/officeDocument/2006/relationships/image" Target="../media/image150.svg"/><Relationship Id="rId71" Type="http://schemas.openxmlformats.org/officeDocument/2006/relationships/image" Target="../media/image5.svg"/><Relationship Id="rId2" Type="http://schemas.openxmlformats.org/officeDocument/2006/relationships/image" Target="../media/image54.png"/><Relationship Id="rId16" Type="http://schemas.openxmlformats.org/officeDocument/2006/relationships/image" Target="../media/image13.svg"/><Relationship Id="rId29" Type="http://schemas.openxmlformats.org/officeDocument/2006/relationships/image" Target="../media/image78.png"/><Relationship Id="rId11" Type="http://schemas.openxmlformats.org/officeDocument/2006/relationships/image" Target="../media/image8.png"/><Relationship Id="rId24" Type="http://schemas.openxmlformats.org/officeDocument/2006/relationships/image" Target="../media/image85.svg"/><Relationship Id="rId32" Type="http://schemas.openxmlformats.org/officeDocument/2006/relationships/image" Target="../media/image67.svg"/><Relationship Id="rId37" Type="http://schemas.openxmlformats.org/officeDocument/2006/relationships/image" Target="../media/image32.png"/><Relationship Id="rId40" Type="http://schemas.openxmlformats.org/officeDocument/2006/relationships/image" Target="../media/image152.svg"/><Relationship Id="rId45" Type="http://schemas.openxmlformats.org/officeDocument/2006/relationships/image" Target="../media/image60.png"/><Relationship Id="rId53" Type="http://schemas.openxmlformats.org/officeDocument/2006/relationships/image" Target="../media/image156.png"/><Relationship Id="rId58" Type="http://schemas.openxmlformats.org/officeDocument/2006/relationships/image" Target="../media/image14.png"/><Relationship Id="rId66" Type="http://schemas.openxmlformats.org/officeDocument/2006/relationships/image" Target="../media/image161.png"/><Relationship Id="rId5" Type="http://schemas.openxmlformats.org/officeDocument/2006/relationships/image" Target="../media/image65.svg"/><Relationship Id="rId61" Type="http://schemas.openxmlformats.org/officeDocument/2006/relationships/image" Target="../media/image17.svg"/><Relationship Id="rId19" Type="http://schemas.openxmlformats.org/officeDocument/2006/relationships/image" Target="../media/image30.png"/><Relationship Id="rId14" Type="http://schemas.openxmlformats.org/officeDocument/2006/relationships/image" Target="../media/image11.svg"/><Relationship Id="rId22" Type="http://schemas.openxmlformats.org/officeDocument/2006/relationships/image" Target="../media/image35.svg"/><Relationship Id="rId27" Type="http://schemas.openxmlformats.org/officeDocument/2006/relationships/image" Target="../media/image139.png"/><Relationship Id="rId30" Type="http://schemas.openxmlformats.org/officeDocument/2006/relationships/image" Target="../media/image79.svg"/><Relationship Id="rId35" Type="http://schemas.openxmlformats.org/officeDocument/2006/relationships/image" Target="../media/image28.png"/><Relationship Id="rId43" Type="http://schemas.openxmlformats.org/officeDocument/2006/relationships/image" Target="../media/image62.png"/><Relationship Id="rId48" Type="http://schemas.openxmlformats.org/officeDocument/2006/relationships/image" Target="../media/image21.svg"/><Relationship Id="rId56" Type="http://schemas.openxmlformats.org/officeDocument/2006/relationships/image" Target="../media/image76.png"/><Relationship Id="rId64" Type="http://schemas.openxmlformats.org/officeDocument/2006/relationships/image" Target="../media/image159.png"/><Relationship Id="rId69" Type="http://schemas.openxmlformats.org/officeDocument/2006/relationships/image" Target="../media/image164.svg"/><Relationship Id="rId8" Type="http://schemas.openxmlformats.org/officeDocument/2006/relationships/image" Target="../media/image151.emf"/><Relationship Id="rId51" Type="http://schemas.openxmlformats.org/officeDocument/2006/relationships/image" Target="../media/image154.png"/><Relationship Id="rId3" Type="http://schemas.openxmlformats.org/officeDocument/2006/relationships/image" Target="../media/image55.svg"/><Relationship Id="rId12" Type="http://schemas.openxmlformats.org/officeDocument/2006/relationships/image" Target="../media/image9.svg"/><Relationship Id="rId17" Type="http://schemas.openxmlformats.org/officeDocument/2006/relationships/image" Target="../media/image26.png"/><Relationship Id="rId25" Type="http://schemas.openxmlformats.org/officeDocument/2006/relationships/image" Target="../media/image18.png"/><Relationship Id="rId33" Type="http://schemas.openxmlformats.org/officeDocument/2006/relationships/image" Target="../media/image80.png"/><Relationship Id="rId38" Type="http://schemas.openxmlformats.org/officeDocument/2006/relationships/image" Target="../media/image33.svg"/><Relationship Id="rId46" Type="http://schemas.openxmlformats.org/officeDocument/2006/relationships/image" Target="../media/image61.svg"/><Relationship Id="rId59" Type="http://schemas.openxmlformats.org/officeDocument/2006/relationships/image" Target="../media/image15.svg"/><Relationship Id="rId67" Type="http://schemas.openxmlformats.org/officeDocument/2006/relationships/image" Target="../media/image162.svg"/><Relationship Id="rId20" Type="http://schemas.openxmlformats.org/officeDocument/2006/relationships/image" Target="../media/image31.svg"/><Relationship Id="rId41" Type="http://schemas.openxmlformats.org/officeDocument/2006/relationships/image" Target="../media/image6.png"/><Relationship Id="rId54" Type="http://schemas.openxmlformats.org/officeDocument/2006/relationships/image" Target="../media/image58.png"/><Relationship Id="rId62" Type="http://schemas.openxmlformats.org/officeDocument/2006/relationships/image" Target="../media/image157.png"/><Relationship Id="rId7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5" Type="http://schemas.openxmlformats.org/officeDocument/2006/relationships/image" Target="../media/image12.png"/><Relationship Id="rId23" Type="http://schemas.openxmlformats.org/officeDocument/2006/relationships/image" Target="../media/image70.png"/><Relationship Id="rId28" Type="http://schemas.openxmlformats.org/officeDocument/2006/relationships/image" Target="../media/image140.svg"/><Relationship Id="rId36" Type="http://schemas.openxmlformats.org/officeDocument/2006/relationships/image" Target="../media/image29.svg"/><Relationship Id="rId49" Type="http://schemas.openxmlformats.org/officeDocument/2006/relationships/image" Target="../media/image83.png"/><Relationship Id="rId57" Type="http://schemas.openxmlformats.org/officeDocument/2006/relationships/image" Target="../media/image77.svg"/><Relationship Id="rId10" Type="http://schemas.openxmlformats.org/officeDocument/2006/relationships/image" Target="../media/image53.svg"/><Relationship Id="rId31" Type="http://schemas.openxmlformats.org/officeDocument/2006/relationships/image" Target="../media/image66.png"/><Relationship Id="rId44" Type="http://schemas.openxmlformats.org/officeDocument/2006/relationships/image" Target="../media/image153.svg"/><Relationship Id="rId52" Type="http://schemas.openxmlformats.org/officeDocument/2006/relationships/image" Target="../media/image155.svg"/><Relationship Id="rId60" Type="http://schemas.openxmlformats.org/officeDocument/2006/relationships/image" Target="../media/image16.png"/><Relationship Id="rId65" Type="http://schemas.openxmlformats.org/officeDocument/2006/relationships/image" Target="../media/image160.svg"/><Relationship Id="rId4" Type="http://schemas.openxmlformats.org/officeDocument/2006/relationships/image" Target="../media/image64.png"/><Relationship Id="rId9" Type="http://schemas.openxmlformats.org/officeDocument/2006/relationships/image" Target="../media/image52.png"/><Relationship Id="rId13" Type="http://schemas.openxmlformats.org/officeDocument/2006/relationships/image" Target="../media/image10.png"/><Relationship Id="rId18" Type="http://schemas.openxmlformats.org/officeDocument/2006/relationships/image" Target="../media/image27.svg"/><Relationship Id="rId39" Type="http://schemas.openxmlformats.org/officeDocument/2006/relationships/image" Target="../media/image36.png"/><Relationship Id="rId34" Type="http://schemas.openxmlformats.org/officeDocument/2006/relationships/image" Target="../media/image81.svg"/><Relationship Id="rId50" Type="http://schemas.openxmlformats.org/officeDocument/2006/relationships/image" Target="../media/image84.svg"/><Relationship Id="rId55" Type="http://schemas.openxmlformats.org/officeDocument/2006/relationships/image" Target="../media/image59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-icons.onemodel.app/azure/new_icons/icon_service_data_collection_rules" TargetMode="External"/><Relationship Id="rId3" Type="http://schemas.openxmlformats.org/officeDocument/2006/relationships/hyperlink" Target="https://code.benco.io/icon-collection/" TargetMode="External"/><Relationship Id="rId7" Type="http://schemas.openxmlformats.org/officeDocument/2006/relationships/hyperlink" Target="https://vectorseek.com/" TargetMode="External"/><Relationship Id="rId2" Type="http://schemas.openxmlformats.org/officeDocument/2006/relationships/hyperlink" Target="https://learn.microsoft.com/en-us/azure/architecture/icon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avid-Summers/Azure-Design/tree/master/SVG_Azure_All" TargetMode="External"/><Relationship Id="rId5" Type="http://schemas.openxmlformats.org/officeDocument/2006/relationships/hyperlink" Target="https://www.vectorlogo.zone/index.html?q=" TargetMode="External"/><Relationship Id="rId4" Type="http://schemas.openxmlformats.org/officeDocument/2006/relationships/hyperlink" Target="https://chromewebstore.google.com/detail/amazing-icon-downloader/kllljifcjfleikiipbkdcgllbllahaob?hl=en" TargetMode="External"/><Relationship Id="rId9" Type="http://schemas.openxmlformats.org/officeDocument/2006/relationships/hyperlink" Target="https://az-icons.com/icon/grou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blue and pink wavy lines&#10;&#10;Description automatically generated">
            <a:extLst>
              <a:ext uri="{FF2B5EF4-FFF2-40B4-BE49-F238E27FC236}">
                <a16:creationId xmlns:a16="http://schemas.microsoft.com/office/drawing/2014/main" id="{E0E6F22C-7804-C4BA-3A4D-B85A0F730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339" y="0"/>
            <a:ext cx="12203339" cy="686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26AE609-6531-5622-547E-8AFD85B2E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235" y="408477"/>
            <a:ext cx="2236109" cy="75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B18ED6-1EE2-4ABA-8611-469C3032E788}"/>
              </a:ext>
            </a:extLst>
          </p:cNvPr>
          <p:cNvSpPr txBox="1"/>
          <p:nvPr/>
        </p:nvSpPr>
        <p:spPr>
          <a:xfrm>
            <a:off x="872179" y="3731486"/>
            <a:ext cx="436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 Architecture Template</a:t>
            </a:r>
          </a:p>
        </p:txBody>
      </p:sp>
    </p:spTree>
    <p:extLst>
      <p:ext uri="{BB962C8B-B14F-4D97-AF65-F5344CB8AC3E}">
        <p14:creationId xmlns:p14="http://schemas.microsoft.com/office/powerpoint/2010/main" val="124025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912B0-834B-C68D-74DE-8825E41CD008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Table of Content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29AAFF-5C39-3539-EF92-B628BDA3834C}"/>
              </a:ext>
            </a:extLst>
          </p:cNvPr>
          <p:cNvSpPr txBox="1"/>
          <p:nvPr/>
        </p:nvSpPr>
        <p:spPr>
          <a:xfrm>
            <a:off x="15636" y="1054908"/>
            <a:ext cx="6390154" cy="5038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Fonts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Shortcuts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Subscription Representation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Resource Group Representation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Virtual Network Representation 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Subnet Representation 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PaaS Resource Group Representation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Security and Governance Resource Group Representation  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 err="1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Onpremise</a:t>
            </a: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/Data Sources Representation side 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Hub Resource Group Representation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Legends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 err="1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Onpremise</a:t>
            </a: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to Azure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Virtual Network Peering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Shared Virtual Network (</a:t>
            </a:r>
            <a:r>
              <a:rPr lang="en-IN" sz="1400" kern="1200" dirty="0" err="1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VNet</a:t>
            </a: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and Compute present in different location)</a:t>
            </a:r>
            <a:endParaRPr lang="en-IN" sz="1400" dirty="0"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FAD2F-B049-D570-8D1D-E20285A52396}"/>
              </a:ext>
            </a:extLst>
          </p:cNvPr>
          <p:cNvSpPr txBox="1"/>
          <p:nvPr/>
        </p:nvSpPr>
        <p:spPr>
          <a:xfrm>
            <a:off x="7157808" y="1054907"/>
            <a:ext cx="4424589" cy="393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Web Request from any source to Azure</a:t>
            </a:r>
            <a:endParaRPr lang="en-IN" sz="1400" dirty="0"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Virtual Network Integration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Virtual Network Link</a:t>
            </a:r>
            <a:endParaRPr lang="en-IN" sz="1400" dirty="0"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Proximity Placement Group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Virtual WAN (</a:t>
            </a:r>
            <a:r>
              <a:rPr lang="en-IN" sz="1400" dirty="0" err="1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vWAN</a:t>
            </a:r>
            <a:r>
              <a:rPr lang="en-IN" sz="14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Virtual Network Manager (AVNM)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Azure Virtual Desktop (AVD)</a:t>
            </a:r>
            <a:endParaRPr lang="en-IN" sz="1400" kern="1200" dirty="0">
              <a:solidFill>
                <a:srgbClr val="000000"/>
              </a:solidFill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Availability Zone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A</a:t>
            </a:r>
            <a:r>
              <a:rPr lang="en-IN" sz="14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vailability Set</a:t>
            </a: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kern="12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DNS </a:t>
            </a:r>
            <a:r>
              <a:rPr lang="en-IN" sz="14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Private Resolver</a:t>
            </a:r>
            <a:endParaRPr lang="en-IN" sz="1400" kern="1200" dirty="0">
              <a:solidFill>
                <a:srgbClr val="000000"/>
              </a:solidFill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Reference Links for SVG</a:t>
            </a:r>
          </a:p>
        </p:txBody>
      </p:sp>
    </p:spTree>
    <p:extLst>
      <p:ext uri="{BB962C8B-B14F-4D97-AF65-F5344CB8AC3E}">
        <p14:creationId xmlns:p14="http://schemas.microsoft.com/office/powerpoint/2010/main" val="3034816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912B0-834B-C68D-74DE-8825E41CD008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Font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1FB54B-DEC8-0CF3-A899-8150FA759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764201"/>
              </p:ext>
            </p:extLst>
          </p:nvPr>
        </p:nvGraphicFramePr>
        <p:xfrm>
          <a:off x="292847" y="897827"/>
          <a:ext cx="8128000" cy="333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592618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76739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Resource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Font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87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Subscription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8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Resource</a:t>
                      </a:r>
                      <a:r>
                        <a:rPr lang="en-IN"/>
                        <a:t> </a:t>
                      </a:r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Group</a:t>
                      </a:r>
                      <a:r>
                        <a:rPr lang="en-IN"/>
                        <a:t> </a:t>
                      </a:r>
                      <a:endParaRPr lang="en-IN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6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Virtual</a:t>
                      </a:r>
                      <a:r>
                        <a:rPr lang="en-IN"/>
                        <a:t> </a:t>
                      </a:r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73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Subnet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82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Resource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377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Font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Segoe UI Light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79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800" kern="1200">
                        <a:solidFill>
                          <a:schemeClr val="dk1"/>
                        </a:solidFill>
                        <a:latin typeface="Segoe UI Light" panose="020B0502040204020203" pitchFamily="34" charset="0"/>
                        <a:ea typeface="+mn-ea"/>
                        <a:cs typeface="Segoe UI Light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endParaRPr lang="en-IN" sz="1800" kern="1200">
                        <a:solidFill>
                          <a:schemeClr val="dk1"/>
                        </a:solidFill>
                        <a:latin typeface="Segoe UI Light" panose="020B0502040204020203" pitchFamily="34" charset="0"/>
                        <a:ea typeface="+mn-ea"/>
                        <a:cs typeface="Segoe UI Light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475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Standard Icon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1:1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6136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229AAFF-5C39-3539-EF92-B628BDA3834C}"/>
              </a:ext>
            </a:extLst>
          </p:cNvPr>
          <p:cNvSpPr txBox="1"/>
          <p:nvPr/>
        </p:nvSpPr>
        <p:spPr>
          <a:xfrm>
            <a:off x="292847" y="6029979"/>
            <a:ext cx="11704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Note: If SVG is imported to Canvas when it is Zoom Out no need to worry while zooming in as the SVG will also increase their ratio when Canvas Zoom In</a:t>
            </a:r>
          </a:p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Representation are subject to change as this template is created on 18.03.24.</a:t>
            </a:r>
          </a:p>
        </p:txBody>
      </p:sp>
    </p:spTree>
    <p:extLst>
      <p:ext uri="{BB962C8B-B14F-4D97-AF65-F5344CB8AC3E}">
        <p14:creationId xmlns:p14="http://schemas.microsoft.com/office/powerpoint/2010/main" val="174451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42E3-DB34-8276-A81B-8F9B1011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9622C-8B10-44B7-4635-EEA1C78334A8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Shortcuts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8C8710-6C83-5E78-CF8C-7CC0742E0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169924"/>
              </p:ext>
            </p:extLst>
          </p:nvPr>
        </p:nvGraphicFramePr>
        <p:xfrm>
          <a:off x="292847" y="897827"/>
          <a:ext cx="8128000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592618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76739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Shortcuts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Buttons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87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err="1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Ctrl+D</a:t>
                      </a:r>
                      <a:endParaRPr lang="en-IN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Duplicate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8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err="1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Ctrl+G</a:t>
                      </a:r>
                      <a:endParaRPr lang="en-IN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6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err="1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Ctrl+shift+G</a:t>
                      </a:r>
                      <a:endParaRPr lang="en-IN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Ungroup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73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err="1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Shift+Arrow</a:t>
                      </a:r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 (Up/Down)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Resize icon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82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err="1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Ctrl+Shift+Arrow</a:t>
                      </a:r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 (Left/Right)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>
                          <a:solidFill>
                            <a:schemeClr val="dk1"/>
                          </a:solidFill>
                          <a:latin typeface="Segoe UI Light" panose="020B0502040204020203" pitchFamily="34" charset="0"/>
                          <a:ea typeface="+mn-ea"/>
                          <a:cs typeface="Segoe UI Light" panose="020B0502040204020203" pitchFamily="34" charset="0"/>
                        </a:rPr>
                        <a:t>Resize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377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38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04AD1A-C23F-6159-19FA-21205629D91C}"/>
              </a:ext>
            </a:extLst>
          </p:cNvPr>
          <p:cNvSpPr txBox="1"/>
          <p:nvPr/>
        </p:nvSpPr>
        <p:spPr>
          <a:xfrm>
            <a:off x="134470" y="304801"/>
            <a:ext cx="64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Azure Boundary Representation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A1371-0A96-5AA0-340C-F82160025966}"/>
              </a:ext>
            </a:extLst>
          </p:cNvPr>
          <p:cNvSpPr txBox="1"/>
          <p:nvPr/>
        </p:nvSpPr>
        <p:spPr>
          <a:xfrm>
            <a:off x="9044470" y="4363081"/>
            <a:ext cx="1921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#4472C4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0D631-3611-A838-19F7-4EA918CE6B61}"/>
              </a:ext>
            </a:extLst>
          </p:cNvPr>
          <p:cNvSpPr/>
          <p:nvPr/>
        </p:nvSpPr>
        <p:spPr>
          <a:xfrm>
            <a:off x="7483593" y="2494918"/>
            <a:ext cx="3482041" cy="1868163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51EC08-A046-264C-FCAF-EF54C4AC23B6}"/>
              </a:ext>
            </a:extLst>
          </p:cNvPr>
          <p:cNvSpPr/>
          <p:nvPr/>
        </p:nvSpPr>
        <p:spPr>
          <a:xfrm>
            <a:off x="7741939" y="2224948"/>
            <a:ext cx="1407557" cy="248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Tenant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B9070CC-AB4D-A553-6D91-663B8044B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593" y="2205084"/>
            <a:ext cx="287207" cy="28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51E0C2-2423-AC45-EDDC-63A3C07D9AE8}"/>
              </a:ext>
            </a:extLst>
          </p:cNvPr>
          <p:cNvSpPr txBox="1"/>
          <p:nvPr/>
        </p:nvSpPr>
        <p:spPr>
          <a:xfrm>
            <a:off x="134471" y="953962"/>
            <a:ext cx="96735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icon and Azure Tenant must be middle aligned</a:t>
            </a:r>
            <a:b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and Azure Tenant should be grouped together and aligned to the top-left corner of the box, with adequate spacing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Set the boundary of the box to 1.5 pt thickness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33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ED35-55EB-4CA4-A452-8402D7D8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ECED9D-0ECB-C525-7AD8-5F3FB5E439DE}"/>
              </a:ext>
            </a:extLst>
          </p:cNvPr>
          <p:cNvSpPr txBox="1"/>
          <p:nvPr/>
        </p:nvSpPr>
        <p:spPr>
          <a:xfrm>
            <a:off x="134470" y="304801"/>
            <a:ext cx="64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Subscription Representation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8A966-ECC7-565B-FC06-49D64C802A1D}"/>
              </a:ext>
            </a:extLst>
          </p:cNvPr>
          <p:cNvSpPr/>
          <p:nvPr/>
        </p:nvSpPr>
        <p:spPr>
          <a:xfrm>
            <a:off x="7701962" y="2206607"/>
            <a:ext cx="1407557" cy="248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Subscription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7AA241-E70B-831D-6932-C84DE27F8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592" y="2186743"/>
            <a:ext cx="288000" cy="28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ECBA73-8E21-93E8-6740-ACCC7A28682D}"/>
              </a:ext>
            </a:extLst>
          </p:cNvPr>
          <p:cNvSpPr txBox="1"/>
          <p:nvPr/>
        </p:nvSpPr>
        <p:spPr>
          <a:xfrm>
            <a:off x="134470" y="953962"/>
            <a:ext cx="10840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icon and Subscription name must be middle aligned</a:t>
            </a:r>
            <a:b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Grouped Component and Subscription should be grouped together and aligned to the top-left corner of the box, with adequate spacing</a:t>
            </a:r>
            <a:b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Set the boundary of the box to 1.5 pt thickness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A58AC-65BA-F2E0-7C74-13430C8FCEAF}"/>
              </a:ext>
            </a:extLst>
          </p:cNvPr>
          <p:cNvSpPr txBox="1"/>
          <p:nvPr/>
        </p:nvSpPr>
        <p:spPr>
          <a:xfrm>
            <a:off x="9044470" y="4363081"/>
            <a:ext cx="1921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#4472C4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31CE33-1E23-53E2-A621-611FF42362D2}"/>
              </a:ext>
            </a:extLst>
          </p:cNvPr>
          <p:cNvSpPr/>
          <p:nvPr/>
        </p:nvSpPr>
        <p:spPr>
          <a:xfrm>
            <a:off x="7483592" y="2494918"/>
            <a:ext cx="3482041" cy="1868163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45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E4867-A91B-F38F-1CA7-68FFF36AE12C}"/>
              </a:ext>
            </a:extLst>
          </p:cNvPr>
          <p:cNvSpPr txBox="1"/>
          <p:nvPr/>
        </p:nvSpPr>
        <p:spPr>
          <a:xfrm>
            <a:off x="134470" y="304801"/>
            <a:ext cx="6357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Resource Group Representation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5ED73-DB8C-C9FA-BF98-BD503B60B4DD}"/>
              </a:ext>
            </a:extLst>
          </p:cNvPr>
          <p:cNvSpPr txBox="1"/>
          <p:nvPr/>
        </p:nvSpPr>
        <p:spPr>
          <a:xfrm>
            <a:off x="134470" y="953962"/>
            <a:ext cx="1016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icon and Resource Group name must be middle aligned</a:t>
            </a:r>
            <a:b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and Resource Group should be grouped together and aligned to the top-left corner of the box, with adequate spacing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7A6BEF-335A-25AB-D16E-93BBC5E49F4A}"/>
              </a:ext>
            </a:extLst>
          </p:cNvPr>
          <p:cNvSpPr/>
          <p:nvPr/>
        </p:nvSpPr>
        <p:spPr>
          <a:xfrm>
            <a:off x="7708681" y="2245373"/>
            <a:ext cx="1319222" cy="234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Resource Group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D4EA411-DDA5-B100-12F1-E12F0C660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9997" y="2236456"/>
            <a:ext cx="251999" cy="252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DF670B-DB76-B662-C214-2213633518A1}"/>
              </a:ext>
            </a:extLst>
          </p:cNvPr>
          <p:cNvSpPr/>
          <p:nvPr/>
        </p:nvSpPr>
        <p:spPr>
          <a:xfrm>
            <a:off x="7489997" y="2494918"/>
            <a:ext cx="3481200" cy="1868400"/>
          </a:xfrm>
          <a:prstGeom prst="roundRect">
            <a:avLst>
              <a:gd name="adj" fmla="val 7987"/>
            </a:avLst>
          </a:prstGeom>
          <a:solidFill>
            <a:srgbClr val="4472C4">
              <a:alpha val="9804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ECF1F9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20B53-AE51-7E08-1699-18BA0E6DB6D7}"/>
              </a:ext>
            </a:extLst>
          </p:cNvPr>
          <p:cNvSpPr txBox="1"/>
          <p:nvPr/>
        </p:nvSpPr>
        <p:spPr>
          <a:xfrm>
            <a:off x="8979240" y="4055541"/>
            <a:ext cx="19919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#4472C4</a:t>
            </a:r>
          </a:p>
        </p:txBody>
      </p:sp>
    </p:spTree>
    <p:extLst>
      <p:ext uri="{BB962C8B-B14F-4D97-AF65-F5344CB8AC3E}">
        <p14:creationId xmlns:p14="http://schemas.microsoft.com/office/powerpoint/2010/main" val="11210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E4867-A91B-F38F-1CA7-68FFF36AE12C}"/>
              </a:ext>
            </a:extLst>
          </p:cNvPr>
          <p:cNvSpPr txBox="1"/>
          <p:nvPr/>
        </p:nvSpPr>
        <p:spPr>
          <a:xfrm>
            <a:off x="134470" y="304801"/>
            <a:ext cx="6750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Virtual Network Representation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D2BF6-9CCA-44A3-C83E-1C453CE8DEF9}"/>
              </a:ext>
            </a:extLst>
          </p:cNvPr>
          <p:cNvSpPr txBox="1"/>
          <p:nvPr/>
        </p:nvSpPr>
        <p:spPr>
          <a:xfrm>
            <a:off x="134470" y="837418"/>
            <a:ext cx="10614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icon and Virtual Network name must be middle align</a:t>
            </a:r>
            <a:b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and Virtual Network should be grouped together and center-aligned within the box, with adequate spacing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Set the boundary of the box to 1.5 pt thickness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of the Virtual Network must be smaller than the Resource Group SVG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5780443-8DBC-1B55-33E9-AA6BC539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7969" y="2266465"/>
            <a:ext cx="216000" cy="216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1D474A5-69FE-9D96-2278-9986C804C3C2}"/>
              </a:ext>
            </a:extLst>
          </p:cNvPr>
          <p:cNvSpPr/>
          <p:nvPr/>
        </p:nvSpPr>
        <p:spPr>
          <a:xfrm>
            <a:off x="8853969" y="2262655"/>
            <a:ext cx="926539" cy="219810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Virtual Network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5DC71B5-2BBD-49DB-EDAB-6B3A114EC67A}"/>
              </a:ext>
            </a:extLst>
          </p:cNvPr>
          <p:cNvSpPr/>
          <p:nvPr/>
        </p:nvSpPr>
        <p:spPr>
          <a:xfrm>
            <a:off x="7482137" y="2494918"/>
            <a:ext cx="3481200" cy="1868400"/>
          </a:xfrm>
          <a:prstGeom prst="roundRect">
            <a:avLst>
              <a:gd name="adj" fmla="val 6824"/>
            </a:avLst>
          </a:prstGeom>
          <a:solidFill>
            <a:schemeClr val="bg1"/>
          </a:solidFill>
          <a:ln w="1905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575051-EB53-0FD5-B588-D67F014D3A57}"/>
              </a:ext>
            </a:extLst>
          </p:cNvPr>
          <p:cNvSpPr txBox="1"/>
          <p:nvPr/>
        </p:nvSpPr>
        <p:spPr>
          <a:xfrm>
            <a:off x="9028594" y="4363081"/>
            <a:ext cx="19347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#5B9BD5</a:t>
            </a:r>
          </a:p>
        </p:txBody>
      </p:sp>
    </p:spTree>
    <p:extLst>
      <p:ext uri="{BB962C8B-B14F-4D97-AF65-F5344CB8AC3E}">
        <p14:creationId xmlns:p14="http://schemas.microsoft.com/office/powerpoint/2010/main" val="327188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E4867-A91B-F38F-1CA7-68FFF36AE12C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Subnet Representation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8C518F-A5DD-F3C8-EB2B-F223F0323092}"/>
              </a:ext>
            </a:extLst>
          </p:cNvPr>
          <p:cNvSpPr txBox="1"/>
          <p:nvPr/>
        </p:nvSpPr>
        <p:spPr>
          <a:xfrm>
            <a:off x="134470" y="953962"/>
            <a:ext cx="9944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icon and Subnet name must be middle align</a:t>
            </a:r>
            <a:b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and Subnet should be grouped together and aligned to the top-left corner of the box, with adequate spacing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Set the boundary of the box to 1.5 pt thickness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of the Subnet must be smaller than the Virtual Network SVG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A9FFE9-62C9-33A5-F4D6-00F4A745F8A1}"/>
              </a:ext>
            </a:extLst>
          </p:cNvPr>
          <p:cNvSpPr txBox="1"/>
          <p:nvPr/>
        </p:nvSpPr>
        <p:spPr>
          <a:xfrm>
            <a:off x="7633369" y="2279474"/>
            <a:ext cx="599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D802956B-B1DA-AFFE-6AEF-F7C2CE3E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137" y="2297196"/>
            <a:ext cx="180000" cy="18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00F460-897D-1883-3F93-FA6047DB5158}"/>
              </a:ext>
            </a:extLst>
          </p:cNvPr>
          <p:cNvSpPr txBox="1"/>
          <p:nvPr/>
        </p:nvSpPr>
        <p:spPr>
          <a:xfrm>
            <a:off x="9055115" y="2185355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#4472C4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A081E2-399D-87F4-7BDD-AFAD156F2238}"/>
              </a:ext>
            </a:extLst>
          </p:cNvPr>
          <p:cNvSpPr/>
          <p:nvPr/>
        </p:nvSpPr>
        <p:spPr>
          <a:xfrm>
            <a:off x="7482137" y="2494918"/>
            <a:ext cx="3481200" cy="1868400"/>
          </a:xfrm>
          <a:prstGeom prst="roundRect">
            <a:avLst>
              <a:gd name="adj" fmla="val 6824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10079">
              <a:spcAft>
                <a:spcPct val="35000"/>
              </a:spcAft>
            </a:pPr>
            <a:endParaRPr lang="en-IN" sz="900" kern="0">
              <a:solidFill>
                <a:srgbClr val="F4F4F4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1E0F4-F1F4-A87C-876D-DB2E786D8E92}"/>
              </a:ext>
            </a:extLst>
          </p:cNvPr>
          <p:cNvSpPr txBox="1"/>
          <p:nvPr/>
        </p:nvSpPr>
        <p:spPr>
          <a:xfrm>
            <a:off x="8921449" y="4054964"/>
            <a:ext cx="2041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 D9D9D9</a:t>
            </a:r>
          </a:p>
        </p:txBody>
      </p:sp>
    </p:spTree>
    <p:extLst>
      <p:ext uri="{BB962C8B-B14F-4D97-AF65-F5344CB8AC3E}">
        <p14:creationId xmlns:p14="http://schemas.microsoft.com/office/powerpoint/2010/main" val="173049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E4867-A91B-F38F-1CA7-68FFF36AE12C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65F0C66-D265-51D7-6B42-A21290BF3C1C}"/>
              </a:ext>
            </a:extLst>
          </p:cNvPr>
          <p:cNvSpPr/>
          <p:nvPr/>
        </p:nvSpPr>
        <p:spPr>
          <a:xfrm>
            <a:off x="8910051" y="2127691"/>
            <a:ext cx="2396690" cy="4211851"/>
          </a:xfrm>
          <a:prstGeom prst="roundRect">
            <a:avLst>
              <a:gd name="adj" fmla="val 7735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113AF9A-4790-DCEA-98D3-0CE38FA8BCA3}"/>
              </a:ext>
            </a:extLst>
          </p:cNvPr>
          <p:cNvSpPr/>
          <p:nvPr/>
        </p:nvSpPr>
        <p:spPr>
          <a:xfrm>
            <a:off x="9085500" y="2403519"/>
            <a:ext cx="2045793" cy="3707423"/>
          </a:xfrm>
          <a:prstGeom prst="roundRect">
            <a:avLst>
              <a:gd name="adj" fmla="val 7741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7B7176E-2133-771F-84D4-9611F6D605B7}"/>
              </a:ext>
            </a:extLst>
          </p:cNvPr>
          <p:cNvSpPr/>
          <p:nvPr/>
        </p:nvSpPr>
        <p:spPr bwMode="auto">
          <a:xfrm>
            <a:off x="9236771" y="2696471"/>
            <a:ext cx="1743251" cy="874667"/>
          </a:xfrm>
          <a:prstGeom prst="roundRect">
            <a:avLst>
              <a:gd name="adj" fmla="val 8664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1B55A-7EAB-F232-9DA3-A230F1F00514}"/>
              </a:ext>
            </a:extLst>
          </p:cNvPr>
          <p:cNvSpPr txBox="1"/>
          <p:nvPr/>
        </p:nvSpPr>
        <p:spPr>
          <a:xfrm>
            <a:off x="9396115" y="2478510"/>
            <a:ext cx="599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 1</a:t>
            </a:r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AFCF279E-D409-1B9C-F352-413A7B548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771" y="2496232"/>
            <a:ext cx="180000" cy="1800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093902-1798-FBF8-B40A-C2134EE55C24}"/>
              </a:ext>
            </a:extLst>
          </p:cNvPr>
          <p:cNvSpPr/>
          <p:nvPr/>
        </p:nvSpPr>
        <p:spPr bwMode="auto">
          <a:xfrm>
            <a:off x="9236771" y="3858235"/>
            <a:ext cx="1743251" cy="874667"/>
          </a:xfrm>
          <a:prstGeom prst="roundRect">
            <a:avLst>
              <a:gd name="adj" fmla="val 8664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8AFE9-02E1-2158-35CB-2DD1ED5B40C9}"/>
              </a:ext>
            </a:extLst>
          </p:cNvPr>
          <p:cNvSpPr txBox="1"/>
          <p:nvPr/>
        </p:nvSpPr>
        <p:spPr>
          <a:xfrm>
            <a:off x="9396115" y="3640274"/>
            <a:ext cx="599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 2</a:t>
            </a:r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E766604-B4D4-A6B0-1757-46C52ED71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771" y="3657996"/>
            <a:ext cx="180000" cy="1800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D6A06D-D739-3289-4953-A4A3375FB386}"/>
              </a:ext>
            </a:extLst>
          </p:cNvPr>
          <p:cNvSpPr/>
          <p:nvPr/>
        </p:nvSpPr>
        <p:spPr bwMode="auto">
          <a:xfrm>
            <a:off x="9236771" y="5019998"/>
            <a:ext cx="1743251" cy="874667"/>
          </a:xfrm>
          <a:prstGeom prst="roundRect">
            <a:avLst>
              <a:gd name="adj" fmla="val 8664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50EBA7-A88C-01C5-ACF5-8983773E5CC1}"/>
              </a:ext>
            </a:extLst>
          </p:cNvPr>
          <p:cNvSpPr txBox="1"/>
          <p:nvPr/>
        </p:nvSpPr>
        <p:spPr>
          <a:xfrm>
            <a:off x="9396115" y="4802037"/>
            <a:ext cx="599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 n</a:t>
            </a:r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73ABF597-7F41-2C53-DE6C-032DED3D9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771" y="4819759"/>
            <a:ext cx="180000" cy="18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34823A-D487-5865-337A-690920BD5566}"/>
              </a:ext>
            </a:extLst>
          </p:cNvPr>
          <p:cNvSpPr txBox="1"/>
          <p:nvPr/>
        </p:nvSpPr>
        <p:spPr>
          <a:xfrm>
            <a:off x="134470" y="953962"/>
            <a:ext cx="91284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Horizontal Layout: </a:t>
            </a: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subnet box will be middle as well as center-aligned with respect to Virtual Network</a:t>
            </a:r>
          </a:p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Vertical Layout: </a:t>
            </a: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subnet box will be center-aligned with respect to Virtual Network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Virtual Network box can be horizontally or vertically distributed as per the requirement of the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908AFA-9C16-F9A7-6E6B-68DF68EA3D7B}"/>
              </a:ext>
            </a:extLst>
          </p:cNvPr>
          <p:cNvSpPr/>
          <p:nvPr/>
        </p:nvSpPr>
        <p:spPr>
          <a:xfrm rot="5400000">
            <a:off x="5303601" y="2458239"/>
            <a:ext cx="1885083" cy="4352928"/>
          </a:xfrm>
          <a:prstGeom prst="roundRect">
            <a:avLst>
              <a:gd name="adj" fmla="val 8425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8D31590-C92F-14D7-E9DD-40F4D8E46BC9}"/>
              </a:ext>
            </a:extLst>
          </p:cNvPr>
          <p:cNvSpPr/>
          <p:nvPr/>
        </p:nvSpPr>
        <p:spPr>
          <a:xfrm rot="5400000">
            <a:off x="5529231" y="2718795"/>
            <a:ext cx="1433824" cy="3940997"/>
          </a:xfrm>
          <a:prstGeom prst="roundRect">
            <a:avLst>
              <a:gd name="adj" fmla="val 9281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3445E4-FB7F-197D-1E9E-18ED24EE5B0C}"/>
              </a:ext>
            </a:extLst>
          </p:cNvPr>
          <p:cNvSpPr/>
          <p:nvPr/>
        </p:nvSpPr>
        <p:spPr>
          <a:xfrm>
            <a:off x="4307893" y="3429570"/>
            <a:ext cx="1319222" cy="234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Resource Group</a:t>
            </a:r>
            <a:endParaRPr kumimoji="0" lang="en-US" sz="10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D3043F89-86F6-9DEB-8BEF-8B5CF325ED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9681" y="3419476"/>
            <a:ext cx="251021" cy="251022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C764E8D2-97B6-DEB8-BEEA-2FFA723CF1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5823" y="3721699"/>
            <a:ext cx="216000" cy="21600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07C947A1-1A22-087F-8F58-0FA0DDCCB65B}"/>
              </a:ext>
            </a:extLst>
          </p:cNvPr>
          <p:cNvSpPr/>
          <p:nvPr/>
        </p:nvSpPr>
        <p:spPr>
          <a:xfrm>
            <a:off x="5878174" y="3719794"/>
            <a:ext cx="926539" cy="219810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Virtual Network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1BDA400-8B1B-C0AE-6D1A-DE006E1F16B6}"/>
              </a:ext>
            </a:extLst>
          </p:cNvPr>
          <p:cNvSpPr/>
          <p:nvPr/>
        </p:nvSpPr>
        <p:spPr bwMode="auto">
          <a:xfrm rot="5400000">
            <a:off x="4567368" y="4257732"/>
            <a:ext cx="907474" cy="1030581"/>
          </a:xfrm>
          <a:prstGeom prst="roundRect">
            <a:avLst>
              <a:gd name="adj" fmla="val 8664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4F71EAB-32E4-3BD2-B97A-C2E565F57DA4}"/>
              </a:ext>
            </a:extLst>
          </p:cNvPr>
          <p:cNvSpPr/>
          <p:nvPr/>
        </p:nvSpPr>
        <p:spPr bwMode="auto">
          <a:xfrm rot="5400000">
            <a:off x="5791053" y="4257733"/>
            <a:ext cx="907476" cy="1030581"/>
          </a:xfrm>
          <a:prstGeom prst="roundRect">
            <a:avLst>
              <a:gd name="adj" fmla="val 8664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7CEC1F5-0AFE-9DAC-C44F-1FE5E52C4437}"/>
              </a:ext>
            </a:extLst>
          </p:cNvPr>
          <p:cNvSpPr/>
          <p:nvPr/>
        </p:nvSpPr>
        <p:spPr bwMode="auto">
          <a:xfrm rot="5400000">
            <a:off x="7017444" y="4257734"/>
            <a:ext cx="907478" cy="1030581"/>
          </a:xfrm>
          <a:prstGeom prst="roundRect">
            <a:avLst>
              <a:gd name="adj" fmla="val 8664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6D38CE-004A-6235-C412-436E7DE45453}"/>
              </a:ext>
            </a:extLst>
          </p:cNvPr>
          <p:cNvSpPr txBox="1"/>
          <p:nvPr/>
        </p:nvSpPr>
        <p:spPr>
          <a:xfrm>
            <a:off x="4636783" y="4097847"/>
            <a:ext cx="599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 1</a:t>
            </a:r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BB3F4DB3-8F3E-DDA1-8F0E-F3DA61041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814" y="4115569"/>
            <a:ext cx="180000" cy="18000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90834DBA-B011-E11D-3611-95256E4936DB}"/>
              </a:ext>
            </a:extLst>
          </p:cNvPr>
          <p:cNvSpPr txBox="1"/>
          <p:nvPr/>
        </p:nvSpPr>
        <p:spPr>
          <a:xfrm>
            <a:off x="5860470" y="4097847"/>
            <a:ext cx="599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 2</a:t>
            </a:r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80" name="Graphic 79">
            <a:extLst>
              <a:ext uri="{FF2B5EF4-FFF2-40B4-BE49-F238E27FC236}">
                <a16:creationId xmlns:a16="http://schemas.microsoft.com/office/drawing/2014/main" id="{66F8083F-5AD8-605D-9C18-2E043BC5F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9500" y="4115569"/>
            <a:ext cx="180000" cy="1800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E6D9181E-CBB6-62F4-A0BD-FD55C9114A60}"/>
              </a:ext>
            </a:extLst>
          </p:cNvPr>
          <p:cNvSpPr txBox="1"/>
          <p:nvPr/>
        </p:nvSpPr>
        <p:spPr>
          <a:xfrm>
            <a:off x="7086861" y="4097847"/>
            <a:ext cx="599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 n</a:t>
            </a:r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98A0125-C69C-4C4B-01DA-8E0D4DC5A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5892" y="4115569"/>
            <a:ext cx="180000" cy="180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AA9125-47D4-497C-7307-C0886FCC6F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85049" y="2172545"/>
            <a:ext cx="216000" cy="21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9167A50-CB24-DDE4-3B5C-21E1DF2E921B}"/>
              </a:ext>
            </a:extLst>
          </p:cNvPr>
          <p:cNvSpPr/>
          <p:nvPr/>
        </p:nvSpPr>
        <p:spPr>
          <a:xfrm>
            <a:off x="9707400" y="2170640"/>
            <a:ext cx="926539" cy="219810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Virtual Network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1F5CFE-4CC4-E7A8-7A5B-C330B57173C6}"/>
              </a:ext>
            </a:extLst>
          </p:cNvPr>
          <p:cNvSpPr/>
          <p:nvPr/>
        </p:nvSpPr>
        <p:spPr>
          <a:xfrm>
            <a:off x="9148263" y="1865734"/>
            <a:ext cx="1319222" cy="234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Resource Group</a:t>
            </a:r>
            <a:endParaRPr kumimoji="0" lang="en-US" sz="1000" b="0" i="0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4675B3D-C3C1-579A-F3C2-076FC5E397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0051" y="1855640"/>
            <a:ext cx="251021" cy="25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083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0" y="304801"/>
            <a:ext cx="695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PaaS Resource Group Representation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04320-7DB0-0D17-929E-095A3C5A304C}"/>
              </a:ext>
            </a:extLst>
          </p:cNvPr>
          <p:cNvSpPr txBox="1"/>
          <p:nvPr/>
        </p:nvSpPr>
        <p:spPr>
          <a:xfrm>
            <a:off x="134470" y="953962"/>
            <a:ext cx="110453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of all the services must be horizontally and vertically distribute and after that name of each service should be centre align with their SVG Icon</a:t>
            </a:r>
            <a:endParaRPr lang="en-US" sz="1400">
              <a:solidFill>
                <a:srgbClr val="FF000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Each service name will be top-aligned within its respective row for proper horizontal alignment, and in the column view, it will be center-aligned with its corresponding SVG icon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All service SVG icons must be in a 1:1 ratio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D3898C-2FD9-E72D-10E7-53C5E2A8FD82}"/>
              </a:ext>
            </a:extLst>
          </p:cNvPr>
          <p:cNvSpPr/>
          <p:nvPr/>
        </p:nvSpPr>
        <p:spPr>
          <a:xfrm>
            <a:off x="8071751" y="2474510"/>
            <a:ext cx="202933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PaaS Resource Group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95F1370-7FDE-8E3C-5977-79E07C61C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3540" y="2464416"/>
            <a:ext cx="251021" cy="25102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A6A285-1190-ED92-FD06-82A2441C2071}"/>
              </a:ext>
            </a:extLst>
          </p:cNvPr>
          <p:cNvSpPr/>
          <p:nvPr/>
        </p:nvSpPr>
        <p:spPr>
          <a:xfrm>
            <a:off x="7833540" y="2772989"/>
            <a:ext cx="3346294" cy="1620595"/>
          </a:xfrm>
          <a:prstGeom prst="roundRect">
            <a:avLst>
              <a:gd name="adj" fmla="val 10020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2A6FABF-0568-3874-B04F-125811865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5493" y="3652263"/>
            <a:ext cx="360000" cy="36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7760F1-ECA7-5F23-9E68-DB150D122D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5827" y="3652263"/>
            <a:ext cx="360000" cy="36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22A6EC7-87C6-7BAA-0175-0BDC3D1612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6160" y="3652263"/>
            <a:ext cx="360000" cy="36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BECD9EB-B7BF-1D67-B3E4-145EBC1F7D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85493" y="2932872"/>
            <a:ext cx="360000" cy="36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B699AE73-D24D-343F-2F31-578CC771A4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35827" y="2932872"/>
            <a:ext cx="360000" cy="36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13A152B-F117-E8E9-6B19-225892A1B1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86160" y="2932872"/>
            <a:ext cx="360000" cy="3600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83EA91B-428D-2F3A-3EA9-8A846AF369B9}"/>
              </a:ext>
            </a:extLst>
          </p:cNvPr>
          <p:cNvSpPr/>
          <p:nvPr/>
        </p:nvSpPr>
        <p:spPr>
          <a:xfrm>
            <a:off x="8253236" y="3296162"/>
            <a:ext cx="424076" cy="2861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Cache Redis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09FDA-FA00-3B89-5770-9EC83A74A7B9}"/>
              </a:ext>
            </a:extLst>
          </p:cNvPr>
          <p:cNvSpPr/>
          <p:nvPr/>
        </p:nvSpPr>
        <p:spPr>
          <a:xfrm>
            <a:off x="9249057" y="3296162"/>
            <a:ext cx="535729" cy="2861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SQL Database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61A745-2462-9334-B9E8-BC941B9BB82E}"/>
              </a:ext>
            </a:extLst>
          </p:cNvPr>
          <p:cNvSpPr/>
          <p:nvPr/>
        </p:nvSpPr>
        <p:spPr>
          <a:xfrm>
            <a:off x="10298067" y="3296162"/>
            <a:ext cx="535729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Key Vault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F02067-FCBD-0CF3-28A8-55F74E4B5985}"/>
              </a:ext>
            </a:extLst>
          </p:cNvPr>
          <p:cNvSpPr/>
          <p:nvPr/>
        </p:nvSpPr>
        <p:spPr>
          <a:xfrm>
            <a:off x="8204007" y="4015189"/>
            <a:ext cx="535729" cy="2861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Storage Account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E4D4F4-9490-8934-9748-4518F77AAE52}"/>
              </a:ext>
            </a:extLst>
          </p:cNvPr>
          <p:cNvSpPr/>
          <p:nvPr/>
        </p:nvSpPr>
        <p:spPr>
          <a:xfrm>
            <a:off x="9248347" y="4015189"/>
            <a:ext cx="535729" cy="2861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Cosmos DB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5BC676-E111-2A58-F1DD-E325ABBFC602}"/>
              </a:ext>
            </a:extLst>
          </p:cNvPr>
          <p:cNvSpPr/>
          <p:nvPr/>
        </p:nvSpPr>
        <p:spPr>
          <a:xfrm>
            <a:off x="10298067" y="4015189"/>
            <a:ext cx="535729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Web App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976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2EEAB1-2416-BA27-55F7-45C3403B7B8E}"/>
              </a:ext>
            </a:extLst>
          </p:cNvPr>
          <p:cNvSpPr txBox="1"/>
          <p:nvPr/>
        </p:nvSpPr>
        <p:spPr>
          <a:xfrm>
            <a:off x="134470" y="304801"/>
            <a:ext cx="931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Security and Governance Resource Group Representation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28703-7215-0E88-EAB1-D0574719D564}"/>
              </a:ext>
            </a:extLst>
          </p:cNvPr>
          <p:cNvSpPr txBox="1"/>
          <p:nvPr/>
        </p:nvSpPr>
        <p:spPr>
          <a:xfrm>
            <a:off x="134469" y="953962"/>
            <a:ext cx="10856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of all the services must be horizontally and vertically distribute and after that name of each service should be centre align to SVG Icon</a:t>
            </a:r>
            <a:br>
              <a:rPr lang="en-IN" sz="140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Each service name will be top-aligned within its respective row for proper horizontal alignment, and in the column view, it will be center-aligned with its corresponding SVG icon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All service SVG icons must be in a 1:1 ratio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D2C822-342B-19F2-2625-E48FCD415937}"/>
              </a:ext>
            </a:extLst>
          </p:cNvPr>
          <p:cNvSpPr/>
          <p:nvPr/>
        </p:nvSpPr>
        <p:spPr>
          <a:xfrm rot="16200000">
            <a:off x="8492367" y="3219673"/>
            <a:ext cx="844711" cy="4890159"/>
          </a:xfrm>
          <a:prstGeom prst="roundRect">
            <a:avLst>
              <a:gd name="adj" fmla="val 9812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482C4-497E-5880-0B40-2FBE8191C35C}"/>
              </a:ext>
            </a:extLst>
          </p:cNvPr>
          <p:cNvSpPr txBox="1"/>
          <p:nvPr/>
        </p:nvSpPr>
        <p:spPr>
          <a:xfrm>
            <a:off x="8302123" y="5741312"/>
            <a:ext cx="498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MS Entra ID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AB79813-E373-C5D5-7B99-85EE19DCC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6415" y="5377000"/>
            <a:ext cx="360000" cy="36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A49C0D-E6C6-817A-F18A-FD14265CAF35}"/>
              </a:ext>
            </a:extLst>
          </p:cNvPr>
          <p:cNvSpPr txBox="1"/>
          <p:nvPr/>
        </p:nvSpPr>
        <p:spPr>
          <a:xfrm>
            <a:off x="9774152" y="5741312"/>
            <a:ext cx="72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Monitor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CF6841E-B515-2023-C3AE-8390AF238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4011" y="5377000"/>
            <a:ext cx="360000" cy="36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B73B7A0-E6FD-0577-D6AA-CE214DA8CF65}"/>
              </a:ext>
            </a:extLst>
          </p:cNvPr>
          <p:cNvSpPr txBox="1"/>
          <p:nvPr/>
        </p:nvSpPr>
        <p:spPr>
          <a:xfrm>
            <a:off x="8885495" y="5741312"/>
            <a:ext cx="915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Microsoft Defender for Cloud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695F46D6-2F86-E266-3C2B-712F6A4A4C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48819" y="5377000"/>
            <a:ext cx="360000" cy="360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1EBB9E4-4A63-3F11-C4BA-27DDF32E3593}"/>
              </a:ext>
            </a:extLst>
          </p:cNvPr>
          <p:cNvSpPr txBox="1"/>
          <p:nvPr/>
        </p:nvSpPr>
        <p:spPr>
          <a:xfrm>
            <a:off x="10714383" y="5741312"/>
            <a:ext cx="4268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Alerts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9950AE-F6DA-86CE-F3CC-3DBF784133D9}"/>
              </a:ext>
            </a:extLst>
          </p:cNvPr>
          <p:cNvSpPr txBox="1"/>
          <p:nvPr/>
        </p:nvSpPr>
        <p:spPr>
          <a:xfrm>
            <a:off x="6584164" y="5741312"/>
            <a:ext cx="76326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DevOps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899F45A3-0B2D-A608-27E6-230C3340B9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79203" y="5377000"/>
            <a:ext cx="360000" cy="36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738D8F2-1B4C-E7CF-0E45-B936A915057A}"/>
              </a:ext>
            </a:extLst>
          </p:cNvPr>
          <p:cNvSpPr txBox="1"/>
          <p:nvPr/>
        </p:nvSpPr>
        <p:spPr>
          <a:xfrm>
            <a:off x="7413624" y="5741312"/>
            <a:ext cx="693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Application Insights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751AC25-6ECD-5E5E-EAAD-4FE2A605D2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86799" y="5377000"/>
            <a:ext cx="360000" cy="3600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7E0DD1EF-DE63-E6DB-1323-77AE3424DA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1607" y="5377000"/>
            <a:ext cx="360000" cy="360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4C79E8B-1B8E-8158-D308-9632F9E738AC}"/>
              </a:ext>
            </a:extLst>
          </p:cNvPr>
          <p:cNvSpPr txBox="1"/>
          <p:nvPr/>
        </p:nvSpPr>
        <p:spPr>
          <a:xfrm>
            <a:off x="9451580" y="4934620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#949494</a:t>
            </a:r>
          </a:p>
        </p:txBody>
      </p:sp>
    </p:spTree>
    <p:extLst>
      <p:ext uri="{BB962C8B-B14F-4D97-AF65-F5344CB8AC3E}">
        <p14:creationId xmlns:p14="http://schemas.microsoft.com/office/powerpoint/2010/main" val="17314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8676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</a:t>
            </a:r>
            <a:r>
              <a:rPr lang="en-IN" sz="2000" err="1">
                <a:latin typeface="Segoe UI Light"/>
                <a:cs typeface="Segoe UI Light"/>
              </a:rPr>
              <a:t>Onpremise</a:t>
            </a:r>
            <a:r>
              <a:rPr lang="en-IN" sz="2000">
                <a:latin typeface="Segoe UI Light"/>
                <a:cs typeface="Segoe UI Light"/>
              </a:rPr>
              <a:t>/Data Sources Representation</a:t>
            </a:r>
            <a:endParaRPr lang="en-IN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06FFF0-003E-407F-33C1-BC70605FDC51}"/>
              </a:ext>
            </a:extLst>
          </p:cNvPr>
          <p:cNvGrpSpPr/>
          <p:nvPr/>
        </p:nvGrpSpPr>
        <p:grpSpPr>
          <a:xfrm>
            <a:off x="301707" y="1045626"/>
            <a:ext cx="806594" cy="806595"/>
            <a:chOff x="535584" y="3231751"/>
            <a:chExt cx="1073578" cy="1073577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52C485AC-C4B7-C58D-4BC5-58ABD7CAA90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35584" y="3231751"/>
              <a:ext cx="1073574" cy="10735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60B9C8C2-9398-48A5-FA0E-D7C0E80F3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584" y="3231751"/>
              <a:ext cx="536788" cy="107357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ED97EC-A0C1-7C0E-56BC-D7F4F6093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373" y="3768536"/>
              <a:ext cx="536789" cy="536786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0E149A34-102A-9A7B-5E0F-28DEFD373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81" y="3400357"/>
              <a:ext cx="99787" cy="99786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098FCD39-3180-A739-604D-A1A9CC023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387" y="3400358"/>
              <a:ext cx="99787" cy="99786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1FAF79DC-412B-1D81-DB64-C69AD9B06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81" y="3565523"/>
              <a:ext cx="99787" cy="103228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642633A1-1B63-1EF8-7ECB-454433519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387" y="3565523"/>
              <a:ext cx="99787" cy="103228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67B06314-B01C-93D1-A274-C1B707612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81" y="3734128"/>
              <a:ext cx="99787" cy="103228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F6D3115F-D612-E4AF-81F8-FEA12A707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387" y="3734128"/>
              <a:ext cx="99787" cy="103228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9E904B07-1E61-EFE0-B8A2-5ADD658C3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81" y="3902734"/>
              <a:ext cx="99787" cy="99786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D2A9EC96-369B-DA60-4639-00460F4CC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387" y="3902734"/>
              <a:ext cx="99787" cy="99786"/>
            </a:xfrm>
            <a:prstGeom prst="rect">
              <a:avLst/>
            </a:prstGeom>
            <a:solidFill>
              <a:srgbClr val="0078D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3BAC7225-772E-0057-A081-4B7BD5040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599" y="4171127"/>
              <a:ext cx="130756" cy="134197"/>
            </a:xfrm>
            <a:prstGeom prst="rect">
              <a:avLst/>
            </a:prstGeom>
            <a:solidFill>
              <a:srgbClr val="F8F7F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E80B3333-44A0-A01A-D633-EB0089DD5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67" y="3902734"/>
              <a:ext cx="99787" cy="99786"/>
            </a:xfrm>
            <a:prstGeom prst="rect">
              <a:avLst/>
            </a:prstGeom>
            <a:solidFill>
              <a:srgbClr val="50E6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15636BF6-16A1-7ABB-CD59-827F039BD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5174" y="3902734"/>
              <a:ext cx="99787" cy="99786"/>
            </a:xfrm>
            <a:prstGeom prst="rect">
              <a:avLst/>
            </a:prstGeom>
            <a:solidFill>
              <a:srgbClr val="50E6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4CE6E916-DB2F-1BF7-C5EE-86E304B07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1946" y="4171131"/>
              <a:ext cx="137638" cy="134197"/>
            </a:xfrm>
            <a:prstGeom prst="rect">
              <a:avLst/>
            </a:prstGeom>
            <a:solidFill>
              <a:srgbClr val="F8F7F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33" name="Oval 19">
              <a:extLst>
                <a:ext uri="{FF2B5EF4-FFF2-40B4-BE49-F238E27FC236}">
                  <a16:creationId xmlns:a16="http://schemas.microsoft.com/office/drawing/2014/main" id="{97CA5DF5-A399-CD0E-A231-1A10B0749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67" y="3400367"/>
              <a:ext cx="203015" cy="199574"/>
            </a:xfrm>
            <a:prstGeom prst="ellipse">
              <a:avLst/>
            </a:prstGeom>
            <a:solidFill>
              <a:srgbClr val="50E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DA2181B3-3312-A92A-6820-427F8B46C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158" y="3524234"/>
              <a:ext cx="337212" cy="75701"/>
            </a:xfrm>
            <a:custGeom>
              <a:avLst/>
              <a:gdLst>
                <a:gd name="T0" fmla="*/ 379 w 427"/>
                <a:gd name="T1" fmla="*/ 96 h 96"/>
                <a:gd name="T2" fmla="*/ 48 w 427"/>
                <a:gd name="T3" fmla="*/ 96 h 96"/>
                <a:gd name="T4" fmla="*/ 0 w 427"/>
                <a:gd name="T5" fmla="*/ 48 h 96"/>
                <a:gd name="T6" fmla="*/ 0 w 427"/>
                <a:gd name="T7" fmla="*/ 48 h 96"/>
                <a:gd name="T8" fmla="*/ 48 w 427"/>
                <a:gd name="T9" fmla="*/ 0 h 96"/>
                <a:gd name="T10" fmla="*/ 379 w 427"/>
                <a:gd name="T11" fmla="*/ 0 h 96"/>
                <a:gd name="T12" fmla="*/ 427 w 427"/>
                <a:gd name="T13" fmla="*/ 48 h 96"/>
                <a:gd name="T14" fmla="*/ 427 w 427"/>
                <a:gd name="T15" fmla="*/ 48 h 96"/>
                <a:gd name="T16" fmla="*/ 379 w 427"/>
                <a:gd name="T1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7" h="96">
                  <a:moveTo>
                    <a:pt x="379" y="96"/>
                  </a:moveTo>
                  <a:cubicBezTo>
                    <a:pt x="48" y="96"/>
                    <a:pt x="48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1"/>
                    <a:pt x="22" y="0"/>
                    <a:pt x="48" y="0"/>
                  </a:cubicBezTo>
                  <a:cubicBezTo>
                    <a:pt x="379" y="0"/>
                    <a:pt x="379" y="0"/>
                    <a:pt x="379" y="0"/>
                  </a:cubicBezTo>
                  <a:cubicBezTo>
                    <a:pt x="406" y="0"/>
                    <a:pt x="427" y="21"/>
                    <a:pt x="427" y="48"/>
                  </a:cubicBezTo>
                  <a:cubicBezTo>
                    <a:pt x="427" y="48"/>
                    <a:pt x="427" y="48"/>
                    <a:pt x="427" y="48"/>
                  </a:cubicBezTo>
                  <a:cubicBezTo>
                    <a:pt x="427" y="75"/>
                    <a:pt x="406" y="96"/>
                    <a:pt x="379" y="96"/>
                  </a:cubicBezTo>
                  <a:close/>
                </a:path>
              </a:pathLst>
            </a:custGeom>
            <a:solidFill>
              <a:srgbClr val="50E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37" name="Oval 21">
              <a:extLst>
                <a:ext uri="{FF2B5EF4-FFF2-40B4-BE49-F238E27FC236}">
                  <a16:creationId xmlns:a16="http://schemas.microsoft.com/office/drawing/2014/main" id="{95DAE24F-AA90-F667-5EF5-D2E9184CB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0760" y="3434771"/>
              <a:ext cx="134197" cy="130756"/>
            </a:xfrm>
            <a:prstGeom prst="ellipse">
              <a:avLst/>
            </a:prstGeom>
            <a:solidFill>
              <a:srgbClr val="50E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0930D-1EE3-8E6C-E4CB-CCD0B109AB8C}"/>
              </a:ext>
            </a:extLst>
          </p:cNvPr>
          <p:cNvSpPr/>
          <p:nvPr/>
        </p:nvSpPr>
        <p:spPr>
          <a:xfrm>
            <a:off x="369748" y="1835869"/>
            <a:ext cx="757983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Datacenter</a:t>
            </a:r>
          </a:p>
        </p:txBody>
      </p:sp>
      <p:pic>
        <p:nvPicPr>
          <p:cNvPr id="39" name="Picture 14" descr="Microsoft Dynamics Partner - ERP Software Solutions - Dynamics 365">
            <a:extLst>
              <a:ext uri="{FF2B5EF4-FFF2-40B4-BE49-F238E27FC236}">
                <a16:creationId xmlns:a16="http://schemas.microsoft.com/office/drawing/2014/main" id="{041F9BB2-14C5-9CC3-A94C-E21E1872B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69098" y="3371840"/>
            <a:ext cx="1439836" cy="33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B71B3A6C-6D64-CCFC-D904-0150C39C0165}"/>
              </a:ext>
            </a:extLst>
          </p:cNvPr>
          <p:cNvGrpSpPr/>
          <p:nvPr/>
        </p:nvGrpSpPr>
        <p:grpSpPr>
          <a:xfrm>
            <a:off x="43553" y="5002481"/>
            <a:ext cx="1115675" cy="709385"/>
            <a:chOff x="2686054" y="5160189"/>
            <a:chExt cx="1115675" cy="709385"/>
          </a:xfrm>
        </p:grpSpPr>
        <p:pic>
          <p:nvPicPr>
            <p:cNvPr id="41" name="Graphic 40" descr="Database">
              <a:extLst>
                <a:ext uri="{FF2B5EF4-FFF2-40B4-BE49-F238E27FC236}">
                  <a16:creationId xmlns:a16="http://schemas.microsoft.com/office/drawing/2014/main" id="{EB01729B-DA04-177C-4FBE-6B22F1A65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75352" y="5160189"/>
              <a:ext cx="517778" cy="517779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DD2D527-6817-0618-A899-CF53E23B4DB1}"/>
                </a:ext>
              </a:extLst>
            </p:cNvPr>
            <p:cNvSpPr txBox="1"/>
            <p:nvPr/>
          </p:nvSpPr>
          <p:spPr>
            <a:xfrm>
              <a:off x="2686054" y="5588856"/>
              <a:ext cx="1115675" cy="280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 defTabSz="896386">
                <a:buClr>
                  <a:srgbClr val="000000"/>
                </a:buClr>
                <a:defRPr sz="1372" b="1" kern="0"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 marL="0" marR="0" lvl="0" indent="0" algn="ctr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IN" sz="1224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RDBMS</a:t>
              </a:r>
            </a:p>
          </p:txBody>
        </p:sp>
      </p:grpSp>
      <p:pic>
        <p:nvPicPr>
          <p:cNvPr id="43" name="Picture 4" descr="How Dynamics 365 Cloud ERP Outperforms Traditional ERP system">
            <a:extLst>
              <a:ext uri="{FF2B5EF4-FFF2-40B4-BE49-F238E27FC236}">
                <a16:creationId xmlns:a16="http://schemas.microsoft.com/office/drawing/2014/main" id="{E87EE76F-D95D-7EEC-8359-DB52F6542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59228" y="5065466"/>
            <a:ext cx="362686" cy="50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AA6E267-A431-43C0-BE19-3665A67BFFC1}"/>
              </a:ext>
            </a:extLst>
          </p:cNvPr>
          <p:cNvSpPr txBox="1"/>
          <p:nvPr/>
        </p:nvSpPr>
        <p:spPr>
          <a:xfrm>
            <a:off x="826636" y="5430556"/>
            <a:ext cx="1075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896386">
              <a:buClr>
                <a:srgbClr val="000000"/>
              </a:buClr>
              <a:defRPr sz="1372" b="1" kern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8963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Dynamics CRM</a:t>
            </a:r>
          </a:p>
        </p:txBody>
      </p:sp>
      <p:pic>
        <p:nvPicPr>
          <p:cNvPr id="40" name="Picture 3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BBFB9BB-A26B-AA5D-0CA7-923D171CABD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9290" y="4094552"/>
            <a:ext cx="572451" cy="406173"/>
          </a:xfrm>
          <a:prstGeom prst="rect">
            <a:avLst/>
          </a:prstGeom>
        </p:spPr>
      </p:pic>
      <p:pic>
        <p:nvPicPr>
          <p:cNvPr id="45" name="Picture 2" descr="ServiceNow Launches Industry-Specific Workflow Solutions, Strategic  Partnerships - eWEEK">
            <a:extLst>
              <a:ext uri="{FF2B5EF4-FFF2-40B4-BE49-F238E27FC236}">
                <a16:creationId xmlns:a16="http://schemas.microsoft.com/office/drawing/2014/main" id="{9AEAE5FE-E546-0C13-3E40-ED397F0A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8868" y="4012604"/>
            <a:ext cx="839874" cy="55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SAP Cloud for Customer| SAP C4C Solutions">
            <a:extLst>
              <a:ext uri="{FF2B5EF4-FFF2-40B4-BE49-F238E27FC236}">
                <a16:creationId xmlns:a16="http://schemas.microsoft.com/office/drawing/2014/main" id="{D6F2D2CA-35F5-E00F-3F43-6D1268A2D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2336" y="4474666"/>
            <a:ext cx="703295" cy="4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Botree Software, Application Management Software, Application Software And  System Software, Bentley Systems, Bentley Application Software Packages,  एप्लिकेशन सॉफ्टवेयर पैकेज in Sector 15, Gurgaon , Anvesak | ID: 6368450648">
            <a:extLst>
              <a:ext uri="{FF2B5EF4-FFF2-40B4-BE49-F238E27FC236}">
                <a16:creationId xmlns:a16="http://schemas.microsoft.com/office/drawing/2014/main" id="{6A61F5AE-86D3-57F1-1387-B9F268EE7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01" y="4567356"/>
            <a:ext cx="778537" cy="32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A20D44-1839-2C82-6864-9E1E1F69304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4353" y="2578914"/>
            <a:ext cx="624028" cy="307854"/>
          </a:xfrm>
          <a:prstGeom prst="rect">
            <a:avLst/>
          </a:prstGeom>
        </p:spPr>
      </p:pic>
      <p:pic>
        <p:nvPicPr>
          <p:cNvPr id="49" name="Picture 2" descr="Image result for sap ecc logo transparent">
            <a:extLst>
              <a:ext uri="{FF2B5EF4-FFF2-40B4-BE49-F238E27FC236}">
                <a16:creationId xmlns:a16="http://schemas.microsoft.com/office/drawing/2014/main" id="{09C8B516-9304-6271-C8C5-829EF88A6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110" y="2502254"/>
            <a:ext cx="1368095" cy="45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862353A-AABB-8591-FCF8-BDA78994AAF9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" t="34349" r="3313" b="35246"/>
          <a:stretch/>
        </p:blipFill>
        <p:spPr>
          <a:xfrm>
            <a:off x="300988" y="2143106"/>
            <a:ext cx="1576056" cy="30993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67F49F5-9D48-3C0B-0026-12E146D47FDB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17" b="39169"/>
          <a:stretch/>
        </p:blipFill>
        <p:spPr>
          <a:xfrm>
            <a:off x="342766" y="3007499"/>
            <a:ext cx="1492500" cy="315127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8FB72427-3CC8-DE98-8808-151C0091DAD4}"/>
              </a:ext>
            </a:extLst>
          </p:cNvPr>
          <p:cNvGrpSpPr/>
          <p:nvPr/>
        </p:nvGrpSpPr>
        <p:grpSpPr>
          <a:xfrm>
            <a:off x="193060" y="5707769"/>
            <a:ext cx="1869341" cy="814321"/>
            <a:chOff x="3989786" y="4626226"/>
            <a:chExt cx="1869341" cy="814321"/>
          </a:xfrm>
        </p:grpSpPr>
        <p:sp>
          <p:nvSpPr>
            <p:cNvPr id="59" name="TextBox 116">
              <a:extLst>
                <a:ext uri="{FF2B5EF4-FFF2-40B4-BE49-F238E27FC236}">
                  <a16:creationId xmlns:a16="http://schemas.microsoft.com/office/drawing/2014/main" id="{75AF9561-65AE-80B0-82DB-511C74E39177}"/>
                </a:ext>
              </a:extLst>
            </p:cNvPr>
            <p:cNvSpPr txBox="1"/>
            <p:nvPr/>
          </p:nvSpPr>
          <p:spPr>
            <a:xfrm>
              <a:off x="3989786" y="5071215"/>
              <a:ext cx="688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Domain Controller</a:t>
              </a:r>
            </a:p>
          </p:txBody>
        </p:sp>
        <p:sp>
          <p:nvSpPr>
            <p:cNvPr id="60" name="TextBox 116">
              <a:extLst>
                <a:ext uri="{FF2B5EF4-FFF2-40B4-BE49-F238E27FC236}">
                  <a16:creationId xmlns:a16="http://schemas.microsoft.com/office/drawing/2014/main" id="{88803F0F-9192-329A-960C-686BE072922B}"/>
                </a:ext>
              </a:extLst>
            </p:cNvPr>
            <p:cNvSpPr txBox="1"/>
            <p:nvPr/>
          </p:nvSpPr>
          <p:spPr>
            <a:xfrm>
              <a:off x="4953168" y="5071215"/>
              <a:ext cx="90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Azure AD Connect sync</a:t>
              </a:r>
            </a:p>
          </p:txBody>
        </p: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5D3EACE8-8C6E-A2CA-4653-1B5D00125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941" y="4858587"/>
              <a:ext cx="697993" cy="535"/>
            </a:xfrm>
            <a:prstGeom prst="bentConnector3">
              <a:avLst>
                <a:gd name="adj1" fmla="val 57415"/>
              </a:avLst>
            </a:prstGeom>
            <a:ln>
              <a:prstDash val="sysDot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4C65FA30-7533-BAE9-5257-B7ED48096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42509" y="4626226"/>
              <a:ext cx="421885" cy="465256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E25FCE7A-97C9-C4B4-A12F-A873E81F0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242634" y="4626654"/>
              <a:ext cx="397495" cy="464400"/>
            </a:xfrm>
            <a:prstGeom prst="rect">
              <a:avLst/>
            </a:prstGeom>
          </p:spPr>
        </p:pic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2A6D199F-E9E9-A645-01BC-1C4340B5425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76036" y="1526454"/>
            <a:ext cx="267141" cy="2671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ECED301-B1B8-BF80-425F-39A8484321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01427" y="1074305"/>
            <a:ext cx="217132" cy="2151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1332CD-1719-7C84-6D4A-B1D6B7544077}"/>
              </a:ext>
            </a:extLst>
          </p:cNvPr>
          <p:cNvSpPr/>
          <p:nvPr/>
        </p:nvSpPr>
        <p:spPr>
          <a:xfrm>
            <a:off x="1308345" y="1290641"/>
            <a:ext cx="403297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User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56E444-D822-952C-077B-F09D6CE48656}"/>
              </a:ext>
            </a:extLst>
          </p:cNvPr>
          <p:cNvSpPr/>
          <p:nvPr/>
        </p:nvSpPr>
        <p:spPr>
          <a:xfrm>
            <a:off x="1218062" y="1769907"/>
            <a:ext cx="583089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Browser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A78BD4C-EC68-3B51-A6CC-199A1045061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t="37854" b="37768"/>
          <a:stretch/>
        </p:blipFill>
        <p:spPr>
          <a:xfrm>
            <a:off x="343970" y="3755491"/>
            <a:ext cx="1342170" cy="29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8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6599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Hub Resource Group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04320-7DB0-0D17-929E-095A3C5A304C}"/>
              </a:ext>
            </a:extLst>
          </p:cNvPr>
          <p:cNvSpPr txBox="1"/>
          <p:nvPr/>
        </p:nvSpPr>
        <p:spPr>
          <a:xfrm>
            <a:off x="134468" y="953962"/>
            <a:ext cx="70308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SVG of all the services must be centre &amp; middle align within the Subnet and after that name of each service should be centre align to SVG Icon</a:t>
            </a:r>
            <a:b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Network Security Group and Route Table should maintain the same ratio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Network Security Group should be middle-right aligned with the Subnet box, It should also be placed at the center of the Subnet’s border</a:t>
            </a:r>
          </a:p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Route Table should be positioned at the top-left corner of the Subnet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F22DBD-6DB5-AF29-87E2-8B4077A3C1C1}"/>
              </a:ext>
            </a:extLst>
          </p:cNvPr>
          <p:cNvSpPr/>
          <p:nvPr/>
        </p:nvSpPr>
        <p:spPr>
          <a:xfrm>
            <a:off x="7712134" y="1641190"/>
            <a:ext cx="3478217" cy="4181640"/>
          </a:xfrm>
          <a:prstGeom prst="roundRect">
            <a:avLst>
              <a:gd name="adj" fmla="val 5341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553B81-AC6F-DF57-FD2D-1A9314E4E4C1}"/>
              </a:ext>
            </a:extLst>
          </p:cNvPr>
          <p:cNvSpPr/>
          <p:nvPr/>
        </p:nvSpPr>
        <p:spPr>
          <a:xfrm>
            <a:off x="7892135" y="1940012"/>
            <a:ext cx="3118214" cy="3675784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CE95A1-8F87-E74F-CEC9-C459D7BB0000}"/>
              </a:ext>
            </a:extLst>
          </p:cNvPr>
          <p:cNvSpPr/>
          <p:nvPr/>
        </p:nvSpPr>
        <p:spPr bwMode="auto">
          <a:xfrm>
            <a:off x="9549890" y="3371511"/>
            <a:ext cx="1310400" cy="8568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13DCA2-868A-C1D4-E2AE-8B86691A42DD}"/>
              </a:ext>
            </a:extLst>
          </p:cNvPr>
          <p:cNvSpPr/>
          <p:nvPr/>
        </p:nvSpPr>
        <p:spPr bwMode="auto">
          <a:xfrm>
            <a:off x="8006746" y="2230718"/>
            <a:ext cx="1310400" cy="8568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0E34F-6115-40D9-8A4A-A53BFD8A103B}"/>
              </a:ext>
            </a:extLst>
          </p:cNvPr>
          <p:cNvSpPr/>
          <p:nvPr/>
        </p:nvSpPr>
        <p:spPr bwMode="auto">
          <a:xfrm>
            <a:off x="8006746" y="3371511"/>
            <a:ext cx="1310400" cy="8568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5F6254-C7B1-4BF0-D7D7-5100946C12F7}"/>
              </a:ext>
            </a:extLst>
          </p:cNvPr>
          <p:cNvSpPr/>
          <p:nvPr/>
        </p:nvSpPr>
        <p:spPr bwMode="auto">
          <a:xfrm>
            <a:off x="8006746" y="4558335"/>
            <a:ext cx="1310400" cy="8568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F2726B0-469F-4637-4289-DA669137E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8346" y="3546093"/>
            <a:ext cx="360000" cy="36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EAC0D5-AEB4-3637-1939-7980ABB33A08}"/>
              </a:ext>
            </a:extLst>
          </p:cNvPr>
          <p:cNvSpPr txBox="1"/>
          <p:nvPr/>
        </p:nvSpPr>
        <p:spPr>
          <a:xfrm>
            <a:off x="8223496" y="3904734"/>
            <a:ext cx="87690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Firewall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36C1F34-59B5-1DBF-A2D4-7DD7A46041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935" y="2271188"/>
            <a:ext cx="171450" cy="1714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88F2C1B-4B91-78B7-BB71-EDBC1FA21F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81946" y="2398152"/>
            <a:ext cx="360000" cy="360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FD896D9-DA22-3C3D-EE4A-3EC28695E5A1}"/>
              </a:ext>
            </a:extLst>
          </p:cNvPr>
          <p:cNvSpPr/>
          <p:nvPr/>
        </p:nvSpPr>
        <p:spPr>
          <a:xfrm>
            <a:off x="8223626" y="5109848"/>
            <a:ext cx="876641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Bastion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242B7F-F761-B706-04B2-5799D780493E}"/>
              </a:ext>
            </a:extLst>
          </p:cNvPr>
          <p:cNvSpPr/>
          <p:nvPr/>
        </p:nvSpPr>
        <p:spPr>
          <a:xfrm>
            <a:off x="7952274" y="1380337"/>
            <a:ext cx="1581008" cy="237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Resource Group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EA3915D-3E1E-377B-A2FB-C699A68621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12134" y="1373705"/>
            <a:ext cx="251021" cy="2510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F1B9013-6862-87FF-89E2-EA14D746FDBB}"/>
              </a:ext>
            </a:extLst>
          </p:cNvPr>
          <p:cNvSpPr txBox="1"/>
          <p:nvPr/>
        </p:nvSpPr>
        <p:spPr>
          <a:xfrm>
            <a:off x="8078369" y="2760404"/>
            <a:ext cx="11671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VPN Gateway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D3F6F205-B234-6D62-2C55-53EF82642C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29950" y="4901010"/>
            <a:ext cx="171450" cy="1714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11710B-90BA-5ED2-9C20-F8FB7E0139A9}"/>
              </a:ext>
            </a:extLst>
          </p:cNvPr>
          <p:cNvSpPr/>
          <p:nvPr/>
        </p:nvSpPr>
        <p:spPr>
          <a:xfrm>
            <a:off x="9733429" y="3904734"/>
            <a:ext cx="9440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Application Gateway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9BD9514-5DF0-66D3-2D95-31ED81AD4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3017" y="3409518"/>
            <a:ext cx="171450" cy="1714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4EE8278A-83E8-4DFF-E53D-CD3E30959A7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78346" y="4746260"/>
            <a:ext cx="360000" cy="3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73432C-11C1-9969-66C5-5C6F44939CEC}"/>
              </a:ext>
            </a:extLst>
          </p:cNvPr>
          <p:cNvSpPr txBox="1"/>
          <p:nvPr/>
        </p:nvSpPr>
        <p:spPr>
          <a:xfrm>
            <a:off x="8150519" y="2008897"/>
            <a:ext cx="946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GatewaySubnet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5292305-7D6A-EF6E-8501-F7379A0A025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06746" y="2026619"/>
            <a:ext cx="180000" cy="1800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A254879-B2B0-F828-4365-CE9C93731EED}"/>
              </a:ext>
            </a:extLst>
          </p:cNvPr>
          <p:cNvSpPr/>
          <p:nvPr/>
        </p:nvSpPr>
        <p:spPr bwMode="auto">
          <a:xfrm>
            <a:off x="9549890" y="2230718"/>
            <a:ext cx="1310400" cy="8568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2BF8A37-17E4-7810-9BDB-3BA058A1744E}"/>
              </a:ext>
            </a:extLst>
          </p:cNvPr>
          <p:cNvSpPr/>
          <p:nvPr/>
        </p:nvSpPr>
        <p:spPr>
          <a:xfrm>
            <a:off x="9766770" y="2760404"/>
            <a:ext cx="876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Jumphost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034FCE87-6A70-65EB-930D-F7B908D56E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74175" y="2573393"/>
            <a:ext cx="171450" cy="1714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984A1C93-2226-CD9B-412E-EF26BFB562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3017" y="2271188"/>
            <a:ext cx="171450" cy="1714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A88B8E4-F6F2-D3F5-1B07-96132CFD02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25090" y="2398152"/>
            <a:ext cx="360000" cy="3600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0A1399F6-935E-9D8C-275A-D838B4DCAC3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025475" y="3546093"/>
            <a:ext cx="360000" cy="3600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E2F453DF-8955-B627-BC3E-F3A8A47C569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60745" y="3698274"/>
            <a:ext cx="171450" cy="17145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88E6774-563F-F40C-D19C-694996EA693C}"/>
              </a:ext>
            </a:extLst>
          </p:cNvPr>
          <p:cNvSpPr txBox="1"/>
          <p:nvPr/>
        </p:nvSpPr>
        <p:spPr>
          <a:xfrm>
            <a:off x="8150519" y="3146225"/>
            <a:ext cx="10845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AzureFirewallSubnet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62706569-F1D4-6A76-B5B3-DFD263B214C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06746" y="3163947"/>
            <a:ext cx="180000" cy="1800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B535BD1-0A0D-946D-2D65-6F89F8F05E28}"/>
              </a:ext>
            </a:extLst>
          </p:cNvPr>
          <p:cNvSpPr txBox="1"/>
          <p:nvPr/>
        </p:nvSpPr>
        <p:spPr>
          <a:xfrm>
            <a:off x="8150519" y="4341983"/>
            <a:ext cx="1042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AzureBastionSubnet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DB072950-8A15-50EC-FAA5-A3F552BFA74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06746" y="4359705"/>
            <a:ext cx="180000" cy="1800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C4D7C491-A866-84CA-C7E1-D1C5BADD43DC}"/>
              </a:ext>
            </a:extLst>
          </p:cNvPr>
          <p:cNvSpPr txBox="1"/>
          <p:nvPr/>
        </p:nvSpPr>
        <p:spPr>
          <a:xfrm>
            <a:off x="9693663" y="3084670"/>
            <a:ext cx="118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Application Gateway 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E23CF253-4DB1-2FFD-B099-387E903FB2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49890" y="3163947"/>
            <a:ext cx="180000" cy="1800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07F564E-3E4E-1FF0-559E-B16C077802C6}"/>
              </a:ext>
            </a:extLst>
          </p:cNvPr>
          <p:cNvSpPr txBox="1"/>
          <p:nvPr/>
        </p:nvSpPr>
        <p:spPr>
          <a:xfrm>
            <a:off x="9693663" y="2008897"/>
            <a:ext cx="946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Compute 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73FAC285-62A2-269E-460B-EDF2936B380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49890" y="2026619"/>
            <a:ext cx="180000" cy="18000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606ED00C-68F4-CAF3-46E7-4EAD72ED49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74175" y="3714186"/>
            <a:ext cx="171450" cy="17145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6B1F1C3-DF6A-4007-AE12-7452A2B15744}"/>
              </a:ext>
            </a:extLst>
          </p:cNvPr>
          <p:cNvGrpSpPr/>
          <p:nvPr/>
        </p:nvGrpSpPr>
        <p:grpSpPr>
          <a:xfrm>
            <a:off x="8760624" y="1710828"/>
            <a:ext cx="1381237" cy="216924"/>
            <a:chOff x="8847661" y="1684950"/>
            <a:chExt cx="1381237" cy="216924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2CE7ED49-183F-DADA-5166-570BEC5B3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847661" y="1685412"/>
              <a:ext cx="216000" cy="216000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4D21905-4F06-7F83-F3F6-CE7A336900C7}"/>
                </a:ext>
              </a:extLst>
            </p:cNvPr>
            <p:cNvSpPr/>
            <p:nvPr/>
          </p:nvSpPr>
          <p:spPr>
            <a:xfrm>
              <a:off x="9054772" y="1684950"/>
              <a:ext cx="1174126" cy="216924"/>
            </a:xfrm>
            <a:prstGeom prst="rect">
              <a:avLst/>
            </a:prstGeom>
          </p:spPr>
          <p:txBody>
            <a:bodyPr wrap="square" lIns="91380" tIns="45691" rIns="91380" bIns="45691" rtlCol="0">
              <a:spAutoFit/>
            </a:bodyPr>
            <a:lstStyle/>
            <a:p>
              <a:pPr marL="0" marR="0" lvl="0" indent="0" algn="l" defTabSz="91373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Hub Virtual Network</a:t>
              </a:r>
            </a:p>
          </p:txBody>
        </p: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1E67428C-9EF5-9BA4-796C-E644B20F852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226586" y="3293339"/>
            <a:ext cx="172800" cy="172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A5EEC41-D1C1-4648-1F2C-3174DF606386}"/>
              </a:ext>
            </a:extLst>
          </p:cNvPr>
          <p:cNvSpPr txBox="1"/>
          <p:nvPr/>
        </p:nvSpPr>
        <p:spPr>
          <a:xfrm>
            <a:off x="9050154" y="3434977"/>
            <a:ext cx="51629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700" kern="0">
                <a:latin typeface="Segoe UI Light"/>
                <a:cs typeface="Segoe UI Light"/>
              </a:rPr>
              <a:t>NAT Gateway</a:t>
            </a:r>
            <a:endParaRPr lang="en-US"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4F119-22A4-B60E-8162-5C76CA2F3D6B}"/>
              </a:ext>
            </a:extLst>
          </p:cNvPr>
          <p:cNvSpPr txBox="1"/>
          <p:nvPr/>
        </p:nvSpPr>
        <p:spPr>
          <a:xfrm>
            <a:off x="9288321" y="3851704"/>
            <a:ext cx="516299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700" kern="0">
                <a:latin typeface="Segoe UI Light"/>
                <a:cs typeface="Segoe UI Light"/>
              </a:rPr>
              <a:t>WAF</a:t>
            </a:r>
            <a:endParaRPr lang="en-US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689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Legends for PowerPoint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148B9-20DF-A894-4F23-FAA002726240}"/>
              </a:ext>
            </a:extLst>
          </p:cNvPr>
          <p:cNvSpPr txBox="1"/>
          <p:nvPr/>
        </p:nvSpPr>
        <p:spPr>
          <a:xfrm>
            <a:off x="1004006" y="1551898"/>
            <a:ext cx="2052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Virtual Network Peering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3E58BD-46F9-AB99-1759-6B6E9094E5A5}"/>
              </a:ext>
            </a:extLst>
          </p:cNvPr>
          <p:cNvCxnSpPr>
            <a:cxnSpLocks/>
          </p:cNvCxnSpPr>
          <p:nvPr/>
        </p:nvCxnSpPr>
        <p:spPr>
          <a:xfrm>
            <a:off x="5969605" y="1705786"/>
            <a:ext cx="1440000" cy="0"/>
          </a:xfrm>
          <a:prstGeom prst="straightConnector1">
            <a:avLst/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019C5C-CFF9-1A23-ED40-CE84627C1CAA}"/>
              </a:ext>
            </a:extLst>
          </p:cNvPr>
          <p:cNvSpPr txBox="1"/>
          <p:nvPr/>
        </p:nvSpPr>
        <p:spPr>
          <a:xfrm>
            <a:off x="7869550" y="1551898"/>
            <a:ext cx="1950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#2BCBED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3326FD6-E8DD-66F8-F1A4-06FC47A93F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9605" y="2241644"/>
            <a:ext cx="1440000" cy="2"/>
          </a:xfrm>
          <a:prstGeom prst="bentConnector3">
            <a:avLst>
              <a:gd name="adj1" fmla="val 50000"/>
            </a:avLst>
          </a:prstGeom>
          <a:ln w="12700">
            <a:solidFill>
              <a:srgbClr val="A9D18E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ADE7992-0C6B-82E8-B7EA-6B13730A69DE}"/>
              </a:ext>
            </a:extLst>
          </p:cNvPr>
          <p:cNvSpPr txBox="1"/>
          <p:nvPr/>
        </p:nvSpPr>
        <p:spPr>
          <a:xfrm>
            <a:off x="1004006" y="1980035"/>
            <a:ext cx="3460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Shared Virtual Network (VNet and Compute present in different location)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F5CDA-78EA-4550-45D8-5551C9CF38E5}"/>
              </a:ext>
            </a:extLst>
          </p:cNvPr>
          <p:cNvSpPr txBox="1"/>
          <p:nvPr/>
        </p:nvSpPr>
        <p:spPr>
          <a:xfrm>
            <a:off x="7869550" y="2087757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#A9D18E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2010946-110F-AFAC-B3BF-273C6ABC829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9605" y="2777503"/>
            <a:ext cx="1440000" cy="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3B14C2-7336-152D-94CE-44BA7B1820D3}"/>
              </a:ext>
            </a:extLst>
          </p:cNvPr>
          <p:cNvSpPr txBox="1"/>
          <p:nvPr/>
        </p:nvSpPr>
        <p:spPr>
          <a:xfrm>
            <a:off x="1004006" y="2623615"/>
            <a:ext cx="3152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Web Request from any source to Azure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A8BF1B-4922-1DE1-F73D-62A3F1AB9ADF}"/>
              </a:ext>
            </a:extLst>
          </p:cNvPr>
          <p:cNvSpPr txBox="1"/>
          <p:nvPr/>
        </p:nvSpPr>
        <p:spPr>
          <a:xfrm>
            <a:off x="7869550" y="2623615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#00B050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65AA32-13C9-DE5F-0F2A-BD7EC02C4399}"/>
              </a:ext>
            </a:extLst>
          </p:cNvPr>
          <p:cNvSpPr txBox="1"/>
          <p:nvPr/>
        </p:nvSpPr>
        <p:spPr>
          <a:xfrm>
            <a:off x="1004006" y="3051752"/>
            <a:ext cx="2793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Virtual Network Integration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D211B1-9451-99C4-5285-069755D811C9}"/>
              </a:ext>
            </a:extLst>
          </p:cNvPr>
          <p:cNvCxnSpPr>
            <a:cxnSpLocks/>
          </p:cNvCxnSpPr>
          <p:nvPr/>
        </p:nvCxnSpPr>
        <p:spPr>
          <a:xfrm>
            <a:off x="5969605" y="3205640"/>
            <a:ext cx="1440000" cy="0"/>
          </a:xfrm>
          <a:prstGeom prst="straightConnector1">
            <a:avLst/>
          </a:prstGeom>
          <a:ln w="12700">
            <a:solidFill>
              <a:srgbClr val="2BCBED"/>
            </a:solidFill>
            <a:tailEnd type="diamon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0D75754-2FEF-8DBB-5050-0796196202CE}"/>
              </a:ext>
            </a:extLst>
          </p:cNvPr>
          <p:cNvSpPr txBox="1"/>
          <p:nvPr/>
        </p:nvSpPr>
        <p:spPr>
          <a:xfrm>
            <a:off x="7869550" y="3051752"/>
            <a:ext cx="1950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#2BCBED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67338D2-2AB0-9989-83B7-9AC21095B414}"/>
              </a:ext>
            </a:extLst>
          </p:cNvPr>
          <p:cNvSpPr/>
          <p:nvPr/>
        </p:nvSpPr>
        <p:spPr>
          <a:xfrm>
            <a:off x="5990358" y="3607028"/>
            <a:ext cx="1398495" cy="268942"/>
          </a:xfrm>
          <a:custGeom>
            <a:avLst/>
            <a:gdLst>
              <a:gd name="connsiteX0" fmla="*/ 0 w 1398495"/>
              <a:gd name="connsiteY0" fmla="*/ 268942 h 268942"/>
              <a:gd name="connsiteX1" fmla="*/ 367553 w 1398495"/>
              <a:gd name="connsiteY1" fmla="*/ 8965 h 268942"/>
              <a:gd name="connsiteX2" fmla="*/ 932330 w 1398495"/>
              <a:gd name="connsiteY2" fmla="*/ 242047 h 268942"/>
              <a:gd name="connsiteX3" fmla="*/ 1398495 w 1398495"/>
              <a:gd name="connsiteY3" fmla="*/ 0 h 26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8495" h="268942">
                <a:moveTo>
                  <a:pt x="0" y="268942"/>
                </a:moveTo>
                <a:cubicBezTo>
                  <a:pt x="106082" y="141195"/>
                  <a:pt x="212165" y="13448"/>
                  <a:pt x="367553" y="8965"/>
                </a:cubicBezTo>
                <a:cubicBezTo>
                  <a:pt x="522941" y="4482"/>
                  <a:pt x="760506" y="243541"/>
                  <a:pt x="932330" y="242047"/>
                </a:cubicBezTo>
                <a:cubicBezTo>
                  <a:pt x="1104154" y="240553"/>
                  <a:pt x="1251324" y="120276"/>
                  <a:pt x="1398495" y="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57F608-B1CD-BE38-2EEE-11837D2F4C32}"/>
              </a:ext>
            </a:extLst>
          </p:cNvPr>
          <p:cNvSpPr txBox="1"/>
          <p:nvPr/>
        </p:nvSpPr>
        <p:spPr>
          <a:xfrm>
            <a:off x="1004006" y="3479889"/>
            <a:ext cx="2793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Network Flow</a:t>
            </a:r>
          </a:p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(Shape-&gt; Curve) (Any Colour)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DD89B-81CE-0204-9C5F-617719BB9347}"/>
              </a:ext>
            </a:extLst>
          </p:cNvPr>
          <p:cNvSpPr txBox="1"/>
          <p:nvPr/>
        </p:nvSpPr>
        <p:spPr>
          <a:xfrm>
            <a:off x="7869550" y="3587611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*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0CED841-93D4-751E-DC48-B237EE605039}"/>
              </a:ext>
            </a:extLst>
          </p:cNvPr>
          <p:cNvCxnSpPr>
            <a:cxnSpLocks/>
          </p:cNvCxnSpPr>
          <p:nvPr/>
        </p:nvCxnSpPr>
        <p:spPr>
          <a:xfrm>
            <a:off x="5969605" y="1277649"/>
            <a:ext cx="1440000" cy="0"/>
          </a:xfrm>
          <a:prstGeom prst="straightConnector1">
            <a:avLst/>
          </a:prstGeom>
          <a:ln w="127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7040AB7-D4A2-4AD7-F8BE-B0A638BB8FD2}"/>
              </a:ext>
            </a:extLst>
          </p:cNvPr>
          <p:cNvSpPr txBox="1"/>
          <p:nvPr/>
        </p:nvSpPr>
        <p:spPr>
          <a:xfrm>
            <a:off x="1004006" y="1123761"/>
            <a:ext cx="2854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Onpremise to Azure (Site to Site)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1DCBC7-F8D2-CE33-9164-CF4D3657ECC1}"/>
              </a:ext>
            </a:extLst>
          </p:cNvPr>
          <p:cNvSpPr txBox="1"/>
          <p:nvPr/>
        </p:nvSpPr>
        <p:spPr>
          <a:xfrm>
            <a:off x="7869550" y="1123761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#000000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00AE8-34B0-722C-1436-F270FB78F29D}"/>
              </a:ext>
            </a:extLst>
          </p:cNvPr>
          <p:cNvSpPr txBox="1"/>
          <p:nvPr/>
        </p:nvSpPr>
        <p:spPr>
          <a:xfrm>
            <a:off x="1004006" y="4123469"/>
            <a:ext cx="2793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Virtual Network Link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8EB64F-C514-3119-5ABC-0B5977491357}"/>
              </a:ext>
            </a:extLst>
          </p:cNvPr>
          <p:cNvCxnSpPr>
            <a:cxnSpLocks/>
          </p:cNvCxnSpPr>
          <p:nvPr/>
        </p:nvCxnSpPr>
        <p:spPr>
          <a:xfrm>
            <a:off x="5969605" y="4277357"/>
            <a:ext cx="1440000" cy="0"/>
          </a:xfrm>
          <a:prstGeom prst="straightConnector1">
            <a:avLst/>
          </a:prstGeom>
          <a:ln w="12700">
            <a:solidFill>
              <a:srgbClr val="5B9BD5"/>
            </a:solidFill>
            <a:tailEnd type="oval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246AAD-E8F2-6E32-DABF-77F58D409E0F}"/>
              </a:ext>
            </a:extLst>
          </p:cNvPr>
          <p:cNvSpPr txBox="1"/>
          <p:nvPr/>
        </p:nvSpPr>
        <p:spPr>
          <a:xfrm>
            <a:off x="7869550" y="4123469"/>
            <a:ext cx="1950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#5B9BD5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13B4C9-D2BF-68D3-4BA9-D0997256D26B}"/>
              </a:ext>
            </a:extLst>
          </p:cNvPr>
          <p:cNvSpPr txBox="1"/>
          <p:nvPr/>
        </p:nvSpPr>
        <p:spPr>
          <a:xfrm>
            <a:off x="292847" y="6029979"/>
            <a:ext cx="11704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Note: </a:t>
            </a:r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width of each legend shown above should be set to a thickness of 1 pt</a:t>
            </a:r>
            <a:r>
              <a:rPr lang="en-US" sz="1400" baseline="30000">
                <a:latin typeface="Segoe UI Light" panose="020B0502040204020203" pitchFamily="34" charset="0"/>
                <a:cs typeface="Segoe UI Light" panose="020B0502040204020203" pitchFamily="34" charset="0"/>
              </a:rPr>
              <a:t>(may vary depending on requirement)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A44444-AEF4-76FB-F4F4-40599EEB6280}"/>
              </a:ext>
            </a:extLst>
          </p:cNvPr>
          <p:cNvSpPr txBox="1"/>
          <p:nvPr/>
        </p:nvSpPr>
        <p:spPr>
          <a:xfrm>
            <a:off x="1004006" y="4551606"/>
            <a:ext cx="2793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High Availability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49D67AB-225D-4B78-94F3-D89DB18C756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9606" y="4705493"/>
            <a:ext cx="1440000" cy="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98A27E9-A17C-9005-716D-D36F2920C553}"/>
              </a:ext>
            </a:extLst>
          </p:cNvPr>
          <p:cNvSpPr txBox="1"/>
          <p:nvPr/>
        </p:nvSpPr>
        <p:spPr>
          <a:xfrm>
            <a:off x="7869550" y="4551606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#00B050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1A4FE8-6061-289C-D5A4-106A48E05BFE}"/>
              </a:ext>
            </a:extLst>
          </p:cNvPr>
          <p:cNvSpPr txBox="1"/>
          <p:nvPr/>
        </p:nvSpPr>
        <p:spPr>
          <a:xfrm>
            <a:off x="1004006" y="4979747"/>
            <a:ext cx="4225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DNS Forwarding Ruleset to Outbound Endpoint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03086A20-7664-4A7B-ED82-37E6F93FB8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9606" y="5133634"/>
            <a:ext cx="1440000" cy="1"/>
          </a:xfrm>
          <a:prstGeom prst="bentConnector3">
            <a:avLst>
              <a:gd name="adj1" fmla="val 50000"/>
            </a:avLst>
          </a:prstGeom>
          <a:ln w="12700">
            <a:solidFill>
              <a:srgbClr val="4472C4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41A6537-FEF0-C4A2-F022-ABDDDAB2C18E}"/>
              </a:ext>
            </a:extLst>
          </p:cNvPr>
          <p:cNvSpPr txBox="1"/>
          <p:nvPr/>
        </p:nvSpPr>
        <p:spPr>
          <a:xfrm>
            <a:off x="7869550" y="4979747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#4472C4</a:t>
            </a:r>
          </a:p>
        </p:txBody>
      </p:sp>
    </p:spTree>
    <p:extLst>
      <p:ext uri="{BB962C8B-B14F-4D97-AF65-F5344CB8AC3E}">
        <p14:creationId xmlns:p14="http://schemas.microsoft.com/office/powerpoint/2010/main" val="2360805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Onpremise to Azure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0AB7-D4A2-4AD7-F8BE-B0A638BB8FD2}"/>
              </a:ext>
            </a:extLst>
          </p:cNvPr>
          <p:cNvSpPr txBox="1"/>
          <p:nvPr/>
        </p:nvSpPr>
        <p:spPr>
          <a:xfrm>
            <a:off x="103368" y="1035906"/>
            <a:ext cx="6928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tunnel from on-premises to Azure or vice versa, should be touch the VPN Gateway 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0CED841-93D4-751E-DC48-B237EE605039}"/>
              </a:ext>
            </a:extLst>
          </p:cNvPr>
          <p:cNvCxnSpPr>
            <a:cxnSpLocks/>
          </p:cNvCxnSpPr>
          <p:nvPr/>
        </p:nvCxnSpPr>
        <p:spPr>
          <a:xfrm>
            <a:off x="9364453" y="1881502"/>
            <a:ext cx="1440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DB3C5FE-EBF0-F6BC-621C-431ABBA58429}"/>
              </a:ext>
            </a:extLst>
          </p:cNvPr>
          <p:cNvSpPr/>
          <p:nvPr/>
        </p:nvSpPr>
        <p:spPr>
          <a:xfrm>
            <a:off x="9169595" y="2959369"/>
            <a:ext cx="2081646" cy="1813674"/>
          </a:xfrm>
          <a:prstGeom prst="roundRect">
            <a:avLst>
              <a:gd name="adj" fmla="val 8161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6086BE-B547-E4AF-456A-462C6D21ED28}"/>
              </a:ext>
            </a:extLst>
          </p:cNvPr>
          <p:cNvSpPr/>
          <p:nvPr/>
        </p:nvSpPr>
        <p:spPr>
          <a:xfrm>
            <a:off x="9409735" y="2698516"/>
            <a:ext cx="1581008" cy="237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Resource Group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65486413-5FAA-ED27-7024-3D4D9DB0E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9595" y="2691884"/>
            <a:ext cx="251021" cy="251021"/>
          </a:xfrm>
          <a:prstGeom prst="rect">
            <a:avLst/>
          </a:prstGeom>
        </p:spPr>
      </p:pic>
      <p:sp>
        <p:nvSpPr>
          <p:cNvPr id="86" name="AutoShape 3">
            <a:extLst>
              <a:ext uri="{FF2B5EF4-FFF2-40B4-BE49-F238E27FC236}">
                <a16:creationId xmlns:a16="http://schemas.microsoft.com/office/drawing/2014/main" id="{C88D57C2-2453-1CB3-C6CA-B60BD9DF516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207494" y="3450859"/>
            <a:ext cx="806591" cy="80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7" name="Rectangle 5">
            <a:extLst>
              <a:ext uri="{FF2B5EF4-FFF2-40B4-BE49-F238E27FC236}">
                <a16:creationId xmlns:a16="http://schemas.microsoft.com/office/drawing/2014/main" id="{79628B73-2FF7-644C-BAB9-DD396975A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494" y="3450859"/>
            <a:ext cx="403296" cy="80659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6D6A57-5948-F3A8-7AB9-FD6994685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791" y="3854154"/>
            <a:ext cx="403297" cy="403296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9" name="Rectangle 7">
            <a:extLst>
              <a:ext uri="{FF2B5EF4-FFF2-40B4-BE49-F238E27FC236}">
                <a16:creationId xmlns:a16="http://schemas.microsoft.com/office/drawing/2014/main" id="{EBE87091-D0B2-8936-E7BC-F728A2BD8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18" y="3577535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0" name="Rectangle 8">
            <a:extLst>
              <a:ext uri="{FF2B5EF4-FFF2-40B4-BE49-F238E27FC236}">
                <a16:creationId xmlns:a16="http://schemas.microsoft.com/office/drawing/2014/main" id="{0C004513-D832-6462-A6CE-4495E80B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994" y="3577536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1" name="Rectangle 9">
            <a:extLst>
              <a:ext uri="{FF2B5EF4-FFF2-40B4-BE49-F238E27FC236}">
                <a16:creationId xmlns:a16="http://schemas.microsoft.com/office/drawing/2014/main" id="{53D5BDB9-878B-118B-89AA-F8223660D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18" y="3701627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2" name="Rectangle 10">
            <a:extLst>
              <a:ext uri="{FF2B5EF4-FFF2-40B4-BE49-F238E27FC236}">
                <a16:creationId xmlns:a16="http://schemas.microsoft.com/office/drawing/2014/main" id="{CD7B3628-0792-45D2-DDB9-EA7A0834F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994" y="3701627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3" name="Rectangle 11">
            <a:extLst>
              <a:ext uri="{FF2B5EF4-FFF2-40B4-BE49-F238E27FC236}">
                <a16:creationId xmlns:a16="http://schemas.microsoft.com/office/drawing/2014/main" id="{C286A1DA-B0E5-9A2A-5E07-02AD3D292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18" y="3828303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4" name="Rectangle 12">
            <a:extLst>
              <a:ext uri="{FF2B5EF4-FFF2-40B4-BE49-F238E27FC236}">
                <a16:creationId xmlns:a16="http://schemas.microsoft.com/office/drawing/2014/main" id="{1FD0FBDA-6EE2-90D8-E1BD-BA1FD4632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994" y="3828303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5" name="Rectangle 13">
            <a:extLst>
              <a:ext uri="{FF2B5EF4-FFF2-40B4-BE49-F238E27FC236}">
                <a16:creationId xmlns:a16="http://schemas.microsoft.com/office/drawing/2014/main" id="{B0AE7F0F-733F-C9D0-3673-414F3A981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18" y="3954979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6" name="Rectangle 14">
            <a:extLst>
              <a:ext uri="{FF2B5EF4-FFF2-40B4-BE49-F238E27FC236}">
                <a16:creationId xmlns:a16="http://schemas.microsoft.com/office/drawing/2014/main" id="{6B437EC0-A1EA-3FFC-202B-D500FDCE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994" y="3954979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7" name="Rectangle 15">
            <a:extLst>
              <a:ext uri="{FF2B5EF4-FFF2-40B4-BE49-F238E27FC236}">
                <a16:creationId xmlns:a16="http://schemas.microsoft.com/office/drawing/2014/main" id="{D51930B6-8B0D-3AE9-0D34-6F434EDC2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022" y="4156627"/>
            <a:ext cx="98239" cy="100824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8" name="Rectangle 16">
            <a:extLst>
              <a:ext uri="{FF2B5EF4-FFF2-40B4-BE49-F238E27FC236}">
                <a16:creationId xmlns:a16="http://schemas.microsoft.com/office/drawing/2014/main" id="{3E7E80F9-8124-DE87-2E36-1FAB00975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1613" y="3954979"/>
            <a:ext cx="74971" cy="74971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9" name="Rectangle 17">
            <a:extLst>
              <a:ext uri="{FF2B5EF4-FFF2-40B4-BE49-F238E27FC236}">
                <a16:creationId xmlns:a16="http://schemas.microsoft.com/office/drawing/2014/main" id="{654B9A67-58F9-F710-E81A-B413D5E2A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8290" y="3954979"/>
            <a:ext cx="74971" cy="74971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0" name="Rectangle 18">
            <a:extLst>
              <a:ext uri="{FF2B5EF4-FFF2-40B4-BE49-F238E27FC236}">
                <a16:creationId xmlns:a16="http://schemas.microsoft.com/office/drawing/2014/main" id="{7D1E0EBB-FF7C-EFAB-2E0A-A71808FA3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733" y="4156630"/>
            <a:ext cx="103409" cy="100824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1" name="Oval 19">
            <a:extLst>
              <a:ext uri="{FF2B5EF4-FFF2-40B4-BE49-F238E27FC236}">
                <a16:creationId xmlns:a16="http://schemas.microsoft.com/office/drawing/2014/main" id="{28F5DD1C-B7EB-BC3F-0C14-3682D2F3E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1613" y="3577543"/>
            <a:ext cx="152528" cy="149943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2" name="Freeform 20">
            <a:extLst>
              <a:ext uri="{FF2B5EF4-FFF2-40B4-BE49-F238E27FC236}">
                <a16:creationId xmlns:a16="http://schemas.microsoft.com/office/drawing/2014/main" id="{3026E694-79C5-AD4F-84CF-3E05B4AB27DB}"/>
              </a:ext>
            </a:extLst>
          </p:cNvPr>
          <p:cNvSpPr>
            <a:spLocks/>
          </p:cNvSpPr>
          <p:nvPr/>
        </p:nvSpPr>
        <p:spPr bwMode="auto">
          <a:xfrm>
            <a:off x="7685761" y="3670606"/>
            <a:ext cx="253352" cy="56875"/>
          </a:xfrm>
          <a:custGeom>
            <a:avLst/>
            <a:gdLst>
              <a:gd name="T0" fmla="*/ 379 w 427"/>
              <a:gd name="T1" fmla="*/ 96 h 96"/>
              <a:gd name="T2" fmla="*/ 48 w 427"/>
              <a:gd name="T3" fmla="*/ 96 h 96"/>
              <a:gd name="T4" fmla="*/ 0 w 427"/>
              <a:gd name="T5" fmla="*/ 48 h 96"/>
              <a:gd name="T6" fmla="*/ 0 w 427"/>
              <a:gd name="T7" fmla="*/ 48 h 96"/>
              <a:gd name="T8" fmla="*/ 48 w 427"/>
              <a:gd name="T9" fmla="*/ 0 h 96"/>
              <a:gd name="T10" fmla="*/ 379 w 427"/>
              <a:gd name="T11" fmla="*/ 0 h 96"/>
              <a:gd name="T12" fmla="*/ 427 w 427"/>
              <a:gd name="T13" fmla="*/ 48 h 96"/>
              <a:gd name="T14" fmla="*/ 427 w 427"/>
              <a:gd name="T15" fmla="*/ 48 h 96"/>
              <a:gd name="T16" fmla="*/ 379 w 427"/>
              <a:gd name="T17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7" h="96">
                <a:moveTo>
                  <a:pt x="379" y="96"/>
                </a:moveTo>
                <a:cubicBezTo>
                  <a:pt x="48" y="96"/>
                  <a:pt x="48" y="96"/>
                  <a:pt x="48" y="96"/>
                </a:cubicBezTo>
                <a:cubicBezTo>
                  <a:pt x="22" y="96"/>
                  <a:pt x="0" y="75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1"/>
                  <a:pt x="22" y="0"/>
                  <a:pt x="48" y="0"/>
                </a:cubicBezTo>
                <a:cubicBezTo>
                  <a:pt x="379" y="0"/>
                  <a:pt x="379" y="0"/>
                  <a:pt x="379" y="0"/>
                </a:cubicBezTo>
                <a:cubicBezTo>
                  <a:pt x="406" y="0"/>
                  <a:pt x="427" y="21"/>
                  <a:pt x="427" y="48"/>
                </a:cubicBezTo>
                <a:cubicBezTo>
                  <a:pt x="427" y="48"/>
                  <a:pt x="427" y="48"/>
                  <a:pt x="427" y="48"/>
                </a:cubicBezTo>
                <a:cubicBezTo>
                  <a:pt x="427" y="75"/>
                  <a:pt x="406" y="96"/>
                  <a:pt x="379" y="96"/>
                </a:cubicBezTo>
                <a:close/>
              </a:path>
            </a:pathLst>
          </a:cu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3" name="Oval 21">
            <a:extLst>
              <a:ext uri="{FF2B5EF4-FFF2-40B4-BE49-F238E27FC236}">
                <a16:creationId xmlns:a16="http://schemas.microsoft.com/office/drawing/2014/main" id="{532331AF-96DD-1480-2D59-1D1057C18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434" y="3603391"/>
            <a:ext cx="100824" cy="98239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27AE7CD-C8E9-2A3D-802D-F666AE004924}"/>
              </a:ext>
            </a:extLst>
          </p:cNvPr>
          <p:cNvSpPr/>
          <p:nvPr/>
        </p:nvSpPr>
        <p:spPr>
          <a:xfrm>
            <a:off x="7231800" y="4314254"/>
            <a:ext cx="757983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Datacenter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562AAE5-ABCC-C62A-3DF2-11D2DB626311}"/>
              </a:ext>
            </a:extLst>
          </p:cNvPr>
          <p:cNvSpPr/>
          <p:nvPr/>
        </p:nvSpPr>
        <p:spPr>
          <a:xfrm>
            <a:off x="8314321" y="3628858"/>
            <a:ext cx="757983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Site to Site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B106058-9A63-1D8E-9C85-EA178294FC15}"/>
              </a:ext>
            </a:extLst>
          </p:cNvPr>
          <p:cNvSpPr/>
          <p:nvPr/>
        </p:nvSpPr>
        <p:spPr>
          <a:xfrm>
            <a:off x="9361017" y="3264851"/>
            <a:ext cx="1698803" cy="1266327"/>
          </a:xfrm>
          <a:prstGeom prst="roundRect">
            <a:avLst>
              <a:gd name="adj" fmla="val 12808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C38F7DC-0464-08D8-EC60-8BBED4B2AC58}"/>
              </a:ext>
            </a:extLst>
          </p:cNvPr>
          <p:cNvSpPr/>
          <p:nvPr/>
        </p:nvSpPr>
        <p:spPr bwMode="auto">
          <a:xfrm>
            <a:off x="9555218" y="3512688"/>
            <a:ext cx="1310400" cy="856800"/>
          </a:xfrm>
          <a:prstGeom prst="roundRect">
            <a:avLst>
              <a:gd name="adj" fmla="val 12220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B04902DC-1309-6159-5755-1818641B97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4407" y="3553158"/>
            <a:ext cx="171450" cy="1714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3C5E9B8C-F940-7E9C-F000-ABF9681295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0418" y="3680201"/>
            <a:ext cx="360000" cy="3600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35BBB7A-011E-BA06-4E15-EF80AA5A00DE}"/>
              </a:ext>
            </a:extLst>
          </p:cNvPr>
          <p:cNvSpPr txBox="1"/>
          <p:nvPr/>
        </p:nvSpPr>
        <p:spPr>
          <a:xfrm>
            <a:off x="9626841" y="4042369"/>
            <a:ext cx="11671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VPN Gateway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9098BA-2CCB-5083-1946-26F856B844B0}"/>
              </a:ext>
            </a:extLst>
          </p:cNvPr>
          <p:cNvSpPr txBox="1"/>
          <p:nvPr/>
        </p:nvSpPr>
        <p:spPr>
          <a:xfrm>
            <a:off x="9707647" y="3291668"/>
            <a:ext cx="946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GatewaySubnet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E7EDDE16-FEB8-22B1-5EA0-97AC3953B4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5218" y="3309390"/>
            <a:ext cx="180000" cy="18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60D7840-580C-4890-A008-92C431F1E7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19418" y="3037186"/>
            <a:ext cx="216000" cy="21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1D8471-BF02-2960-C56F-507A9EE85BBA}"/>
              </a:ext>
            </a:extLst>
          </p:cNvPr>
          <p:cNvSpPr/>
          <p:nvPr/>
        </p:nvSpPr>
        <p:spPr>
          <a:xfrm>
            <a:off x="9826529" y="3036724"/>
            <a:ext cx="981762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Virtual Network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48731AD-1033-693B-73AE-6314F4EA9E21}"/>
              </a:ext>
            </a:extLst>
          </p:cNvPr>
          <p:cNvCxnSpPr>
            <a:cxnSpLocks/>
            <a:stCxn id="86" idx="3"/>
            <a:endCxn id="49" idx="1"/>
          </p:cNvCxnSpPr>
          <p:nvPr/>
        </p:nvCxnSpPr>
        <p:spPr>
          <a:xfrm>
            <a:off x="8014085" y="3854155"/>
            <a:ext cx="2016333" cy="604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446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690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Private Link (Not to be referenced)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8376E2-04D0-ECF7-8AD1-C5739555B947}"/>
              </a:ext>
            </a:extLst>
          </p:cNvPr>
          <p:cNvCxnSpPr>
            <a:cxnSpLocks/>
          </p:cNvCxnSpPr>
          <p:nvPr/>
        </p:nvCxnSpPr>
        <p:spPr>
          <a:xfrm>
            <a:off x="8242290" y="2433388"/>
            <a:ext cx="1440000" cy="0"/>
          </a:xfrm>
          <a:prstGeom prst="straightConnector1">
            <a:avLst/>
          </a:prstGeom>
          <a:ln w="12700">
            <a:solidFill>
              <a:srgbClr val="2BCBE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EBC0B8D-3BD7-B7C6-1FC6-7891920C8B97}"/>
              </a:ext>
            </a:extLst>
          </p:cNvPr>
          <p:cNvSpPr/>
          <p:nvPr/>
        </p:nvSpPr>
        <p:spPr>
          <a:xfrm>
            <a:off x="6096001" y="3724951"/>
            <a:ext cx="2873796" cy="1606059"/>
          </a:xfrm>
          <a:prstGeom prst="roundRect">
            <a:avLst>
              <a:gd name="adj" fmla="val 7819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C736778-E50D-BF85-9D64-F30BCD095F7B}"/>
              </a:ext>
            </a:extLst>
          </p:cNvPr>
          <p:cNvSpPr/>
          <p:nvPr/>
        </p:nvSpPr>
        <p:spPr>
          <a:xfrm>
            <a:off x="6277024" y="4066930"/>
            <a:ext cx="2511751" cy="1079869"/>
          </a:xfrm>
          <a:prstGeom prst="roundRect">
            <a:avLst>
              <a:gd name="adj" fmla="val 8234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9416C6-A8B2-E3FA-298C-567659F2BDBF}"/>
              </a:ext>
            </a:extLst>
          </p:cNvPr>
          <p:cNvGrpSpPr/>
          <p:nvPr/>
        </p:nvGrpSpPr>
        <p:grpSpPr>
          <a:xfrm>
            <a:off x="6773578" y="3762807"/>
            <a:ext cx="1518643" cy="276123"/>
            <a:chOff x="6752152" y="1501947"/>
            <a:chExt cx="1518643" cy="27612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44A397E-1244-07B3-3EA8-151DFA8D1814}"/>
                </a:ext>
              </a:extLst>
            </p:cNvPr>
            <p:cNvSpPr/>
            <p:nvPr/>
          </p:nvSpPr>
          <p:spPr>
            <a:xfrm>
              <a:off x="7018251" y="1531546"/>
              <a:ext cx="1252544" cy="216924"/>
            </a:xfrm>
            <a:prstGeom prst="rect">
              <a:avLst/>
            </a:prstGeom>
          </p:spPr>
          <p:txBody>
            <a:bodyPr wrap="square" lIns="91380" tIns="45691" rIns="91380" bIns="45691" rtlCol="0">
              <a:spAutoFit/>
            </a:bodyPr>
            <a:lstStyle/>
            <a:p>
              <a:pPr marL="0" marR="0" lvl="0" indent="0" algn="l" defTabSz="913714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Spoke Virtual Network</a:t>
              </a:r>
            </a:p>
          </p:txBody>
        </p:sp>
        <p:pic>
          <p:nvPicPr>
            <p:cNvPr id="106" name="Graphic 105">
              <a:extLst>
                <a:ext uri="{FF2B5EF4-FFF2-40B4-BE49-F238E27FC236}">
                  <a16:creationId xmlns:a16="http://schemas.microsoft.com/office/drawing/2014/main" id="{6D4DAF77-A6C9-6E7D-1271-638EC1331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52152" y="1501947"/>
              <a:ext cx="276123" cy="276123"/>
            </a:xfrm>
            <a:prstGeom prst="rect">
              <a:avLst/>
            </a:prstGeom>
          </p:spPr>
        </p:pic>
      </p:grp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B7743390-FFC0-A7CC-D093-1515E36FBC63}"/>
              </a:ext>
            </a:extLst>
          </p:cNvPr>
          <p:cNvSpPr/>
          <p:nvPr/>
        </p:nvSpPr>
        <p:spPr>
          <a:xfrm>
            <a:off x="9682290" y="3733099"/>
            <a:ext cx="1627567" cy="1606059"/>
          </a:xfrm>
          <a:prstGeom prst="roundRect">
            <a:avLst>
              <a:gd name="adj" fmla="val 10020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B72C8A5-A980-2FAC-73DF-8C6423629E36}"/>
              </a:ext>
            </a:extLst>
          </p:cNvPr>
          <p:cNvGrpSpPr/>
          <p:nvPr/>
        </p:nvGrpSpPr>
        <p:grpSpPr>
          <a:xfrm>
            <a:off x="6096000" y="3429000"/>
            <a:ext cx="1452197" cy="250782"/>
            <a:chOff x="6141582" y="1193611"/>
            <a:chExt cx="1452197" cy="250782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A81BCDA-044B-9C7C-75A3-59D885E14596}"/>
                </a:ext>
              </a:extLst>
            </p:cNvPr>
            <p:cNvSpPr/>
            <p:nvPr/>
          </p:nvSpPr>
          <p:spPr>
            <a:xfrm>
              <a:off x="6378957" y="1200124"/>
              <a:ext cx="121482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3714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Spoke Network RG</a:t>
              </a:r>
            </a:p>
          </p:txBody>
        </p:sp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4BF2041C-2D71-A7CF-E5C9-DB966B53A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41582" y="1193611"/>
              <a:ext cx="250782" cy="250782"/>
            </a:xfrm>
            <a:prstGeom prst="rect">
              <a:avLst/>
            </a:prstGeom>
          </p:spPr>
        </p:pic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1CF1C4B-BA76-4F35-3489-21DD15701BC3}"/>
              </a:ext>
            </a:extLst>
          </p:cNvPr>
          <p:cNvGrpSpPr/>
          <p:nvPr/>
        </p:nvGrpSpPr>
        <p:grpSpPr>
          <a:xfrm>
            <a:off x="9682290" y="3429000"/>
            <a:ext cx="1627566" cy="251021"/>
            <a:chOff x="6425648" y="2942195"/>
            <a:chExt cx="1627566" cy="251021"/>
          </a:xfrm>
        </p:grpSpPr>
        <p:pic>
          <p:nvPicPr>
            <p:cNvPr id="113" name="Graphic 112">
              <a:extLst>
                <a:ext uri="{FF2B5EF4-FFF2-40B4-BE49-F238E27FC236}">
                  <a16:creationId xmlns:a16="http://schemas.microsoft.com/office/drawing/2014/main" id="{3B703EEC-AD93-9F3B-48D8-E94A8840C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25648" y="2942195"/>
              <a:ext cx="251021" cy="251021"/>
            </a:xfrm>
            <a:prstGeom prst="rect">
              <a:avLst/>
            </a:prstGeom>
          </p:spPr>
        </p:pic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0EE9212-D02E-DFCC-A045-5626A3A65B32}"/>
                </a:ext>
              </a:extLst>
            </p:cNvPr>
            <p:cNvSpPr/>
            <p:nvPr/>
          </p:nvSpPr>
          <p:spPr>
            <a:xfrm>
              <a:off x="6661521" y="2952289"/>
              <a:ext cx="1391693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3714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PaaS Resource Group</a:t>
              </a:r>
            </a:p>
          </p:txBody>
        </p:sp>
      </p:grpSp>
      <p:pic>
        <p:nvPicPr>
          <p:cNvPr id="115" name="Graphic 114">
            <a:extLst>
              <a:ext uri="{FF2B5EF4-FFF2-40B4-BE49-F238E27FC236}">
                <a16:creationId xmlns:a16="http://schemas.microsoft.com/office/drawing/2014/main" id="{26E4CC12-2EAC-CA84-1BC8-802B624458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0455" y="4614590"/>
            <a:ext cx="367520" cy="36752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E492064A-EA9C-4594-9B12-55D808DED725}"/>
              </a:ext>
            </a:extLst>
          </p:cNvPr>
          <p:cNvSpPr txBox="1"/>
          <p:nvPr/>
        </p:nvSpPr>
        <p:spPr>
          <a:xfrm>
            <a:off x="9813756" y="4942458"/>
            <a:ext cx="673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Cosmos DB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17" name="Graphic 116">
            <a:extLst>
              <a:ext uri="{FF2B5EF4-FFF2-40B4-BE49-F238E27FC236}">
                <a16:creationId xmlns:a16="http://schemas.microsoft.com/office/drawing/2014/main" id="{6C9676AC-FD17-390E-3116-A29D0FA2F5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36909" y="4614590"/>
            <a:ext cx="367520" cy="367520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62A86563-41BE-1F60-A70F-8E880820E903}"/>
              </a:ext>
            </a:extLst>
          </p:cNvPr>
          <p:cNvSpPr txBox="1"/>
          <p:nvPr/>
        </p:nvSpPr>
        <p:spPr>
          <a:xfrm>
            <a:off x="10557292" y="4942458"/>
            <a:ext cx="526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Storage Account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19" name="Graphic 118">
            <a:extLst>
              <a:ext uri="{FF2B5EF4-FFF2-40B4-BE49-F238E27FC236}">
                <a16:creationId xmlns:a16="http://schemas.microsoft.com/office/drawing/2014/main" id="{10C9AC9A-1BC5-80F5-53A7-81C8B1B10A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50455" y="3867414"/>
            <a:ext cx="367520" cy="367520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18E35918-ABFA-E20C-3BA6-2C6DA87540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36909" y="3867414"/>
            <a:ext cx="367520" cy="367520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45D7953F-360B-1D17-B4B0-58F2FC923B4D}"/>
              </a:ext>
            </a:extLst>
          </p:cNvPr>
          <p:cNvSpPr txBox="1"/>
          <p:nvPr/>
        </p:nvSpPr>
        <p:spPr>
          <a:xfrm>
            <a:off x="9815620" y="4232599"/>
            <a:ext cx="6371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E8FE50A-C713-B12C-6D21-CEED749D60CA}"/>
              </a:ext>
            </a:extLst>
          </p:cNvPr>
          <p:cNvSpPr txBox="1"/>
          <p:nvPr/>
        </p:nvSpPr>
        <p:spPr>
          <a:xfrm>
            <a:off x="10518863" y="4232599"/>
            <a:ext cx="60361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Key Vault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2C7C1B73-7184-45AA-C04A-F81AD3D48D05}"/>
              </a:ext>
            </a:extLst>
          </p:cNvPr>
          <p:cNvSpPr/>
          <p:nvPr/>
        </p:nvSpPr>
        <p:spPr bwMode="auto">
          <a:xfrm>
            <a:off x="6468510" y="4357149"/>
            <a:ext cx="2128778" cy="64833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A1FC4E7-29C0-093F-C9B8-9933E1293948}"/>
              </a:ext>
            </a:extLst>
          </p:cNvPr>
          <p:cNvGrpSpPr/>
          <p:nvPr/>
        </p:nvGrpSpPr>
        <p:grpSpPr>
          <a:xfrm>
            <a:off x="6623691" y="4514258"/>
            <a:ext cx="1818416" cy="334112"/>
            <a:chOff x="6903700" y="2575915"/>
            <a:chExt cx="1818416" cy="334112"/>
          </a:xfrm>
        </p:grpSpPr>
        <p:pic>
          <p:nvPicPr>
            <p:cNvPr id="128" name="Graphic 127">
              <a:extLst>
                <a:ext uri="{FF2B5EF4-FFF2-40B4-BE49-F238E27FC236}">
                  <a16:creationId xmlns:a16="http://schemas.microsoft.com/office/drawing/2014/main" id="{AFF09D6C-7275-FA0F-C02F-DAA4F53E2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03700" y="2575918"/>
              <a:ext cx="334109" cy="334109"/>
            </a:xfrm>
            <a:prstGeom prst="rect">
              <a:avLst/>
            </a:prstGeom>
          </p:spPr>
        </p:pic>
        <p:pic>
          <p:nvPicPr>
            <p:cNvPr id="129" name="Graphic 128">
              <a:extLst>
                <a:ext uri="{FF2B5EF4-FFF2-40B4-BE49-F238E27FC236}">
                  <a16:creationId xmlns:a16="http://schemas.microsoft.com/office/drawing/2014/main" id="{520D682D-F964-498A-97D3-00E5028DA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398469" y="2575917"/>
              <a:ext cx="334109" cy="334109"/>
            </a:xfrm>
            <a:prstGeom prst="rect">
              <a:avLst/>
            </a:prstGeom>
          </p:spPr>
        </p:pic>
        <p:pic>
          <p:nvPicPr>
            <p:cNvPr id="130" name="Graphic 129">
              <a:extLst>
                <a:ext uri="{FF2B5EF4-FFF2-40B4-BE49-F238E27FC236}">
                  <a16:creationId xmlns:a16="http://schemas.microsoft.com/office/drawing/2014/main" id="{F7BC56F3-5916-5E8B-8AAE-FECBC9038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893238" y="2575916"/>
              <a:ext cx="334109" cy="334109"/>
            </a:xfrm>
            <a:prstGeom prst="rect">
              <a:avLst/>
            </a:prstGeom>
          </p:spPr>
        </p:pic>
        <p:pic>
          <p:nvPicPr>
            <p:cNvPr id="131" name="Graphic 130">
              <a:extLst>
                <a:ext uri="{FF2B5EF4-FFF2-40B4-BE49-F238E27FC236}">
                  <a16:creationId xmlns:a16="http://schemas.microsoft.com/office/drawing/2014/main" id="{ED9E85AE-18B3-B91D-581F-148D5097C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88007" y="2575915"/>
              <a:ext cx="334109" cy="334109"/>
            </a:xfrm>
            <a:prstGeom prst="rect">
              <a:avLst/>
            </a:prstGeom>
          </p:spPr>
        </p:pic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98FBDAA-05A3-6428-7EFD-2B4ACC252398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8597288" y="4681314"/>
            <a:ext cx="1144719" cy="0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FAB99A1-87BF-83AA-ECA1-996D13A8D3A4}"/>
              </a:ext>
            </a:extLst>
          </p:cNvPr>
          <p:cNvSpPr/>
          <p:nvPr/>
        </p:nvSpPr>
        <p:spPr>
          <a:xfrm>
            <a:off x="8841973" y="4441806"/>
            <a:ext cx="893515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lvl="0" algn="ctr" defTabSz="913714">
              <a:lnSpc>
                <a:spcPct val="90000"/>
              </a:lnSpc>
              <a:spcAft>
                <a:spcPts val="588"/>
              </a:spcAft>
              <a:defRPr/>
            </a:pPr>
            <a:r>
              <a:rPr lang="en-US" sz="9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Private Link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05E487-59E6-1CF5-F29F-FD52B6D82721}"/>
              </a:ext>
            </a:extLst>
          </p:cNvPr>
          <p:cNvGrpSpPr/>
          <p:nvPr/>
        </p:nvGrpSpPr>
        <p:grpSpPr>
          <a:xfrm>
            <a:off x="6468510" y="4135691"/>
            <a:ext cx="1542571" cy="215444"/>
            <a:chOff x="6918802" y="2233681"/>
            <a:chExt cx="1542571" cy="215444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0CEA7DF-CE5F-528A-86C7-4BCE7BC6F5D1}"/>
                </a:ext>
              </a:extLst>
            </p:cNvPr>
            <p:cNvSpPr txBox="1"/>
            <p:nvPr/>
          </p:nvSpPr>
          <p:spPr>
            <a:xfrm>
              <a:off x="7053637" y="2233681"/>
              <a:ext cx="140773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Private Endpoint Subnet</a:t>
              </a:r>
            </a:p>
          </p:txBody>
        </p:sp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1DF02E14-9AC9-0261-035B-CD32228EE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918802" y="2252544"/>
              <a:ext cx="188595" cy="1885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7103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Virtual Network Peering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148B9-20DF-A894-4F23-FAA002726240}"/>
              </a:ext>
            </a:extLst>
          </p:cNvPr>
          <p:cNvSpPr txBox="1"/>
          <p:nvPr/>
        </p:nvSpPr>
        <p:spPr>
          <a:xfrm>
            <a:off x="134470" y="991332"/>
            <a:ext cx="9726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Virtual Network (VNet) Peering text should be center-aligned with the VNet Peering line. If sufficient space is not available, this alignment is optional</a:t>
            </a:r>
            <a:endParaRPr lang="en-IN" sz="14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3E58BD-46F9-AB99-1759-6B6E9094E5A5}"/>
              </a:ext>
            </a:extLst>
          </p:cNvPr>
          <p:cNvCxnSpPr>
            <a:cxnSpLocks/>
          </p:cNvCxnSpPr>
          <p:nvPr/>
        </p:nvCxnSpPr>
        <p:spPr>
          <a:xfrm>
            <a:off x="9430226" y="1931198"/>
            <a:ext cx="1440000" cy="0"/>
          </a:xfrm>
          <a:prstGeom prst="straightConnector1">
            <a:avLst/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07F447-6C67-5B7F-A4CC-A221989C0321}"/>
              </a:ext>
            </a:extLst>
          </p:cNvPr>
          <p:cNvSpPr/>
          <p:nvPr/>
        </p:nvSpPr>
        <p:spPr>
          <a:xfrm>
            <a:off x="8408375" y="3066148"/>
            <a:ext cx="2970000" cy="1641600"/>
          </a:xfrm>
          <a:prstGeom prst="roundRect">
            <a:avLst>
              <a:gd name="adj" fmla="val 13599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4975EB-5E45-56B3-0E62-AB2AEECD73B4}"/>
              </a:ext>
            </a:extLst>
          </p:cNvPr>
          <p:cNvSpPr/>
          <p:nvPr/>
        </p:nvSpPr>
        <p:spPr>
          <a:xfrm>
            <a:off x="8589397" y="3367617"/>
            <a:ext cx="2610000" cy="1130400"/>
          </a:xfrm>
          <a:prstGeom prst="roundRect">
            <a:avLst>
              <a:gd name="adj" fmla="val 14527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CFA6DD-86D5-27A8-79FA-27EF3BA4483F}"/>
              </a:ext>
            </a:extLst>
          </p:cNvPr>
          <p:cNvSpPr/>
          <p:nvPr/>
        </p:nvSpPr>
        <p:spPr>
          <a:xfrm>
            <a:off x="8645749" y="2809247"/>
            <a:ext cx="121482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Spoke Network RG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64683E4-B9EB-592F-9FAE-0BD296D56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8374" y="2798663"/>
            <a:ext cx="252000" cy="252000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A28CE61-4954-E831-C3BD-06D4A6E8831A}"/>
              </a:ext>
            </a:extLst>
          </p:cNvPr>
          <p:cNvSpPr/>
          <p:nvPr/>
        </p:nvSpPr>
        <p:spPr>
          <a:xfrm>
            <a:off x="4698491" y="3066148"/>
            <a:ext cx="2969110" cy="1642672"/>
          </a:xfrm>
          <a:prstGeom prst="roundRect">
            <a:avLst>
              <a:gd name="adj" fmla="val 12435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26A27AE-FDA3-2756-E2F0-2641A0A9AD67}"/>
              </a:ext>
            </a:extLst>
          </p:cNvPr>
          <p:cNvSpPr/>
          <p:nvPr/>
        </p:nvSpPr>
        <p:spPr>
          <a:xfrm>
            <a:off x="4879003" y="3367617"/>
            <a:ext cx="2608086" cy="1128634"/>
          </a:xfrm>
          <a:prstGeom prst="roundRect">
            <a:avLst>
              <a:gd name="adj" fmla="val 13694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A382B5-186C-F599-65E1-0289B2D961AA}"/>
              </a:ext>
            </a:extLst>
          </p:cNvPr>
          <p:cNvSpPr/>
          <p:nvPr/>
        </p:nvSpPr>
        <p:spPr>
          <a:xfrm>
            <a:off x="4938631" y="2805785"/>
            <a:ext cx="1581008" cy="237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Resource Group</a:t>
            </a: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045168AD-10CC-6F63-E1FE-AA7E680AB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8490" y="2798663"/>
            <a:ext cx="252000" cy="252000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A224C5A-7F2B-64F1-CCB7-3888EB0C6D75}"/>
              </a:ext>
            </a:extLst>
          </p:cNvPr>
          <p:cNvCxnSpPr>
            <a:cxnSpLocks/>
            <a:stCxn id="54" idx="3"/>
            <a:endCxn id="3" idx="1"/>
          </p:cNvCxnSpPr>
          <p:nvPr/>
        </p:nvCxnSpPr>
        <p:spPr>
          <a:xfrm>
            <a:off x="7487089" y="3931934"/>
            <a:ext cx="1102308" cy="883"/>
          </a:xfrm>
          <a:prstGeom prst="straightConnector1">
            <a:avLst/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4087F7E-A8B8-CDEB-DD12-A6559DF80071}"/>
              </a:ext>
            </a:extLst>
          </p:cNvPr>
          <p:cNvSpPr txBox="1"/>
          <p:nvPr/>
        </p:nvSpPr>
        <p:spPr>
          <a:xfrm>
            <a:off x="7697514" y="3562603"/>
            <a:ext cx="681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err="1">
                <a:latin typeface="Segoe UI Light" panose="020B0502040204020203" pitchFamily="34" charset="0"/>
                <a:cs typeface="Segoe UI Light" panose="020B0502040204020203" pitchFamily="34" charset="0"/>
              </a:rPr>
              <a:t>VNet</a:t>
            </a:r>
            <a:r>
              <a:rPr lang="en-IN" sz="900">
                <a:latin typeface="Segoe UI Light" panose="020B0502040204020203" pitchFamily="34" charset="0"/>
                <a:cs typeface="Segoe UI Light" panose="020B0502040204020203" pitchFamily="34" charset="0"/>
              </a:rPr>
              <a:t> Peering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7AF612-41CF-9816-057C-48187BC5AA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2363" y="3142188"/>
            <a:ext cx="216000" cy="216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B87096-4C5F-8039-CC38-BB1B779027D5}"/>
              </a:ext>
            </a:extLst>
          </p:cNvPr>
          <p:cNvSpPr/>
          <p:nvPr/>
        </p:nvSpPr>
        <p:spPr>
          <a:xfrm>
            <a:off x="5669473" y="3142188"/>
            <a:ext cx="1234257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Virtual Network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9E9E98-B972-446F-CE12-39CC32B6C4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0525" y="3142188"/>
            <a:ext cx="216000" cy="216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E9113CD-73F8-6687-A49A-2DF1641C1AC4}"/>
              </a:ext>
            </a:extLst>
          </p:cNvPr>
          <p:cNvSpPr/>
          <p:nvPr/>
        </p:nvSpPr>
        <p:spPr>
          <a:xfrm>
            <a:off x="9367635" y="3142188"/>
            <a:ext cx="1260634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9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Spoke</a:t>
            </a:r>
            <a:r>
              <a:rPr kumimoji="0" lang="en-US" sz="9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Virtual Network</a:t>
            </a:r>
          </a:p>
        </p:txBody>
      </p:sp>
    </p:spTree>
    <p:extLst>
      <p:ext uri="{BB962C8B-B14F-4D97-AF65-F5344CB8AC3E}">
        <p14:creationId xmlns:p14="http://schemas.microsoft.com/office/powerpoint/2010/main" val="77983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97258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Shared Virtual Network (VNet and Compute present in different location)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3326FD6-E8DD-66F8-F1A4-06FC47A93F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0533" y="1336235"/>
            <a:ext cx="1440000" cy="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>
                <a:lumMod val="60000"/>
                <a:lumOff val="4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AFB6059-4707-32BA-2F5E-132CBCD84DFC}"/>
              </a:ext>
            </a:extLst>
          </p:cNvPr>
          <p:cNvSpPr/>
          <p:nvPr/>
        </p:nvSpPr>
        <p:spPr>
          <a:xfrm>
            <a:off x="8159730" y="4590328"/>
            <a:ext cx="2133898" cy="1189421"/>
          </a:xfrm>
          <a:prstGeom prst="roundRect">
            <a:avLst>
              <a:gd name="adj" fmla="val 13069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333B14-0E73-03AC-02D1-40F76C18BEB4}"/>
              </a:ext>
            </a:extLst>
          </p:cNvPr>
          <p:cNvSpPr/>
          <p:nvPr/>
        </p:nvSpPr>
        <p:spPr>
          <a:xfrm>
            <a:off x="8401336" y="4334548"/>
            <a:ext cx="1319223" cy="234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Shared RG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93002D3-7AD3-E7AD-3CFA-5E1E08291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4499" y="4324454"/>
            <a:ext cx="251021" cy="251022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24D01DC-939C-5A83-163F-2E360B085CBC}"/>
              </a:ext>
            </a:extLst>
          </p:cNvPr>
          <p:cNvSpPr/>
          <p:nvPr/>
        </p:nvSpPr>
        <p:spPr>
          <a:xfrm>
            <a:off x="8404569" y="4756638"/>
            <a:ext cx="1681200" cy="856800"/>
          </a:xfrm>
          <a:prstGeom prst="roundRect">
            <a:avLst>
              <a:gd name="adj" fmla="val 622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CF6B445-B855-89BC-0281-D7A050C6B835}"/>
              </a:ext>
            </a:extLst>
          </p:cNvPr>
          <p:cNvSpPr/>
          <p:nvPr/>
        </p:nvSpPr>
        <p:spPr>
          <a:xfrm>
            <a:off x="8550573" y="5321708"/>
            <a:ext cx="5967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Jumphost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178E7C68-00A9-F000-70A9-2E464CF0D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0522" y="4958041"/>
            <a:ext cx="316847" cy="316847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0CD94F03-8C8C-5E09-112B-1ECC221C673F}"/>
              </a:ext>
            </a:extLst>
          </p:cNvPr>
          <p:cNvSpPr/>
          <p:nvPr/>
        </p:nvSpPr>
        <p:spPr>
          <a:xfrm>
            <a:off x="9320533" y="5321708"/>
            <a:ext cx="5967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Jumphost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B90AB660-D7D2-CA9B-52A2-062E9F4FF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0482" y="4958041"/>
            <a:ext cx="316847" cy="316847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ED80F72-9BA7-D1F0-AE54-482968D703BE}"/>
              </a:ext>
            </a:extLst>
          </p:cNvPr>
          <p:cNvSpPr/>
          <p:nvPr/>
        </p:nvSpPr>
        <p:spPr>
          <a:xfrm>
            <a:off x="8272107" y="1990772"/>
            <a:ext cx="131922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Resource Group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4FD93CFC-938F-B03D-5873-FF96FA600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3997" y="1980678"/>
            <a:ext cx="251021" cy="251021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A01CA46-13AB-0D80-9809-D93C7A43C78F}"/>
              </a:ext>
            </a:extLst>
          </p:cNvPr>
          <p:cNvSpPr/>
          <p:nvPr/>
        </p:nvSpPr>
        <p:spPr>
          <a:xfrm>
            <a:off x="8023996" y="2255675"/>
            <a:ext cx="2400135" cy="1726104"/>
          </a:xfrm>
          <a:prstGeom prst="roundRect">
            <a:avLst>
              <a:gd name="adj" fmla="val 11521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A486B5-2D80-727E-926C-C2574D5F5093}"/>
              </a:ext>
            </a:extLst>
          </p:cNvPr>
          <p:cNvSpPr/>
          <p:nvPr/>
        </p:nvSpPr>
        <p:spPr>
          <a:xfrm>
            <a:off x="8230135" y="2563512"/>
            <a:ext cx="1987856" cy="1246731"/>
          </a:xfrm>
          <a:prstGeom prst="roundRect">
            <a:avLst>
              <a:gd name="adj" fmla="val 108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3082A84-5DFE-E018-AE38-EEB043911EEB}"/>
              </a:ext>
            </a:extLst>
          </p:cNvPr>
          <p:cNvSpPr/>
          <p:nvPr/>
        </p:nvSpPr>
        <p:spPr bwMode="auto">
          <a:xfrm>
            <a:off x="8382858" y="2844579"/>
            <a:ext cx="1682410" cy="8568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76BCDD-CBC3-9469-CE5E-38C7510F4A72}"/>
              </a:ext>
            </a:extLst>
          </p:cNvPr>
          <p:cNvSpPr txBox="1"/>
          <p:nvPr/>
        </p:nvSpPr>
        <p:spPr>
          <a:xfrm>
            <a:off x="8554339" y="2621957"/>
            <a:ext cx="946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Compute 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DD61D982-208E-6576-1F7D-87D90CB2C5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858" y="2635382"/>
            <a:ext cx="188595" cy="188595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767A33DB-EFFF-7631-27D2-D8A32C23E11A}"/>
              </a:ext>
            </a:extLst>
          </p:cNvPr>
          <p:cNvSpPr/>
          <p:nvPr/>
        </p:nvSpPr>
        <p:spPr>
          <a:xfrm>
            <a:off x="8550573" y="3356055"/>
            <a:ext cx="5967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Jumphost</a:t>
            </a: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CADC4EE6-2D57-6B39-4790-84B6E785E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0522" y="3017788"/>
            <a:ext cx="316847" cy="316847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64BFD306-F40C-31DF-B645-91FEFE08EA9E}"/>
              </a:ext>
            </a:extLst>
          </p:cNvPr>
          <p:cNvSpPr/>
          <p:nvPr/>
        </p:nvSpPr>
        <p:spPr>
          <a:xfrm>
            <a:off x="9320533" y="3356055"/>
            <a:ext cx="5967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Jumphost</a:t>
            </a: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264AF2CE-205E-352D-E095-7B433F9D07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0482" y="3017788"/>
            <a:ext cx="316847" cy="31684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A01DE59-4535-E7A3-ECD7-7239F46955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9627" y="2323090"/>
            <a:ext cx="216000" cy="216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7D4360-4A6A-0377-633F-371AB911BCA4}"/>
              </a:ext>
            </a:extLst>
          </p:cNvPr>
          <p:cNvSpPr/>
          <p:nvPr/>
        </p:nvSpPr>
        <p:spPr>
          <a:xfrm>
            <a:off x="8836738" y="2322628"/>
            <a:ext cx="981762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Virtual Network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388A0882-A534-D221-FC3A-6F3255EFB1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79543" y="3187254"/>
            <a:ext cx="171450" cy="171450"/>
          </a:xfrm>
          <a:prstGeom prst="rect">
            <a:avLst/>
          </a:prstGeom>
        </p:spPr>
      </p:pic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56E0605-B3B5-7414-C0EF-0BF061071D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8725863" y="4223071"/>
            <a:ext cx="1048081" cy="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6">
                <a:lumMod val="60000"/>
                <a:lumOff val="4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A3B837A3-105B-2133-6E9E-602AD57870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20765" y="2879547"/>
            <a:ext cx="171450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78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7971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Web Request from any source to Azure 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2010946-110F-AFAC-B3BF-273C6ABC829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311689" y="1360544"/>
            <a:ext cx="1440000" cy="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C21A79-C91E-08F8-6052-D010DDE5CB73}"/>
              </a:ext>
            </a:extLst>
          </p:cNvPr>
          <p:cNvSpPr/>
          <p:nvPr/>
        </p:nvSpPr>
        <p:spPr>
          <a:xfrm>
            <a:off x="9028554" y="2595621"/>
            <a:ext cx="2142874" cy="1934243"/>
          </a:xfrm>
          <a:prstGeom prst="roundRect">
            <a:avLst>
              <a:gd name="adj" fmla="val 10856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1E023F-E7DC-5DE0-DD11-7A51E620C4D5}"/>
              </a:ext>
            </a:extLst>
          </p:cNvPr>
          <p:cNvSpPr/>
          <p:nvPr/>
        </p:nvSpPr>
        <p:spPr>
          <a:xfrm>
            <a:off x="9268693" y="2334768"/>
            <a:ext cx="1581008" cy="237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Resource Group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74788B2-EE6C-B1AD-C024-CF0338891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8553" y="2328136"/>
            <a:ext cx="251021" cy="25102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1539BA-9FB7-999B-660A-D5AA3D929296}"/>
              </a:ext>
            </a:extLst>
          </p:cNvPr>
          <p:cNvSpPr/>
          <p:nvPr/>
        </p:nvSpPr>
        <p:spPr>
          <a:xfrm>
            <a:off x="9229318" y="2913015"/>
            <a:ext cx="1741346" cy="1393331"/>
          </a:xfrm>
          <a:prstGeom prst="roundRect">
            <a:avLst>
              <a:gd name="adj" fmla="val 10669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F12574-8C66-179D-9085-B6842057310C}"/>
              </a:ext>
            </a:extLst>
          </p:cNvPr>
          <p:cNvSpPr/>
          <p:nvPr/>
        </p:nvSpPr>
        <p:spPr bwMode="auto">
          <a:xfrm>
            <a:off x="9446696" y="3287644"/>
            <a:ext cx="1310400" cy="8568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169D712C-1997-6717-66FD-8028F8CA88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9823" y="3325651"/>
            <a:ext cx="171450" cy="1714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87E3C8F-95F2-BA9A-9C92-7680E36E6298}"/>
              </a:ext>
            </a:extLst>
          </p:cNvPr>
          <p:cNvSpPr/>
          <p:nvPr/>
        </p:nvSpPr>
        <p:spPr>
          <a:xfrm>
            <a:off x="9663576" y="3832772"/>
            <a:ext cx="876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Application Gateway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B25D2CA1-AE10-0125-6DBA-BEA05D6519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8136" y="3451759"/>
            <a:ext cx="367520" cy="36752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F798CAB-83F0-F227-5E45-DDE2847E909F}"/>
              </a:ext>
            </a:extLst>
          </p:cNvPr>
          <p:cNvSpPr txBox="1"/>
          <p:nvPr/>
        </p:nvSpPr>
        <p:spPr>
          <a:xfrm>
            <a:off x="9618177" y="2963338"/>
            <a:ext cx="118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Application Gateway 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47BB5BEE-FC6E-C418-EF00-AF65FEF351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46696" y="3042615"/>
            <a:ext cx="180000" cy="1800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3287DC22-27EA-D9FD-5B64-AB7D6B6DB6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70981" y="3630319"/>
            <a:ext cx="171450" cy="17145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2E6BEB36-3A93-D34D-FCF6-BDEFEAEDA7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04031" y="3451759"/>
            <a:ext cx="267141" cy="267141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9FA48203-CCF8-2B8D-34F8-3686F86A0B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82188" y="3477738"/>
            <a:ext cx="217132" cy="215182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EC750530-EA27-0302-D1F5-A35777A297F7}"/>
              </a:ext>
            </a:extLst>
          </p:cNvPr>
          <p:cNvSpPr/>
          <p:nvPr/>
        </p:nvSpPr>
        <p:spPr>
          <a:xfrm>
            <a:off x="6891528" y="3726364"/>
            <a:ext cx="583089" cy="341573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User Request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66B4084-2B82-7810-76CB-F63123578F90}"/>
              </a:ext>
            </a:extLst>
          </p:cNvPr>
          <p:cNvSpPr/>
          <p:nvPr/>
        </p:nvSpPr>
        <p:spPr>
          <a:xfrm>
            <a:off x="7946057" y="3726364"/>
            <a:ext cx="583089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Browser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E1C2F6F-AE8E-B45D-AF0A-2B900DFFCC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71173" y="3632858"/>
            <a:ext cx="1440000" cy="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E3C2994-4399-DF54-5BCF-32A17284B6C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99321" y="3632856"/>
            <a:ext cx="804567" cy="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>
            <a:extLst>
              <a:ext uri="{FF2B5EF4-FFF2-40B4-BE49-F238E27FC236}">
                <a16:creationId xmlns:a16="http://schemas.microsoft.com/office/drawing/2014/main" id="{CD409452-8D59-3ED3-A816-43ED230D9B6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57552" y="3614407"/>
            <a:ext cx="171450" cy="1714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7F0C55C-B986-7242-CD73-1E41D23524F8}"/>
              </a:ext>
            </a:extLst>
          </p:cNvPr>
          <p:cNvGrpSpPr/>
          <p:nvPr/>
        </p:nvGrpSpPr>
        <p:grpSpPr>
          <a:xfrm>
            <a:off x="9379308" y="2687550"/>
            <a:ext cx="1441367" cy="216924"/>
            <a:chOff x="8648635" y="2929893"/>
            <a:chExt cx="1441367" cy="216924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D1EFF34-F034-49AA-3964-A3526B053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648635" y="2929893"/>
              <a:ext cx="216000" cy="216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D73DA98-85ED-F712-7E17-A29A2070876E}"/>
                </a:ext>
              </a:extLst>
            </p:cNvPr>
            <p:cNvSpPr/>
            <p:nvPr/>
          </p:nvSpPr>
          <p:spPr>
            <a:xfrm>
              <a:off x="8855745" y="2929893"/>
              <a:ext cx="1234257" cy="216924"/>
            </a:xfrm>
            <a:prstGeom prst="rect">
              <a:avLst/>
            </a:prstGeom>
          </p:spPr>
          <p:txBody>
            <a:bodyPr wrap="square" lIns="91380" tIns="45691" rIns="91380" bIns="45691" rtlCol="0">
              <a:spAutoFit/>
            </a:bodyPr>
            <a:lstStyle/>
            <a:p>
              <a:pPr marL="0" marR="0" lvl="0" indent="0" algn="l" defTabSz="91373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Hub Virtual Network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6DF9701-9A61-4ADD-A66B-7675D77965DF}"/>
              </a:ext>
            </a:extLst>
          </p:cNvPr>
          <p:cNvSpPr txBox="1"/>
          <p:nvPr/>
        </p:nvSpPr>
        <p:spPr>
          <a:xfrm>
            <a:off x="9184958" y="3781279"/>
            <a:ext cx="516299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700" kern="0">
                <a:latin typeface="Segoe UI Light"/>
                <a:cs typeface="Segoe UI Light"/>
              </a:rPr>
              <a:t>WAF</a:t>
            </a:r>
            <a:endParaRPr lang="en-US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449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6028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Virtual Network Integration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D211B1-9451-99C4-5285-069755D811C9}"/>
              </a:ext>
            </a:extLst>
          </p:cNvPr>
          <p:cNvCxnSpPr>
            <a:cxnSpLocks/>
          </p:cNvCxnSpPr>
          <p:nvPr/>
        </p:nvCxnSpPr>
        <p:spPr>
          <a:xfrm flipH="1">
            <a:off x="9724962" y="1525552"/>
            <a:ext cx="1306131" cy="0"/>
          </a:xfrm>
          <a:prstGeom prst="straightConnector1">
            <a:avLst/>
          </a:prstGeom>
          <a:ln w="12700">
            <a:solidFill>
              <a:srgbClr val="2BCBED"/>
            </a:solidFill>
            <a:tailEnd type="diamon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FD5CF5A-7BE5-CD20-70B1-B03AEB2D4572}"/>
              </a:ext>
            </a:extLst>
          </p:cNvPr>
          <p:cNvSpPr/>
          <p:nvPr/>
        </p:nvSpPr>
        <p:spPr>
          <a:xfrm>
            <a:off x="6162676" y="2859261"/>
            <a:ext cx="2495059" cy="2096787"/>
          </a:xfrm>
          <a:prstGeom prst="roundRect">
            <a:avLst>
              <a:gd name="adj" fmla="val 7819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3D537B-F157-67B4-768F-115B38A1477C}"/>
              </a:ext>
            </a:extLst>
          </p:cNvPr>
          <p:cNvSpPr/>
          <p:nvPr/>
        </p:nvSpPr>
        <p:spPr>
          <a:xfrm>
            <a:off x="6365092" y="3201240"/>
            <a:ext cx="2090227" cy="1530781"/>
          </a:xfrm>
          <a:prstGeom prst="roundRect">
            <a:avLst>
              <a:gd name="adj" fmla="val 8234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6604B-EA75-C20E-11F8-3D15944D9BD8}"/>
              </a:ext>
            </a:extLst>
          </p:cNvPr>
          <p:cNvSpPr/>
          <p:nvPr/>
        </p:nvSpPr>
        <p:spPr>
          <a:xfrm>
            <a:off x="6786839" y="2926716"/>
            <a:ext cx="1512831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Spoke Virtual Network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6ACF82D-7D1D-1853-5A69-39DF55E9F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0741" y="2897117"/>
            <a:ext cx="276123" cy="2761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2C83ED4-9E01-748F-6BB5-B2C5CD6F65D0}"/>
              </a:ext>
            </a:extLst>
          </p:cNvPr>
          <p:cNvSpPr/>
          <p:nvPr/>
        </p:nvSpPr>
        <p:spPr>
          <a:xfrm>
            <a:off x="6400050" y="2569823"/>
            <a:ext cx="121482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Spoke Network RG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AC2E978-6A60-6949-3684-375B0705C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2675" y="2563310"/>
            <a:ext cx="250782" cy="25078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4F13C4C-3CA2-F836-2B83-93AB2EBDA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9237" y="2563310"/>
            <a:ext cx="251021" cy="2510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164318A-F77E-B33A-CDA3-1630BA73928A}"/>
              </a:ext>
            </a:extLst>
          </p:cNvPr>
          <p:cNvSpPr/>
          <p:nvPr/>
        </p:nvSpPr>
        <p:spPr>
          <a:xfrm>
            <a:off x="9875110" y="2573404"/>
            <a:ext cx="13916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PaaS Resource Group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C85B36-27F1-5CAC-B5DE-720C3918BF99}"/>
              </a:ext>
            </a:extLst>
          </p:cNvPr>
          <p:cNvSpPr/>
          <p:nvPr/>
        </p:nvSpPr>
        <p:spPr>
          <a:xfrm>
            <a:off x="9639238" y="2867409"/>
            <a:ext cx="1496758" cy="978151"/>
          </a:xfrm>
          <a:prstGeom prst="roundRect">
            <a:avLst>
              <a:gd name="adj" fmla="val 10020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DC66A100-B900-A480-1D4D-D8979BEE0E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5268" y="3033096"/>
            <a:ext cx="444699" cy="44469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A09C687-FA17-9E24-3486-6E13DC8435F7}"/>
              </a:ext>
            </a:extLst>
          </p:cNvPr>
          <p:cNvSpPr txBox="1"/>
          <p:nvPr/>
        </p:nvSpPr>
        <p:spPr>
          <a:xfrm>
            <a:off x="10069022" y="3479817"/>
            <a:ext cx="6371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43C5F5A-D93C-BEF7-C4E9-B17C0EEFC8EE}"/>
              </a:ext>
            </a:extLst>
          </p:cNvPr>
          <p:cNvSpPr/>
          <p:nvPr/>
        </p:nvSpPr>
        <p:spPr bwMode="auto">
          <a:xfrm>
            <a:off x="6551687" y="3524766"/>
            <a:ext cx="1717037" cy="948701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50A8D6-FCFD-7949-6FE4-A9388FFE3143}"/>
              </a:ext>
            </a:extLst>
          </p:cNvPr>
          <p:cNvSpPr txBox="1"/>
          <p:nvPr/>
        </p:nvSpPr>
        <p:spPr>
          <a:xfrm>
            <a:off x="6715385" y="3303309"/>
            <a:ext cx="14077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VNet Integration</a:t>
            </a:r>
            <a:r>
              <a:rPr lang="en-US" sz="8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Subnet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E5314C56-4B9E-CEFA-BF05-65653D0AB5DE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86956" y="3255446"/>
            <a:ext cx="2778313" cy="742514"/>
          </a:xfrm>
          <a:prstGeom prst="bentConnector3">
            <a:avLst>
              <a:gd name="adj1" fmla="val 36104"/>
            </a:avLst>
          </a:prstGeom>
          <a:ln w="9525">
            <a:solidFill>
              <a:srgbClr val="2BCBED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21BB817-4EC6-0DA8-E559-C8EA00EA6A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82999" y="3912236"/>
            <a:ext cx="171450" cy="1714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5DF148-E5EC-AC54-7963-58A7E3CE3E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1687" y="3322182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5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74149-5ECE-E3CC-F33E-333FBC82BCA2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Virtual Network Link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00AE8-34B0-722C-1436-F270FB78F29D}"/>
              </a:ext>
            </a:extLst>
          </p:cNvPr>
          <p:cNvSpPr txBox="1"/>
          <p:nvPr/>
        </p:nvSpPr>
        <p:spPr>
          <a:xfrm>
            <a:off x="134470" y="912176"/>
            <a:ext cx="8854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Segoe UI Light" panose="020B0502040204020203" pitchFamily="34" charset="0"/>
                <a:cs typeface="Segoe UI Light" panose="020B0502040204020203" pitchFamily="34" charset="0"/>
              </a:rPr>
              <a:t>The end arrow of the Virtual Network Link should be front &amp; center aligned to the Virtual Network (VNet) boundary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8EB64F-C514-3119-5ABC-0B5977491357}"/>
              </a:ext>
            </a:extLst>
          </p:cNvPr>
          <p:cNvCxnSpPr>
            <a:cxnSpLocks/>
          </p:cNvCxnSpPr>
          <p:nvPr/>
        </p:nvCxnSpPr>
        <p:spPr>
          <a:xfrm>
            <a:off x="9381655" y="1574688"/>
            <a:ext cx="1440000" cy="0"/>
          </a:xfrm>
          <a:prstGeom prst="straightConnector1">
            <a:avLst/>
          </a:prstGeom>
          <a:ln w="12700">
            <a:solidFill>
              <a:srgbClr val="5B9BD5"/>
            </a:solidFill>
            <a:tailEnd type="oval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4ED5E7-80C9-5414-1C36-981C29D7DB15}"/>
              </a:ext>
            </a:extLst>
          </p:cNvPr>
          <p:cNvSpPr/>
          <p:nvPr/>
        </p:nvSpPr>
        <p:spPr>
          <a:xfrm>
            <a:off x="7863368" y="2590950"/>
            <a:ext cx="3478217" cy="2381466"/>
          </a:xfrm>
          <a:prstGeom prst="roundRect">
            <a:avLst>
              <a:gd name="adj" fmla="val 7261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B59E1E-6E92-8FDC-9C7C-0E9217AF18CD}"/>
              </a:ext>
            </a:extLst>
          </p:cNvPr>
          <p:cNvSpPr/>
          <p:nvPr/>
        </p:nvSpPr>
        <p:spPr>
          <a:xfrm>
            <a:off x="8043369" y="2935776"/>
            <a:ext cx="3118214" cy="1152215"/>
          </a:xfrm>
          <a:prstGeom prst="roundRect">
            <a:avLst>
              <a:gd name="adj" fmla="val 9641"/>
            </a:avLst>
          </a:prstGeom>
          <a:solidFill>
            <a:schemeClr val="bg1"/>
          </a:solidFill>
          <a:ln w="1905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69C33E5-AC7B-ABCA-FAAD-664BBC6A6DCA}"/>
              </a:ext>
            </a:extLst>
          </p:cNvPr>
          <p:cNvSpPr/>
          <p:nvPr/>
        </p:nvSpPr>
        <p:spPr>
          <a:xfrm>
            <a:off x="8103508" y="2330097"/>
            <a:ext cx="1581008" cy="237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Resource Group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7A0F199C-861E-3870-1FA6-1DC04D65B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368" y="2323465"/>
            <a:ext cx="251021" cy="251021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92B7E451-9338-08C4-2E29-B62F69E17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9124" y="2648501"/>
            <a:ext cx="276123" cy="276123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508588F1-3A06-81B5-3072-8E48075379D8}"/>
              </a:ext>
            </a:extLst>
          </p:cNvPr>
          <p:cNvSpPr/>
          <p:nvPr/>
        </p:nvSpPr>
        <p:spPr>
          <a:xfrm>
            <a:off x="9255776" y="2678100"/>
            <a:ext cx="960053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Virtual Network</a:t>
            </a:r>
          </a:p>
        </p:txBody>
      </p:sp>
      <p:pic>
        <p:nvPicPr>
          <p:cNvPr id="92" name="Graphic 91">
            <a:extLst>
              <a:ext uri="{FF2B5EF4-FFF2-40B4-BE49-F238E27FC236}">
                <a16:creationId xmlns:a16="http://schemas.microsoft.com/office/drawing/2014/main" id="{C5314757-36FD-070B-4F23-2445A70499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2282" y="4331482"/>
            <a:ext cx="367200" cy="367200"/>
          </a:xfrm>
          <a:prstGeom prst="rect">
            <a:avLst/>
          </a:prstGeom>
        </p:spPr>
      </p:pic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D8B70A4-96E0-D5F0-E891-E8163EB24BBF}"/>
              </a:ext>
            </a:extLst>
          </p:cNvPr>
          <p:cNvCxnSpPr>
            <a:cxnSpLocks/>
            <a:stCxn id="92" idx="1"/>
            <a:endCxn id="19" idx="2"/>
          </p:cNvCxnSpPr>
          <p:nvPr/>
        </p:nvCxnSpPr>
        <p:spPr>
          <a:xfrm rot="10800000">
            <a:off x="9602476" y="4087992"/>
            <a:ext cx="559806" cy="427091"/>
          </a:xfrm>
          <a:prstGeom prst="bentConnector2">
            <a:avLst/>
          </a:prstGeom>
          <a:ln w="9525">
            <a:solidFill>
              <a:srgbClr val="5B9B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95BFC49E-C03C-FDEC-A764-974B36940CBE}"/>
              </a:ext>
            </a:extLst>
          </p:cNvPr>
          <p:cNvSpPr/>
          <p:nvPr/>
        </p:nvSpPr>
        <p:spPr>
          <a:xfrm>
            <a:off x="9905025" y="4688292"/>
            <a:ext cx="876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Private DNS Zone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A939803-CAE9-E316-53FF-56B4AC05B0D0}"/>
              </a:ext>
            </a:extLst>
          </p:cNvPr>
          <p:cNvSpPr/>
          <p:nvPr/>
        </p:nvSpPr>
        <p:spPr>
          <a:xfrm>
            <a:off x="9381655" y="4323909"/>
            <a:ext cx="876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VNet Link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918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06DD7E-8383-8E70-E801-8E6A55A3455A}"/>
              </a:ext>
            </a:extLst>
          </p:cNvPr>
          <p:cNvSpPr txBox="1"/>
          <p:nvPr/>
        </p:nvSpPr>
        <p:spPr>
          <a:xfrm>
            <a:off x="134471" y="304801"/>
            <a:ext cx="6275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Proximity Placement Group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448DE7-6813-0D80-3F14-8E1F66A18938}"/>
              </a:ext>
            </a:extLst>
          </p:cNvPr>
          <p:cNvSpPr/>
          <p:nvPr/>
        </p:nvSpPr>
        <p:spPr bwMode="auto">
          <a:xfrm>
            <a:off x="8328705" y="2912786"/>
            <a:ext cx="2695394" cy="1340206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E1F8C-EB1E-939B-407E-164AC5EE37DE}"/>
              </a:ext>
            </a:extLst>
          </p:cNvPr>
          <p:cNvSpPr txBox="1"/>
          <p:nvPr/>
        </p:nvSpPr>
        <p:spPr>
          <a:xfrm>
            <a:off x="9089356" y="2605009"/>
            <a:ext cx="19347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#A9D18E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10FC2-2247-2BF1-34D5-9C583D93C1BB}"/>
              </a:ext>
            </a:extLst>
          </p:cNvPr>
          <p:cNvSpPr txBox="1"/>
          <p:nvPr/>
        </p:nvSpPr>
        <p:spPr>
          <a:xfrm>
            <a:off x="8843282" y="3945215"/>
            <a:ext cx="1908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latin typeface="Segoe UI Light" panose="020B0502040204020203" pitchFamily="34" charset="0"/>
                <a:cs typeface="Segoe UI Light" panose="020B0502040204020203" pitchFamily="34" charset="0"/>
              </a:rPr>
              <a:t>Colour Code: #F4F4F4</a:t>
            </a:r>
          </a:p>
        </p:txBody>
      </p:sp>
    </p:spTree>
    <p:extLst>
      <p:ext uri="{BB962C8B-B14F-4D97-AF65-F5344CB8AC3E}">
        <p14:creationId xmlns:p14="http://schemas.microsoft.com/office/powerpoint/2010/main" val="4195937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B2FAB-24F8-8E65-A67F-4F9AAE85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C6200A-3C49-809D-1249-C825F86474C1}"/>
              </a:ext>
            </a:extLst>
          </p:cNvPr>
          <p:cNvSpPr txBox="1"/>
          <p:nvPr/>
        </p:nvSpPr>
        <p:spPr>
          <a:xfrm>
            <a:off x="134471" y="304801"/>
            <a:ext cx="5007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</a:t>
            </a:r>
            <a:r>
              <a:rPr lang="en-IN" sz="20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Virtual WAN (</a:t>
            </a:r>
            <a:r>
              <a:rPr lang="en-IN" sz="2000" dirty="0" err="1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vWAN</a:t>
            </a:r>
            <a:r>
              <a:rPr lang="en-IN" sz="2000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F1449-4B77-2FB0-37BE-0ECE8026DF90}"/>
              </a:ext>
            </a:extLst>
          </p:cNvPr>
          <p:cNvSpPr/>
          <p:nvPr/>
        </p:nvSpPr>
        <p:spPr>
          <a:xfrm>
            <a:off x="4725612" y="1921699"/>
            <a:ext cx="1428902" cy="20489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9E4CEF7-81A5-654A-1F87-1C724F4081FA}"/>
              </a:ext>
            </a:extLst>
          </p:cNvPr>
          <p:cNvSpPr txBox="1"/>
          <p:nvPr/>
        </p:nvSpPr>
        <p:spPr>
          <a:xfrm>
            <a:off x="6176945" y="2034807"/>
            <a:ext cx="656659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kern="0" dirty="0">
                <a:solidFill>
                  <a:prstClr val="black"/>
                </a:solidFill>
                <a:latin typeface="Segoe UI Light"/>
                <a:cs typeface="Segoe UI Light"/>
              </a:rPr>
              <a:t>Site to Site</a:t>
            </a:r>
          </a:p>
        </p:txBody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C700D6BF-514C-FE28-838A-7C9CE3CAF164}"/>
              </a:ext>
            </a:extLst>
          </p:cNvPr>
          <p:cNvSpPr txBox="1"/>
          <p:nvPr/>
        </p:nvSpPr>
        <p:spPr>
          <a:xfrm>
            <a:off x="4962954" y="1636364"/>
            <a:ext cx="937554" cy="2616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latin typeface="Segoe UI Light"/>
                <a:cs typeface="Segoe UI Light"/>
              </a:rPr>
              <a:t>On-premises</a:t>
            </a:r>
          </a:p>
        </p:txBody>
      </p:sp>
      <p:sp>
        <p:nvSpPr>
          <p:cNvPr id="45" name="AutoShape 3">
            <a:extLst>
              <a:ext uri="{FF2B5EF4-FFF2-40B4-BE49-F238E27FC236}">
                <a16:creationId xmlns:a16="http://schemas.microsoft.com/office/drawing/2014/main" id="{83CBA6C8-1618-5A4B-F960-A81F2CD71C2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725612" y="1625632"/>
            <a:ext cx="271249" cy="27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992AC2-2702-C700-E951-CD81506B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612" y="1625632"/>
            <a:ext cx="135625" cy="2772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CBE045-BD71-43EE-B4B1-E9578AA8E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237" y="1764257"/>
            <a:ext cx="135625" cy="138625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4E030F-3A7E-5CBC-748F-DCE6C551B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518" y="1669174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A19134-56CA-4F3C-92E5-943EC245B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18" y="1669175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837573-3EF0-7485-4246-B27FC5A8D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518" y="1711829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0128E26-00BC-7F6F-FA9A-CB6BC4AFC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18" y="1711829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686281-A53B-02BA-FBED-869EE53A9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518" y="1755371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BA6C8F-FAE3-E444-3F17-2578F2F3D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18" y="1755371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93B196-7781-E0BB-9288-55CF3B23F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518" y="1798913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B7DDE87-1883-8533-8E82-048AF5FC6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18" y="1798913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CBB0D24-E7ED-1989-7D4B-CC61F02B6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906" y="1868226"/>
            <a:ext cx="33037" cy="34656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BBC0376-2154-D88A-D554-250BEF9D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142" y="1798913"/>
            <a:ext cx="25212" cy="25770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FE888E-A80E-4E4C-64F0-8916EA8C2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743" y="1798913"/>
            <a:ext cx="25212" cy="25770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94E2EAA-E65F-4F3C-5DB1-D8021F04D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661" y="1868227"/>
            <a:ext cx="34776" cy="34656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D27FF9D-B93C-AFE6-0979-86ED65BFF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142" y="1669177"/>
            <a:ext cx="51294" cy="51540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1" name="Freeform 20">
            <a:extLst>
              <a:ext uri="{FF2B5EF4-FFF2-40B4-BE49-F238E27FC236}">
                <a16:creationId xmlns:a16="http://schemas.microsoft.com/office/drawing/2014/main" id="{BCDC66A4-37CE-CB0B-9EDB-C0FC2BC28F50}"/>
              </a:ext>
            </a:extLst>
          </p:cNvPr>
          <p:cNvSpPr>
            <a:spLocks/>
          </p:cNvSpPr>
          <p:nvPr/>
        </p:nvSpPr>
        <p:spPr bwMode="auto">
          <a:xfrm>
            <a:off x="4886449" y="1701166"/>
            <a:ext cx="85200" cy="19550"/>
          </a:xfrm>
          <a:custGeom>
            <a:avLst/>
            <a:gdLst>
              <a:gd name="T0" fmla="*/ 379 w 427"/>
              <a:gd name="T1" fmla="*/ 96 h 96"/>
              <a:gd name="T2" fmla="*/ 48 w 427"/>
              <a:gd name="T3" fmla="*/ 96 h 96"/>
              <a:gd name="T4" fmla="*/ 0 w 427"/>
              <a:gd name="T5" fmla="*/ 48 h 96"/>
              <a:gd name="T6" fmla="*/ 0 w 427"/>
              <a:gd name="T7" fmla="*/ 48 h 96"/>
              <a:gd name="T8" fmla="*/ 48 w 427"/>
              <a:gd name="T9" fmla="*/ 0 h 96"/>
              <a:gd name="T10" fmla="*/ 379 w 427"/>
              <a:gd name="T11" fmla="*/ 0 h 96"/>
              <a:gd name="T12" fmla="*/ 427 w 427"/>
              <a:gd name="T13" fmla="*/ 48 h 96"/>
              <a:gd name="T14" fmla="*/ 427 w 427"/>
              <a:gd name="T15" fmla="*/ 48 h 96"/>
              <a:gd name="T16" fmla="*/ 379 w 427"/>
              <a:gd name="T17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7" h="96">
                <a:moveTo>
                  <a:pt x="379" y="96"/>
                </a:moveTo>
                <a:cubicBezTo>
                  <a:pt x="48" y="96"/>
                  <a:pt x="48" y="96"/>
                  <a:pt x="48" y="96"/>
                </a:cubicBezTo>
                <a:cubicBezTo>
                  <a:pt x="22" y="96"/>
                  <a:pt x="0" y="75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1"/>
                  <a:pt x="22" y="0"/>
                  <a:pt x="48" y="0"/>
                </a:cubicBezTo>
                <a:cubicBezTo>
                  <a:pt x="379" y="0"/>
                  <a:pt x="379" y="0"/>
                  <a:pt x="379" y="0"/>
                </a:cubicBezTo>
                <a:cubicBezTo>
                  <a:pt x="406" y="0"/>
                  <a:pt x="427" y="21"/>
                  <a:pt x="427" y="48"/>
                </a:cubicBezTo>
                <a:cubicBezTo>
                  <a:pt x="427" y="48"/>
                  <a:pt x="427" y="48"/>
                  <a:pt x="427" y="48"/>
                </a:cubicBezTo>
                <a:cubicBezTo>
                  <a:pt x="427" y="75"/>
                  <a:pt x="406" y="96"/>
                  <a:pt x="379" y="96"/>
                </a:cubicBezTo>
                <a:close/>
              </a:path>
            </a:pathLst>
          </a:cu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F327339-EAFC-9D49-BF31-7746A86DE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048" y="1678062"/>
            <a:ext cx="33906" cy="33768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EC26A-E1B7-C6AF-BC45-FC524A065F60}"/>
              </a:ext>
            </a:extLst>
          </p:cNvPr>
          <p:cNvSpPr/>
          <p:nvPr/>
        </p:nvSpPr>
        <p:spPr>
          <a:xfrm>
            <a:off x="6907767" y="1921699"/>
            <a:ext cx="4338083" cy="2641112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9A9FEA-390E-7BF7-2FDB-F22DA6D52541}"/>
              </a:ext>
            </a:extLst>
          </p:cNvPr>
          <p:cNvSpPr/>
          <p:nvPr/>
        </p:nvSpPr>
        <p:spPr>
          <a:xfrm>
            <a:off x="7035691" y="2252211"/>
            <a:ext cx="4066717" cy="2182629"/>
          </a:xfrm>
          <a:prstGeom prst="roundRect">
            <a:avLst>
              <a:gd name="adj" fmla="val 7974"/>
            </a:avLst>
          </a:prstGeom>
          <a:solidFill>
            <a:srgbClr val="EDF1F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24"/>
            <a:endParaRPr lang="en-US" sz="900">
              <a:solidFill>
                <a:srgbClr val="ECF1F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3594AE-EC37-9729-2B85-A6B7EB817F94}"/>
              </a:ext>
            </a:extLst>
          </p:cNvPr>
          <p:cNvSpPr/>
          <p:nvPr/>
        </p:nvSpPr>
        <p:spPr>
          <a:xfrm>
            <a:off x="7154884" y="1625215"/>
            <a:ext cx="1288319" cy="2446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Subscription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3652A6-1D6D-E053-B0EE-BDB1BB3571A4}"/>
              </a:ext>
            </a:extLst>
          </p:cNvPr>
          <p:cNvSpPr/>
          <p:nvPr/>
        </p:nvSpPr>
        <p:spPr>
          <a:xfrm>
            <a:off x="7258528" y="2018344"/>
            <a:ext cx="616436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RG</a:t>
            </a:r>
          </a:p>
        </p:txBody>
      </p:sp>
      <p:pic>
        <p:nvPicPr>
          <p:cNvPr id="41" name="Graphic 58">
            <a:extLst>
              <a:ext uri="{FF2B5EF4-FFF2-40B4-BE49-F238E27FC236}">
                <a16:creationId xmlns:a16="http://schemas.microsoft.com/office/drawing/2014/main" id="{B39FF08A-4E42-6DAB-005B-41A97CDAC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5691" y="2019319"/>
            <a:ext cx="228883" cy="228883"/>
          </a:xfrm>
          <a:prstGeom prst="rect">
            <a:avLst/>
          </a:prstGeom>
        </p:spPr>
      </p:pic>
      <p:sp>
        <p:nvSpPr>
          <p:cNvPr id="25" name="TextBox 8">
            <a:extLst>
              <a:ext uri="{FF2B5EF4-FFF2-40B4-BE49-F238E27FC236}">
                <a16:creationId xmlns:a16="http://schemas.microsoft.com/office/drawing/2014/main" id="{A31F977A-81DC-BDA9-FD73-E7088A464CCF}"/>
              </a:ext>
            </a:extLst>
          </p:cNvPr>
          <p:cNvSpPr txBox="1"/>
          <p:nvPr/>
        </p:nvSpPr>
        <p:spPr>
          <a:xfrm>
            <a:off x="8844237" y="2831786"/>
            <a:ext cx="75541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kern="0">
                <a:solidFill>
                  <a:prstClr val="black"/>
                </a:solidFill>
                <a:latin typeface="Segoe UI Light"/>
                <a:cs typeface="Segoe UI Light"/>
              </a:rPr>
              <a:t>VNet Connection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E8238482-A874-E09F-4267-2A58010BEE6D}"/>
              </a:ext>
            </a:extLst>
          </p:cNvPr>
          <p:cNvSpPr txBox="1"/>
          <p:nvPr/>
        </p:nvSpPr>
        <p:spPr>
          <a:xfrm>
            <a:off x="5906666" y="4562811"/>
            <a:ext cx="648172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kern="0" dirty="0">
                <a:solidFill>
                  <a:prstClr val="black"/>
                </a:solidFill>
                <a:latin typeface="Segoe UI Light"/>
                <a:cs typeface="Segoe UI Light"/>
              </a:rPr>
              <a:t>Point to Site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0D60B52A-F05A-4A5D-B069-ACD5A44162C5}"/>
              </a:ext>
            </a:extLst>
          </p:cNvPr>
          <p:cNvSpPr txBox="1"/>
          <p:nvPr/>
        </p:nvSpPr>
        <p:spPr>
          <a:xfrm>
            <a:off x="5191527" y="5013154"/>
            <a:ext cx="49707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 kern="0">
                <a:solidFill>
                  <a:prstClr val="black"/>
                </a:solidFill>
                <a:latin typeface="Segoe UI Light"/>
                <a:cs typeface="Segoe UI Light"/>
              </a:rPr>
              <a:t>User</a:t>
            </a:r>
          </a:p>
        </p:txBody>
      </p:sp>
      <p:pic>
        <p:nvPicPr>
          <p:cNvPr id="34" name="Graphic 49">
            <a:extLst>
              <a:ext uri="{FF2B5EF4-FFF2-40B4-BE49-F238E27FC236}">
                <a16:creationId xmlns:a16="http://schemas.microsoft.com/office/drawing/2014/main" id="{96100459-8031-6C47-4A41-A89863AF4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9947" y="4562811"/>
            <a:ext cx="440233" cy="440233"/>
          </a:xfrm>
          <a:prstGeom prst="rect">
            <a:avLst/>
          </a:prstGeom>
        </p:spPr>
      </p:pic>
      <p:pic>
        <p:nvPicPr>
          <p:cNvPr id="38" name="Graphic 62">
            <a:extLst>
              <a:ext uri="{FF2B5EF4-FFF2-40B4-BE49-F238E27FC236}">
                <a16:creationId xmlns:a16="http://schemas.microsoft.com/office/drawing/2014/main" id="{045C5540-F975-EFF9-E680-2C620273EE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0748" y="2363267"/>
            <a:ext cx="223110" cy="22311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E5FDF3A-39EA-FB14-53C2-9798CDD88965}"/>
              </a:ext>
            </a:extLst>
          </p:cNvPr>
          <p:cNvSpPr/>
          <p:nvPr/>
        </p:nvSpPr>
        <p:spPr>
          <a:xfrm>
            <a:off x="9967251" y="2366360"/>
            <a:ext cx="785017" cy="216924"/>
          </a:xfrm>
          <a:prstGeom prst="rect">
            <a:avLst/>
          </a:prstGeom>
        </p:spPr>
        <p:txBody>
          <a:bodyPr wrap="square" lIns="91380" tIns="45691" rIns="91380" bIns="45691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900" kern="0">
                <a:solidFill>
                  <a:prstClr val="black"/>
                </a:solidFill>
                <a:latin typeface="Segoe UI Light"/>
                <a:cs typeface="Segoe UI Light"/>
              </a:rPr>
              <a:t>Spoke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lang="en-US" sz="900" kern="0">
                <a:solidFill>
                  <a:prstClr val="black"/>
                </a:solidFill>
                <a:latin typeface="Segoe UI Light"/>
                <a:cs typeface="Segoe UI Light"/>
              </a:rPr>
              <a:t>VNet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35B9F2-BB74-B806-165F-673B0F0B240A}"/>
              </a:ext>
            </a:extLst>
          </p:cNvPr>
          <p:cNvSpPr/>
          <p:nvPr/>
        </p:nvSpPr>
        <p:spPr>
          <a:xfrm>
            <a:off x="9620411" y="2603884"/>
            <a:ext cx="1263143" cy="1094091"/>
          </a:xfrm>
          <a:prstGeom prst="roundRect">
            <a:avLst>
              <a:gd name="adj" fmla="val 10157"/>
            </a:avLst>
          </a:prstGeom>
          <a:solidFill>
            <a:schemeClr val="bg1"/>
          </a:solidFill>
          <a:ln w="1905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61F9EED-1A78-095F-EB05-4A66C853D32E}"/>
              </a:ext>
            </a:extLst>
          </p:cNvPr>
          <p:cNvSpPr/>
          <p:nvPr/>
        </p:nvSpPr>
        <p:spPr bwMode="auto">
          <a:xfrm>
            <a:off x="9737136" y="2882950"/>
            <a:ext cx="1022056" cy="682048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D0403408-64FB-942A-E016-EC5A915514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70741" y="3140201"/>
            <a:ext cx="171450" cy="17145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9B9E0607-AFE8-1424-0ABF-C88AA5C053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02533" y="3007768"/>
            <a:ext cx="302400" cy="3024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590EAA36-2C26-9B6B-C5E8-3AE394339B8E}"/>
              </a:ext>
            </a:extLst>
          </p:cNvPr>
          <p:cNvSpPr txBox="1"/>
          <p:nvPr/>
        </p:nvSpPr>
        <p:spPr>
          <a:xfrm>
            <a:off x="9975291" y="3289169"/>
            <a:ext cx="5568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VM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D54606A-181E-A438-A2C1-645697086034}"/>
              </a:ext>
            </a:extLst>
          </p:cNvPr>
          <p:cNvSpPr/>
          <p:nvPr/>
        </p:nvSpPr>
        <p:spPr>
          <a:xfrm>
            <a:off x="9859613" y="2684926"/>
            <a:ext cx="944453" cy="2030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8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Workload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Subnet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17CCC2A-4BDF-C08C-65FC-C8B56E89D3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37135" y="2692166"/>
            <a:ext cx="188595" cy="188595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4DE56B5C-1B16-C937-7379-D9D8C1B29E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60803" y="2902768"/>
            <a:ext cx="171450" cy="171450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AC83C233-CC3D-F9B7-8A88-C8F820D96FDC}"/>
              </a:ext>
            </a:extLst>
          </p:cNvPr>
          <p:cNvSpPr/>
          <p:nvPr/>
        </p:nvSpPr>
        <p:spPr>
          <a:xfrm>
            <a:off x="7787663" y="2382355"/>
            <a:ext cx="672448" cy="185025"/>
          </a:xfrm>
          <a:prstGeom prst="rect">
            <a:avLst/>
          </a:prstGeom>
        </p:spPr>
        <p:txBody>
          <a:bodyPr wrap="square" lIns="87222" tIns="43612" rIns="87222" bIns="43612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72164">
              <a:lnSpc>
                <a:spcPct val="90000"/>
              </a:lnSpc>
              <a:spcAft>
                <a:spcPts val="561"/>
              </a:spcAft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Virtual WAN</a:t>
            </a:r>
            <a:endParaRPr lang="en-US" sz="7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EE08B7C5-97D2-1573-CBD1-8B763BBE49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05960" y="2363267"/>
            <a:ext cx="223200" cy="223200"/>
          </a:xfrm>
          <a:prstGeom prst="rect">
            <a:avLst/>
          </a:prstGeom>
        </p:spPr>
      </p:pic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01402FDA-9A55-E34B-A984-2B9AD1E255DE}"/>
              </a:ext>
            </a:extLst>
          </p:cNvPr>
          <p:cNvSpPr/>
          <p:nvPr/>
        </p:nvSpPr>
        <p:spPr>
          <a:xfrm>
            <a:off x="7366525" y="2905498"/>
            <a:ext cx="1307310" cy="1173355"/>
          </a:xfrm>
          <a:prstGeom prst="roundRect">
            <a:avLst>
              <a:gd name="adj" fmla="val 6824"/>
            </a:avLst>
          </a:prstGeom>
          <a:noFill/>
          <a:ln w="12700" cap="flat" cmpd="sng" algn="ctr">
            <a:solidFill>
              <a:srgbClr val="A67AF4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72818">
              <a:defRPr/>
            </a:pPr>
            <a:endParaRPr lang="en-IN" sz="859" ker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260E8B59-DDB8-EAAB-1877-D31698E3DDE5}"/>
              </a:ext>
            </a:extLst>
          </p:cNvPr>
          <p:cNvSpPr/>
          <p:nvPr/>
        </p:nvSpPr>
        <p:spPr bwMode="auto">
          <a:xfrm>
            <a:off x="7448671" y="2975686"/>
            <a:ext cx="1133559" cy="527870"/>
          </a:xfrm>
          <a:prstGeom prst="roundRect">
            <a:avLst>
              <a:gd name="adj" fmla="val 10293"/>
            </a:avLst>
          </a:prstGeom>
          <a:noFill/>
          <a:ln w="19050" cap="rnd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7222" tIns="43612" rIns="87222" bIns="4361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770">
              <a:spcAft>
                <a:spcPct val="35000"/>
              </a:spcAft>
              <a:defRPr/>
            </a:pPr>
            <a:endParaRPr lang="en-US" sz="859" kern="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5CE4D98-A818-83C9-E731-291D739CE7DE}"/>
              </a:ext>
            </a:extLst>
          </p:cNvPr>
          <p:cNvSpPr/>
          <p:nvPr/>
        </p:nvSpPr>
        <p:spPr>
          <a:xfrm>
            <a:off x="7773002" y="3771970"/>
            <a:ext cx="489479" cy="281975"/>
          </a:xfrm>
          <a:prstGeom prst="rect">
            <a:avLst/>
          </a:prstGeom>
        </p:spPr>
        <p:txBody>
          <a:bodyPr wrap="square" lIns="87222" tIns="43612" rIns="87222" bIns="43612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72164">
              <a:lnSpc>
                <a:spcPct val="90000"/>
              </a:lnSpc>
              <a:spcAft>
                <a:spcPts val="561"/>
              </a:spcAft>
              <a:defRPr/>
            </a:pPr>
            <a:r>
              <a:rPr lang="en-US" sz="700" kern="0" dirty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Secured </a:t>
            </a:r>
            <a:r>
              <a:rPr lang="en-US" sz="700" kern="0" dirty="0" err="1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vHub</a:t>
            </a:r>
            <a:endParaRPr lang="en-US" sz="700" kern="0" dirty="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D502AFA-4092-9892-5B82-B362E32D3B0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97181" y="3548903"/>
            <a:ext cx="241120" cy="240534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764529A6-0D2D-4206-209A-8649BE342894}"/>
              </a:ext>
            </a:extLst>
          </p:cNvPr>
          <p:cNvSpPr txBox="1"/>
          <p:nvPr/>
        </p:nvSpPr>
        <p:spPr>
          <a:xfrm>
            <a:off x="7810551" y="2660046"/>
            <a:ext cx="61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2795">
              <a:defRPr/>
            </a:pPr>
            <a:r>
              <a:rPr lang="en-US" sz="700" kern="0" dirty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Virtual Hub</a:t>
            </a:r>
          </a:p>
        </p:txBody>
      </p:sp>
      <p:pic>
        <p:nvPicPr>
          <p:cNvPr id="123" name="Graphic 122">
            <a:extLst>
              <a:ext uri="{FF2B5EF4-FFF2-40B4-BE49-F238E27FC236}">
                <a16:creationId xmlns:a16="http://schemas.microsoft.com/office/drawing/2014/main" id="{FBD36ECC-0241-0600-DF70-059C350FE83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11574" y="2652073"/>
            <a:ext cx="216000" cy="216000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6A9D5461-BFB8-5FC3-7DAF-45DC46405BAD}"/>
              </a:ext>
            </a:extLst>
          </p:cNvPr>
          <p:cNvSpPr/>
          <p:nvPr/>
        </p:nvSpPr>
        <p:spPr>
          <a:xfrm>
            <a:off x="8159264" y="3239621"/>
            <a:ext cx="455451" cy="281975"/>
          </a:xfrm>
          <a:prstGeom prst="rect">
            <a:avLst/>
          </a:prstGeom>
        </p:spPr>
        <p:txBody>
          <a:bodyPr wrap="square" lIns="87222" tIns="43612" rIns="87222" bIns="43612" rtlCol="0">
            <a:spAutoFit/>
          </a:bodyPr>
          <a:lstStyle/>
          <a:p>
            <a:pPr algn="ctr" defTabSz="872140">
              <a:lnSpc>
                <a:spcPct val="90000"/>
              </a:lnSpc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Default RT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C90E3DA-7597-D355-D69B-3D6FF1FA9A63}"/>
              </a:ext>
            </a:extLst>
          </p:cNvPr>
          <p:cNvSpPr/>
          <p:nvPr/>
        </p:nvSpPr>
        <p:spPr>
          <a:xfrm>
            <a:off x="7477170" y="3239621"/>
            <a:ext cx="352331" cy="281975"/>
          </a:xfrm>
          <a:prstGeom prst="rect">
            <a:avLst/>
          </a:prstGeom>
        </p:spPr>
        <p:txBody>
          <a:bodyPr wrap="square" lIns="87222" tIns="43612" rIns="87222" bIns="43612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72164">
              <a:lnSpc>
                <a:spcPct val="90000"/>
              </a:lnSpc>
              <a:spcAft>
                <a:spcPts val="561"/>
              </a:spcAft>
              <a:defRPr/>
            </a:pPr>
            <a:r>
              <a:rPr lang="en-US" sz="700" kern="0" dirty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VPN Site</a:t>
            </a:r>
            <a:endParaRPr lang="en-US" sz="700" dirty="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1" name="Graphic 110">
            <a:extLst>
              <a:ext uri="{FF2B5EF4-FFF2-40B4-BE49-F238E27FC236}">
                <a16:creationId xmlns:a16="http://schemas.microsoft.com/office/drawing/2014/main" id="{F215C174-BAF3-4C83-2A9F-E1CAF5889A06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32858" y="3048643"/>
            <a:ext cx="240955" cy="216000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2DDEFF30-8494-3D22-5AD6-D1EE5926603B}"/>
              </a:ext>
            </a:extLst>
          </p:cNvPr>
          <p:cNvSpPr/>
          <p:nvPr/>
        </p:nvSpPr>
        <p:spPr>
          <a:xfrm>
            <a:off x="7846332" y="3239621"/>
            <a:ext cx="342819" cy="281975"/>
          </a:xfrm>
          <a:prstGeom prst="rect">
            <a:avLst/>
          </a:prstGeom>
        </p:spPr>
        <p:txBody>
          <a:bodyPr wrap="square" lIns="87222" tIns="43612" rIns="87222" bIns="43612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72164">
              <a:lnSpc>
                <a:spcPct val="90000"/>
              </a:lnSpc>
              <a:spcAft>
                <a:spcPts val="561"/>
              </a:spcAft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User VPN</a:t>
            </a:r>
            <a:endParaRPr lang="en-US" sz="7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2F7AB709-11EF-B854-280B-CBB123F2C3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09552" y="3048643"/>
            <a:ext cx="216378" cy="21600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7AF033EF-9081-851E-6CF4-55BDF1E460B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278989" y="3048643"/>
            <a:ext cx="216000" cy="216000"/>
          </a:xfrm>
          <a:prstGeom prst="rect">
            <a:avLst/>
          </a:prstGeom>
        </p:spPr>
      </p:pic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F99F529-E811-EFFE-28DD-F867D904D246}"/>
              </a:ext>
            </a:extLst>
          </p:cNvPr>
          <p:cNvSpPr/>
          <p:nvPr/>
        </p:nvSpPr>
        <p:spPr>
          <a:xfrm>
            <a:off x="7240291" y="2603885"/>
            <a:ext cx="1585488" cy="1617595"/>
          </a:xfrm>
          <a:prstGeom prst="roundRect">
            <a:avLst>
              <a:gd name="adj" fmla="val 6824"/>
            </a:avLst>
          </a:prstGeom>
          <a:noFill/>
          <a:ln w="12700" cap="flat" cmpd="sng" algn="ctr">
            <a:solidFill>
              <a:schemeClr val="accent3"/>
            </a:solidFill>
            <a:prstDash val="dash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72818">
              <a:defRPr/>
            </a:pPr>
            <a:endParaRPr lang="en-IN" sz="859" ker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1BDD41-9B86-E175-8FB4-195E89E7A6B7}"/>
              </a:ext>
            </a:extLst>
          </p:cNvPr>
          <p:cNvSpPr/>
          <p:nvPr/>
        </p:nvSpPr>
        <p:spPr>
          <a:xfrm>
            <a:off x="5141641" y="2367432"/>
            <a:ext cx="596845" cy="191597"/>
          </a:xfrm>
          <a:prstGeom prst="rect">
            <a:avLst/>
          </a:prstGeom>
        </p:spPr>
        <p:txBody>
          <a:bodyPr wrap="square" lIns="91380" tIns="45691" rIns="91380" bIns="45691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39">
              <a:lnSpc>
                <a:spcPct val="90000"/>
              </a:lnSpc>
              <a:spcAft>
                <a:spcPts val="588"/>
              </a:spcAft>
              <a:defRPr/>
            </a:pPr>
            <a:r>
              <a:rPr lang="en-US" sz="700" kern="0">
                <a:solidFill>
                  <a:prstClr val="black"/>
                </a:solidFill>
                <a:latin typeface="Segoe UI Light"/>
                <a:cs typeface="Segoe UI Light"/>
              </a:rPr>
              <a:t>RRAS VM</a:t>
            </a:r>
            <a:endParaRPr lang="en-US">
              <a:ea typeface="+mn-ea"/>
            </a:endParaRPr>
          </a:p>
        </p:txBody>
      </p:sp>
      <p:pic>
        <p:nvPicPr>
          <p:cNvPr id="183" name="Graphic 182" descr="Monitor with solid fill">
            <a:extLst>
              <a:ext uri="{FF2B5EF4-FFF2-40B4-BE49-F238E27FC236}">
                <a16:creationId xmlns:a16="http://schemas.microsoft.com/office/drawing/2014/main" id="{C22854A5-88D3-CA62-032B-A67061D00E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50458" y="2040032"/>
            <a:ext cx="379210" cy="3792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FCCFC0-1C65-724F-83F7-9D740DDBD78C}"/>
              </a:ext>
            </a:extLst>
          </p:cNvPr>
          <p:cNvSpPr/>
          <p:nvPr/>
        </p:nvSpPr>
        <p:spPr>
          <a:xfrm>
            <a:off x="5185717" y="3009046"/>
            <a:ext cx="508692" cy="191597"/>
          </a:xfrm>
          <a:prstGeom prst="rect">
            <a:avLst/>
          </a:prstGeom>
        </p:spPr>
        <p:txBody>
          <a:bodyPr wrap="square" lIns="91380" tIns="45691" rIns="91380" bIns="45691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39">
              <a:lnSpc>
                <a:spcPct val="90000"/>
              </a:lnSpc>
              <a:spcAft>
                <a:spcPts val="588"/>
              </a:spcAft>
              <a:defRPr/>
            </a:pPr>
            <a:r>
              <a:rPr lang="en-US" sz="700" kern="0">
                <a:solidFill>
                  <a:prstClr val="black"/>
                </a:solidFill>
                <a:latin typeface="Segoe UI Light"/>
                <a:cs typeface="Segoe UI Light"/>
              </a:rPr>
              <a:t>DNS VM</a:t>
            </a:r>
            <a:endParaRPr lang="en-US">
              <a:ea typeface="+mn-ea"/>
            </a:endParaRPr>
          </a:p>
        </p:txBody>
      </p:sp>
      <p:pic>
        <p:nvPicPr>
          <p:cNvPr id="184" name="Graphic 183" descr="Monitor with solid fill">
            <a:extLst>
              <a:ext uri="{FF2B5EF4-FFF2-40B4-BE49-F238E27FC236}">
                <a16:creationId xmlns:a16="http://schemas.microsoft.com/office/drawing/2014/main" id="{915DF684-21D4-257B-DEFD-D763A5D8A4C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50458" y="2679897"/>
            <a:ext cx="379210" cy="3792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A56791-7869-AD97-BF95-1164DBD2B69C}"/>
              </a:ext>
            </a:extLst>
          </p:cNvPr>
          <p:cNvSpPr/>
          <p:nvPr/>
        </p:nvSpPr>
        <p:spPr>
          <a:xfrm>
            <a:off x="5185717" y="3647467"/>
            <a:ext cx="508693" cy="189735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Test VM</a:t>
            </a:r>
          </a:p>
        </p:txBody>
      </p:sp>
      <p:pic>
        <p:nvPicPr>
          <p:cNvPr id="185" name="Graphic 184" descr="Monitor with solid fill">
            <a:extLst>
              <a:ext uri="{FF2B5EF4-FFF2-40B4-BE49-F238E27FC236}">
                <a16:creationId xmlns:a16="http://schemas.microsoft.com/office/drawing/2014/main" id="{154CAC34-E951-A8D7-44EB-6DF105997AC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50458" y="3321511"/>
            <a:ext cx="379210" cy="379210"/>
          </a:xfrm>
          <a:prstGeom prst="rect">
            <a:avLst/>
          </a:prstGeom>
        </p:spPr>
      </p:pic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AE467C30-AEBE-A3B5-B723-78E1B80F9206}"/>
              </a:ext>
            </a:extLst>
          </p:cNvPr>
          <p:cNvCxnSpPr>
            <a:cxnSpLocks/>
            <a:stCxn id="116" idx="3"/>
            <a:endCxn id="18" idx="1"/>
          </p:cNvCxnSpPr>
          <p:nvPr/>
        </p:nvCxnSpPr>
        <p:spPr>
          <a:xfrm flipV="1">
            <a:off x="8673835" y="3150930"/>
            <a:ext cx="946576" cy="341246"/>
          </a:xfrm>
          <a:prstGeom prst="bentConnector3">
            <a:avLst>
              <a:gd name="adj1" fmla="val 50000"/>
            </a:avLst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A7ECA33-5E84-31CA-BD6E-A39EE10D6180}"/>
              </a:ext>
            </a:extLst>
          </p:cNvPr>
          <p:cNvCxnSpPr>
            <a:cxnSpLocks/>
            <a:stCxn id="183" idx="3"/>
            <a:endCxn id="111" idx="1"/>
          </p:cNvCxnSpPr>
          <p:nvPr/>
        </p:nvCxnSpPr>
        <p:spPr>
          <a:xfrm>
            <a:off x="5629668" y="2229637"/>
            <a:ext cx="1903190" cy="9270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271ADF30-92D7-0D84-877C-7D0CB95BCAC6}"/>
              </a:ext>
            </a:extLst>
          </p:cNvPr>
          <p:cNvCxnSpPr>
            <a:stCxn id="113" idx="1"/>
            <a:endCxn id="34" idx="3"/>
          </p:cNvCxnSpPr>
          <p:nvPr/>
        </p:nvCxnSpPr>
        <p:spPr>
          <a:xfrm rot="10800000" flipV="1">
            <a:off x="5660180" y="3156642"/>
            <a:ext cx="2249372" cy="1626285"/>
          </a:xfrm>
          <a:prstGeom prst="bentConnector3">
            <a:avLst>
              <a:gd name="adj1" fmla="val 5123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Graphic 107">
            <a:extLst>
              <a:ext uri="{FF2B5EF4-FFF2-40B4-BE49-F238E27FC236}">
                <a16:creationId xmlns:a16="http://schemas.microsoft.com/office/drawing/2014/main" id="{2F3A58E1-E870-F5E6-D603-5225021F8B3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08744" y="1603556"/>
            <a:ext cx="28720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01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D5134-94C4-BB5C-DC48-C84E72E3B7AC}"/>
              </a:ext>
            </a:extLst>
          </p:cNvPr>
          <p:cNvSpPr txBox="1"/>
          <p:nvPr/>
        </p:nvSpPr>
        <p:spPr>
          <a:xfrm>
            <a:off x="134470" y="304801"/>
            <a:ext cx="6957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Azure Virtual Network Manager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AB0E1-B94B-B13A-E215-4A2979D20D7A}"/>
              </a:ext>
            </a:extLst>
          </p:cNvPr>
          <p:cNvSpPr txBox="1"/>
          <p:nvPr/>
        </p:nvSpPr>
        <p:spPr>
          <a:xfrm>
            <a:off x="6327357" y="855769"/>
            <a:ext cx="146687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1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Subscription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6CF57-DAAB-D761-8DCF-FE90A8EC2894}"/>
              </a:ext>
            </a:extLst>
          </p:cNvPr>
          <p:cNvSpPr/>
          <p:nvPr/>
        </p:nvSpPr>
        <p:spPr>
          <a:xfrm>
            <a:off x="6096000" y="1130574"/>
            <a:ext cx="5683815" cy="4998134"/>
          </a:xfrm>
          <a:prstGeom prst="rect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2000" ker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A352E6-A1D1-C1FF-C289-C4CA4719C662}"/>
              </a:ext>
            </a:extLst>
          </p:cNvPr>
          <p:cNvSpPr/>
          <p:nvPr/>
        </p:nvSpPr>
        <p:spPr>
          <a:xfrm>
            <a:off x="6327357" y="1472450"/>
            <a:ext cx="5219545" cy="4521676"/>
          </a:xfrm>
          <a:prstGeom prst="roundRect">
            <a:avLst>
              <a:gd name="adj" fmla="val 5573"/>
            </a:avLst>
          </a:prstGeom>
          <a:solidFill>
            <a:srgbClr val="EDF1F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24"/>
            <a:endParaRPr lang="en-US" sz="900">
              <a:solidFill>
                <a:srgbClr val="ECF1F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587A13-C95C-E9B6-A3CA-93F8BEB12073}"/>
              </a:ext>
            </a:extLst>
          </p:cNvPr>
          <p:cNvSpPr/>
          <p:nvPr/>
        </p:nvSpPr>
        <p:spPr>
          <a:xfrm>
            <a:off x="6550193" y="1238583"/>
            <a:ext cx="1244035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Resource Group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0" name="Graphic 58">
            <a:extLst>
              <a:ext uri="{FF2B5EF4-FFF2-40B4-BE49-F238E27FC236}">
                <a16:creationId xmlns:a16="http://schemas.microsoft.com/office/drawing/2014/main" id="{BA6A141B-4170-3614-CBA8-C6574710D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7357" y="1239558"/>
            <a:ext cx="228883" cy="22888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50B489-D729-001E-0FAC-9212647608D6}"/>
              </a:ext>
            </a:extLst>
          </p:cNvPr>
          <p:cNvSpPr/>
          <p:nvPr/>
        </p:nvSpPr>
        <p:spPr>
          <a:xfrm>
            <a:off x="6647098" y="1824058"/>
            <a:ext cx="4606506" cy="3907836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17737C-6F93-E7A8-3327-0EE63B9A0BF8}"/>
              </a:ext>
            </a:extLst>
          </p:cNvPr>
          <p:cNvSpPr/>
          <p:nvPr/>
        </p:nvSpPr>
        <p:spPr>
          <a:xfrm>
            <a:off x="6595579" y="1735792"/>
            <a:ext cx="155575" cy="350520"/>
          </a:xfrm>
          <a:prstGeom prst="rect">
            <a:avLst/>
          </a:prstGeom>
          <a:solidFill>
            <a:srgbClr val="EDF1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BDA4AAF-E7F4-5DE5-D923-8DD03BD04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5378" y="1735792"/>
            <a:ext cx="343440" cy="3536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8D61963-3F0A-FA71-CE2F-3D9096FC8049}"/>
              </a:ext>
            </a:extLst>
          </p:cNvPr>
          <p:cNvSpPr/>
          <p:nvPr/>
        </p:nvSpPr>
        <p:spPr>
          <a:xfrm>
            <a:off x="6741956" y="1590140"/>
            <a:ext cx="1928485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Virtual Network Manager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ECD32C3B-A370-F794-F8C1-C2D2EF8D88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842574"/>
            <a:ext cx="287207" cy="28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35D4F39-B345-B265-AA1D-5A152124E218}"/>
              </a:ext>
            </a:extLst>
          </p:cNvPr>
          <p:cNvSpPr/>
          <p:nvPr/>
        </p:nvSpPr>
        <p:spPr>
          <a:xfrm>
            <a:off x="9240990" y="2158618"/>
            <a:ext cx="1898650" cy="3394321"/>
          </a:xfrm>
          <a:prstGeom prst="rect">
            <a:avLst/>
          </a:prstGeom>
          <a:solidFill>
            <a:srgbClr val="EDF1FA"/>
          </a:solidFill>
          <a:ln>
            <a:solidFill>
              <a:srgbClr val="9BCD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93F958A-1AEF-543E-106B-6747C1FDF5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65691" y="2008721"/>
            <a:ext cx="293623" cy="29362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E05E74F-D1BB-09FE-36C6-8A272DBF52D3}"/>
              </a:ext>
            </a:extLst>
          </p:cNvPr>
          <p:cNvSpPr/>
          <p:nvPr/>
        </p:nvSpPr>
        <p:spPr>
          <a:xfrm>
            <a:off x="9425742" y="1940642"/>
            <a:ext cx="1034450" cy="2169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Network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F2933-0A74-69B8-5EFA-8ECE2B0F5BD0}"/>
              </a:ext>
            </a:extLst>
          </p:cNvPr>
          <p:cNvSpPr/>
          <p:nvPr/>
        </p:nvSpPr>
        <p:spPr>
          <a:xfrm>
            <a:off x="9459314" y="2432289"/>
            <a:ext cx="1488250" cy="2974538"/>
          </a:xfrm>
          <a:prstGeom prst="rect">
            <a:avLst/>
          </a:prstGeom>
          <a:noFill/>
          <a:ln>
            <a:solidFill>
              <a:srgbClr val="2BCBE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Graphic 62">
            <a:extLst>
              <a:ext uri="{FF2B5EF4-FFF2-40B4-BE49-F238E27FC236}">
                <a16:creationId xmlns:a16="http://schemas.microsoft.com/office/drawing/2014/main" id="{D50155AE-FA9C-5D8E-4E53-56C7AF286C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09217" y="2467444"/>
            <a:ext cx="223110" cy="22311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3DC8A69-F3CF-D5E6-92F7-C46606BB085E}"/>
              </a:ext>
            </a:extLst>
          </p:cNvPr>
          <p:cNvSpPr/>
          <p:nvPr/>
        </p:nvSpPr>
        <p:spPr>
          <a:xfrm>
            <a:off x="9905720" y="2470537"/>
            <a:ext cx="791941" cy="216924"/>
          </a:xfrm>
          <a:prstGeom prst="rect">
            <a:avLst/>
          </a:prstGeom>
        </p:spPr>
        <p:txBody>
          <a:bodyPr wrap="square" lIns="91380" tIns="45691" rIns="91380" bIns="45691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900" kern="0">
                <a:solidFill>
                  <a:prstClr val="black"/>
                </a:solidFill>
                <a:latin typeface="Segoe UI Light"/>
                <a:cs typeface="Segoe UI Light"/>
              </a:rPr>
              <a:t>Spoke1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lang="en-US" sz="900" kern="0">
                <a:solidFill>
                  <a:prstClr val="black"/>
                </a:solidFill>
                <a:latin typeface="Segoe UI Light"/>
                <a:cs typeface="Segoe UI Light"/>
              </a:rPr>
              <a:t>VNet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ED5D6D-8527-36C8-F0BA-0561D5AD6642}"/>
              </a:ext>
            </a:extLst>
          </p:cNvPr>
          <p:cNvSpPr/>
          <p:nvPr/>
        </p:nvSpPr>
        <p:spPr>
          <a:xfrm>
            <a:off x="9571868" y="2708061"/>
            <a:ext cx="1263143" cy="1094091"/>
          </a:xfrm>
          <a:prstGeom prst="roundRect">
            <a:avLst>
              <a:gd name="adj" fmla="val 10157"/>
            </a:avLst>
          </a:prstGeom>
          <a:solidFill>
            <a:schemeClr val="bg1"/>
          </a:solidFill>
          <a:ln w="1905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6F58E2-93DA-ACC0-F7E2-0FB1A55004C7}"/>
              </a:ext>
            </a:extLst>
          </p:cNvPr>
          <p:cNvSpPr/>
          <p:nvPr/>
        </p:nvSpPr>
        <p:spPr bwMode="auto">
          <a:xfrm>
            <a:off x="9688593" y="2987127"/>
            <a:ext cx="1022056" cy="682048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DE1D057-DEAA-E7AE-2390-614A296562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22198" y="3244378"/>
            <a:ext cx="171450" cy="1714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C95BF58-EE68-4F12-147C-E5EC8068A11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53990" y="3111945"/>
            <a:ext cx="302400" cy="302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B9C7A20-7593-AB60-5CD4-2C59BF81128A}"/>
              </a:ext>
            </a:extLst>
          </p:cNvPr>
          <p:cNvSpPr txBox="1"/>
          <p:nvPr/>
        </p:nvSpPr>
        <p:spPr>
          <a:xfrm>
            <a:off x="9926748" y="3393346"/>
            <a:ext cx="5568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CF30E5-9AD9-7BEF-C5C3-8699EA466176}"/>
              </a:ext>
            </a:extLst>
          </p:cNvPr>
          <p:cNvSpPr/>
          <p:nvPr/>
        </p:nvSpPr>
        <p:spPr>
          <a:xfrm>
            <a:off x="9811070" y="2789103"/>
            <a:ext cx="944453" cy="2030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8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Workload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Subnet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FA0763A7-A97B-8534-2872-2FD570013EE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88592" y="2796343"/>
            <a:ext cx="188595" cy="18859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39383F2B-306C-72C2-2B51-BEC1F119CCB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12260" y="3006945"/>
            <a:ext cx="171450" cy="171450"/>
          </a:xfrm>
          <a:prstGeom prst="rect">
            <a:avLst/>
          </a:prstGeom>
        </p:spPr>
      </p:pic>
      <p:pic>
        <p:nvPicPr>
          <p:cNvPr id="37" name="Graphic 62">
            <a:extLst>
              <a:ext uri="{FF2B5EF4-FFF2-40B4-BE49-F238E27FC236}">
                <a16:creationId xmlns:a16="http://schemas.microsoft.com/office/drawing/2014/main" id="{D787985E-88B7-5E7F-D5E3-C3446D0CB5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09217" y="3876850"/>
            <a:ext cx="223110" cy="22311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43E520C-6E31-A6D0-2E78-C14A67659B4B}"/>
              </a:ext>
            </a:extLst>
          </p:cNvPr>
          <p:cNvSpPr/>
          <p:nvPr/>
        </p:nvSpPr>
        <p:spPr>
          <a:xfrm>
            <a:off x="9905720" y="3879943"/>
            <a:ext cx="849803" cy="216924"/>
          </a:xfrm>
          <a:prstGeom prst="rect">
            <a:avLst/>
          </a:prstGeom>
        </p:spPr>
        <p:txBody>
          <a:bodyPr wrap="square" lIns="91380" tIns="45691" rIns="91380" bIns="45691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900" kern="0">
                <a:solidFill>
                  <a:prstClr val="black"/>
                </a:solidFill>
                <a:latin typeface="Segoe UI Light"/>
                <a:cs typeface="Segoe UI Light"/>
              </a:rPr>
              <a:t>Spoke2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lang="en-US" sz="900" kern="0">
                <a:solidFill>
                  <a:prstClr val="black"/>
                </a:solidFill>
                <a:latin typeface="Segoe UI Light"/>
                <a:cs typeface="Segoe UI Light"/>
              </a:rPr>
              <a:t>VNet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343494B-5576-B538-9306-AEBA9AB1BCE1}"/>
              </a:ext>
            </a:extLst>
          </p:cNvPr>
          <p:cNvSpPr/>
          <p:nvPr/>
        </p:nvSpPr>
        <p:spPr>
          <a:xfrm>
            <a:off x="9571868" y="4117467"/>
            <a:ext cx="1263143" cy="1094091"/>
          </a:xfrm>
          <a:prstGeom prst="roundRect">
            <a:avLst>
              <a:gd name="adj" fmla="val 10157"/>
            </a:avLst>
          </a:prstGeom>
          <a:solidFill>
            <a:schemeClr val="bg1"/>
          </a:solidFill>
          <a:ln w="1905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2F1CA0B-F9ED-935A-08F8-E991A62490E1}"/>
              </a:ext>
            </a:extLst>
          </p:cNvPr>
          <p:cNvSpPr/>
          <p:nvPr/>
        </p:nvSpPr>
        <p:spPr bwMode="auto">
          <a:xfrm>
            <a:off x="9688593" y="4396533"/>
            <a:ext cx="1022056" cy="682048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EDCF8A2-B7B9-D637-07A6-5A7EDF3D98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22198" y="4653784"/>
            <a:ext cx="171450" cy="1714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CCA3034-796D-0927-7EC6-FAFFD2DB0C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53990" y="4521351"/>
            <a:ext cx="302400" cy="3024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6B90F88-E41A-7906-5B50-B2F3E25973F3}"/>
              </a:ext>
            </a:extLst>
          </p:cNvPr>
          <p:cNvSpPr txBox="1"/>
          <p:nvPr/>
        </p:nvSpPr>
        <p:spPr>
          <a:xfrm>
            <a:off x="9926748" y="4802752"/>
            <a:ext cx="5568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CB56D02-6F1B-E8BE-19E2-F53B279EDE88}"/>
              </a:ext>
            </a:extLst>
          </p:cNvPr>
          <p:cNvSpPr/>
          <p:nvPr/>
        </p:nvSpPr>
        <p:spPr>
          <a:xfrm>
            <a:off x="9811070" y="4198509"/>
            <a:ext cx="944453" cy="2030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8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Workload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Subnet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7F05B5BD-DEAD-8B3E-CD38-85035399E7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88592" y="4205749"/>
            <a:ext cx="188595" cy="188595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8E30344-0140-B2EE-1781-BDAD8EEB1C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12260" y="4416351"/>
            <a:ext cx="171450" cy="1714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74ED45B-A18F-CFC8-3088-DC241431B88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620850" y="2228805"/>
            <a:ext cx="234515" cy="2135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7B9467-8B3F-B547-1995-ACABFB439763}"/>
              </a:ext>
            </a:extLst>
          </p:cNvPr>
          <p:cNvSpPr/>
          <p:nvPr/>
        </p:nvSpPr>
        <p:spPr>
          <a:xfrm>
            <a:off x="9816557" y="2220170"/>
            <a:ext cx="969471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Configurations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37EC2DF-C2FB-C144-1A9A-60EB32A9B00A}"/>
              </a:ext>
            </a:extLst>
          </p:cNvPr>
          <p:cNvSpPr/>
          <p:nvPr/>
        </p:nvSpPr>
        <p:spPr>
          <a:xfrm>
            <a:off x="6976912" y="2187133"/>
            <a:ext cx="1611453" cy="3394321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92" name="Graphic 91">
            <a:extLst>
              <a:ext uri="{FF2B5EF4-FFF2-40B4-BE49-F238E27FC236}">
                <a16:creationId xmlns:a16="http://schemas.microsoft.com/office/drawing/2014/main" id="{76BB4AA2-A671-3268-CF02-06644FFF42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92020" y="1943254"/>
            <a:ext cx="216000" cy="216000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8B34CCAC-DD66-38BD-E130-155528BDE59A}"/>
              </a:ext>
            </a:extLst>
          </p:cNvPr>
          <p:cNvSpPr/>
          <p:nvPr/>
        </p:nvSpPr>
        <p:spPr>
          <a:xfrm>
            <a:off x="7299131" y="1942792"/>
            <a:ext cx="1174126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Virtual Network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4AC2593-19D1-19DD-9112-31E7886150D7}"/>
              </a:ext>
            </a:extLst>
          </p:cNvPr>
          <p:cNvSpPr/>
          <p:nvPr/>
        </p:nvSpPr>
        <p:spPr bwMode="auto">
          <a:xfrm>
            <a:off x="7237474" y="2528639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44773E5C-F05A-73D1-A1C7-D72F939D1F3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76663" y="2569109"/>
            <a:ext cx="171450" cy="17145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AA7837FB-5356-38C2-3473-F51D85C086E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68674" y="2602683"/>
            <a:ext cx="360000" cy="360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38EAEA7-2AE5-1243-EDF3-3807491D92F6}"/>
              </a:ext>
            </a:extLst>
          </p:cNvPr>
          <p:cNvSpPr txBox="1"/>
          <p:nvPr/>
        </p:nvSpPr>
        <p:spPr>
          <a:xfrm>
            <a:off x="7386897" y="2938540"/>
            <a:ext cx="7235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VPN Gateway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8AD3E7-7810-81C4-0D25-B96766068DAE}"/>
              </a:ext>
            </a:extLst>
          </p:cNvPr>
          <p:cNvSpPr txBox="1"/>
          <p:nvPr/>
        </p:nvSpPr>
        <p:spPr>
          <a:xfrm>
            <a:off x="7381247" y="2316344"/>
            <a:ext cx="946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GatewaySubnet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399B4FE5-3768-D7B5-DDE1-B834F4014B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37474" y="2334066"/>
            <a:ext cx="180000" cy="1800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3B5AAFB7-D931-3A9D-E4DA-A1A5D0920321}"/>
              </a:ext>
            </a:extLst>
          </p:cNvPr>
          <p:cNvSpPr txBox="1"/>
          <p:nvPr/>
        </p:nvSpPr>
        <p:spPr>
          <a:xfrm>
            <a:off x="7381264" y="3275117"/>
            <a:ext cx="779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AzureFirewallSubnet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CF794149-C42A-B8F6-43A0-CB2DF72CBAE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37474" y="3354394"/>
            <a:ext cx="180000" cy="180000"/>
          </a:xfrm>
          <a:prstGeom prst="rect">
            <a:avLst/>
          </a:prstGeom>
        </p:spPr>
      </p:pic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3F876E12-A1B2-C8F4-9C4D-F391CF726EC1}"/>
              </a:ext>
            </a:extLst>
          </p:cNvPr>
          <p:cNvSpPr/>
          <p:nvPr/>
        </p:nvSpPr>
        <p:spPr bwMode="auto">
          <a:xfrm>
            <a:off x="7237474" y="3604647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847807F0-41BA-8612-8D04-01D7C6898C4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73373" y="3710660"/>
            <a:ext cx="360000" cy="3600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98DFDD0-D357-AFCC-6C26-8D6FCB59D56C}"/>
              </a:ext>
            </a:extLst>
          </p:cNvPr>
          <p:cNvSpPr txBox="1"/>
          <p:nvPr/>
        </p:nvSpPr>
        <p:spPr>
          <a:xfrm>
            <a:off x="7318523" y="4069301"/>
            <a:ext cx="87690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Firewall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60B59E-2419-7444-C5DA-808E203D631F}"/>
              </a:ext>
            </a:extLst>
          </p:cNvPr>
          <p:cNvSpPr txBox="1"/>
          <p:nvPr/>
        </p:nvSpPr>
        <p:spPr>
          <a:xfrm>
            <a:off x="7373413" y="4316047"/>
            <a:ext cx="787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AzureBastionSubnet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FEA09A5F-688F-541B-7D20-FCF98A65637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37474" y="4395324"/>
            <a:ext cx="180000" cy="180000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2A7988F-506F-F0AA-9F1B-9A18887E2368}"/>
              </a:ext>
            </a:extLst>
          </p:cNvPr>
          <p:cNvSpPr/>
          <p:nvPr/>
        </p:nvSpPr>
        <p:spPr bwMode="auto">
          <a:xfrm>
            <a:off x="7237474" y="4638640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92E9F0-1E9B-8F84-1343-A5AAD01924BD}"/>
              </a:ext>
            </a:extLst>
          </p:cNvPr>
          <p:cNvSpPr/>
          <p:nvPr/>
        </p:nvSpPr>
        <p:spPr>
          <a:xfrm>
            <a:off x="7308403" y="5080106"/>
            <a:ext cx="876641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Bastion</a:t>
            </a: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848A9CF-5A53-A224-A3FF-030B36E5797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63123" y="4716518"/>
            <a:ext cx="360000" cy="36000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C57B5692-DF34-3213-372A-7E2FE19435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79312" y="2784914"/>
            <a:ext cx="171450" cy="171450"/>
          </a:xfrm>
          <a:prstGeom prst="rect">
            <a:avLst/>
          </a:prstGeom>
        </p:spPr>
      </p:pic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9C5AE9D0-5ECB-B4A0-AC7C-DF44519C2BB0}"/>
              </a:ext>
            </a:extLst>
          </p:cNvPr>
          <p:cNvCxnSpPr>
            <a:stCxn id="27" idx="1"/>
            <a:endCxn id="23" idx="3"/>
          </p:cNvCxnSpPr>
          <p:nvPr/>
        </p:nvCxnSpPr>
        <p:spPr>
          <a:xfrm rot="10800000" flipV="1">
            <a:off x="8588366" y="3255106"/>
            <a:ext cx="983503" cy="629187"/>
          </a:xfrm>
          <a:prstGeom prst="bentConnector3">
            <a:avLst/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6">
            <a:extLst>
              <a:ext uri="{FF2B5EF4-FFF2-40B4-BE49-F238E27FC236}">
                <a16:creationId xmlns:a16="http://schemas.microsoft.com/office/drawing/2014/main" id="{4EF1BC48-5DC1-B1CA-A91F-DF2192381C8F}"/>
              </a:ext>
            </a:extLst>
          </p:cNvPr>
          <p:cNvSpPr txBox="1"/>
          <p:nvPr/>
        </p:nvSpPr>
        <p:spPr>
          <a:xfrm>
            <a:off x="8609897" y="3533922"/>
            <a:ext cx="466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/>
            </a:lvl1pPr>
          </a:lstStyle>
          <a:p>
            <a:pPr>
              <a:defRPr/>
            </a:pPr>
            <a:r>
              <a:rPr lang="en-IN" sz="700" err="1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VNet</a:t>
            </a: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pPr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Peering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33217C6-40C7-213E-72C4-7C6EA4CB3D33}"/>
              </a:ext>
            </a:extLst>
          </p:cNvPr>
          <p:cNvSpPr txBox="1"/>
          <p:nvPr/>
        </p:nvSpPr>
        <p:spPr>
          <a:xfrm>
            <a:off x="8613481" y="4060214"/>
            <a:ext cx="466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/>
            </a:lvl1pPr>
          </a:lstStyle>
          <a:p>
            <a:pPr>
              <a:defRPr/>
            </a:pPr>
            <a:r>
              <a:rPr lang="en-IN" sz="700" err="1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VNet</a:t>
            </a: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pPr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Peering</a:t>
            </a:r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872AC903-7ABA-DC27-27C5-60C08B1DC3DF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595852" y="4022725"/>
            <a:ext cx="976016" cy="641788"/>
          </a:xfrm>
          <a:prstGeom prst="bentConnector3">
            <a:avLst/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89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A64E1-8440-5E1D-F294-09D6868CF05F}"/>
              </a:ext>
            </a:extLst>
          </p:cNvPr>
          <p:cNvSpPr txBox="1"/>
          <p:nvPr/>
        </p:nvSpPr>
        <p:spPr>
          <a:xfrm>
            <a:off x="134471" y="304801"/>
            <a:ext cx="6275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Azure Virtual Desktop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E4987A-D494-6669-6C3F-C9E4622FC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1752" y="2131059"/>
            <a:ext cx="198000" cy="19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1D1BB3-47B1-73AE-75C2-C3E8588A9570}"/>
              </a:ext>
            </a:extLst>
          </p:cNvPr>
          <p:cNvSpPr txBox="1"/>
          <p:nvPr/>
        </p:nvSpPr>
        <p:spPr>
          <a:xfrm>
            <a:off x="3767581" y="2106949"/>
            <a:ext cx="1324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>
                <a:latin typeface="Segoe UI Light" panose="020B0502040204020203" pitchFamily="34" charset="0"/>
                <a:cs typeface="Segoe UI Light" panose="020B0502040204020203" pitchFamily="34" charset="0"/>
              </a:rPr>
              <a:t>Hub Resource Group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7BAD2E2D-6171-2872-2C54-DC61235B2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382" y="2099569"/>
            <a:ext cx="198000" cy="198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F1FED18-30AE-651B-C980-09E0F8A650ED}"/>
              </a:ext>
            </a:extLst>
          </p:cNvPr>
          <p:cNvSpPr txBox="1"/>
          <p:nvPr/>
        </p:nvSpPr>
        <p:spPr>
          <a:xfrm>
            <a:off x="7057211" y="2075459"/>
            <a:ext cx="1321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>
                <a:latin typeface="Segoe UI Light" panose="020B0502040204020203" pitchFamily="34" charset="0"/>
                <a:cs typeface="Segoe UI Light" panose="020B0502040204020203" pitchFamily="34" charset="0"/>
              </a:rPr>
              <a:t>AVD Resource Group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C385CA0-E70B-4A4D-5FD7-1C4AAD8A8778}"/>
              </a:ext>
            </a:extLst>
          </p:cNvPr>
          <p:cNvSpPr/>
          <p:nvPr/>
        </p:nvSpPr>
        <p:spPr>
          <a:xfrm>
            <a:off x="6926958" y="2321053"/>
            <a:ext cx="4764523" cy="1373084"/>
          </a:xfrm>
          <a:prstGeom prst="roundRect">
            <a:avLst>
              <a:gd name="adj" fmla="val 10224"/>
            </a:avLst>
          </a:prstGeom>
          <a:solidFill>
            <a:srgbClr val="EC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IN" ker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1DDA25E8-29FF-D7A6-AF57-FF2C7CEEA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1102" y="2368283"/>
            <a:ext cx="172800" cy="17280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3ECF0583-BEDE-EDC1-FDA2-4205D3C5423B}"/>
              </a:ext>
            </a:extLst>
          </p:cNvPr>
          <p:cNvSpPr txBox="1"/>
          <p:nvPr/>
        </p:nvSpPr>
        <p:spPr>
          <a:xfrm>
            <a:off x="7927655" y="2339267"/>
            <a:ext cx="68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9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AVD VNet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5FCA947-4968-AE7A-3027-DEB55183A720}"/>
              </a:ext>
            </a:extLst>
          </p:cNvPr>
          <p:cNvSpPr/>
          <p:nvPr/>
        </p:nvSpPr>
        <p:spPr>
          <a:xfrm>
            <a:off x="7025323" y="2545138"/>
            <a:ext cx="2362911" cy="1002194"/>
          </a:xfrm>
          <a:prstGeom prst="roundRect">
            <a:avLst>
              <a:gd name="adj" fmla="val 8447"/>
            </a:avLst>
          </a:prstGeom>
          <a:solidFill>
            <a:schemeClr val="bg1"/>
          </a:solidFill>
          <a:ln w="15875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 sz="901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C8E7660-9F05-43ED-629A-2DEA407E765D}"/>
              </a:ext>
            </a:extLst>
          </p:cNvPr>
          <p:cNvSpPr/>
          <p:nvPr/>
        </p:nvSpPr>
        <p:spPr bwMode="auto">
          <a:xfrm>
            <a:off x="7207922" y="2765020"/>
            <a:ext cx="1998910" cy="676800"/>
          </a:xfrm>
          <a:prstGeom prst="roundRect">
            <a:avLst>
              <a:gd name="adj" fmla="val 13022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10088">
              <a:spcAft>
                <a:spcPct val="35000"/>
              </a:spcAft>
              <a:defRPr/>
            </a:pPr>
            <a:endParaRPr lang="en-US" sz="901" kern="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AC6DE2-B3CB-3D0D-3E14-788922D9F6F7}"/>
              </a:ext>
            </a:extLst>
          </p:cNvPr>
          <p:cNvSpPr txBox="1"/>
          <p:nvPr/>
        </p:nvSpPr>
        <p:spPr>
          <a:xfrm>
            <a:off x="7307103" y="2555279"/>
            <a:ext cx="926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8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Host Pool Subnet</a:t>
            </a:r>
            <a:endParaRPr lang="en-US" sz="8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04D6DE68-91B1-E4A1-E193-B449623826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8677" y="2587401"/>
            <a:ext cx="151200" cy="1512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62CF85A0-5C6C-92DB-C9A6-DDB1C4BF4C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0671" y="2882326"/>
            <a:ext cx="324000" cy="3240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9EE7B36B-5B46-C97A-0ABE-1CD7FA0108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5377" y="2882326"/>
            <a:ext cx="324000" cy="324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B33FCB0B-48D7-4A3B-1445-8BA9D3CCDC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0083" y="2882326"/>
            <a:ext cx="324000" cy="3240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2996FA25-6BD7-EEF9-A1DA-DFBAE325D8D8}"/>
              </a:ext>
            </a:extLst>
          </p:cNvPr>
          <p:cNvSpPr txBox="1"/>
          <p:nvPr/>
        </p:nvSpPr>
        <p:spPr>
          <a:xfrm>
            <a:off x="7672954" y="3215625"/>
            <a:ext cx="1080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Session Host Desktops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D03ADA5-5E47-DA99-EF2A-E1F90F79C09C}"/>
              </a:ext>
            </a:extLst>
          </p:cNvPr>
          <p:cNvSpPr/>
          <p:nvPr/>
        </p:nvSpPr>
        <p:spPr>
          <a:xfrm>
            <a:off x="9555125" y="2542665"/>
            <a:ext cx="1875842" cy="993619"/>
          </a:xfrm>
          <a:prstGeom prst="rect">
            <a:avLst/>
          </a:prstGeom>
          <a:noFill/>
          <a:ln w="19050">
            <a:solidFill>
              <a:srgbClr val="2BCBE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00EF9C1-7CA0-A44F-C727-938EBD08F8A1}"/>
              </a:ext>
            </a:extLst>
          </p:cNvPr>
          <p:cNvSpPr/>
          <p:nvPr/>
        </p:nvSpPr>
        <p:spPr>
          <a:xfrm>
            <a:off x="9721814" y="2715183"/>
            <a:ext cx="1526244" cy="715590"/>
          </a:xfrm>
          <a:prstGeom prst="rect">
            <a:avLst/>
          </a:prstGeom>
          <a:noFill/>
          <a:ln w="19050">
            <a:solidFill>
              <a:srgbClr val="0F7FD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5" name="TextBox 116">
            <a:extLst>
              <a:ext uri="{FF2B5EF4-FFF2-40B4-BE49-F238E27FC236}">
                <a16:creationId xmlns:a16="http://schemas.microsoft.com/office/drawing/2014/main" id="{F5B98C34-99EB-3CC0-7446-7F826FFC6C6E}"/>
              </a:ext>
            </a:extLst>
          </p:cNvPr>
          <p:cNvSpPr txBox="1"/>
          <p:nvPr/>
        </p:nvSpPr>
        <p:spPr>
          <a:xfrm>
            <a:off x="10359751" y="2533925"/>
            <a:ext cx="834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8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Workspace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9FD82C7-5BCE-22A0-F049-2ACFCA91FF13}"/>
              </a:ext>
            </a:extLst>
          </p:cNvPr>
          <p:cNvSpPr txBox="1"/>
          <p:nvPr/>
        </p:nvSpPr>
        <p:spPr>
          <a:xfrm>
            <a:off x="10100607" y="2339267"/>
            <a:ext cx="1250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>
              <a:defRPr/>
            </a:pPr>
            <a:r>
              <a:rPr lang="en-IN" sz="900"/>
              <a:t>Azure Virtual Desktop 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D28D1F6-FE64-3D14-8B93-1319D3A6CCBC}"/>
              </a:ext>
            </a:extLst>
          </p:cNvPr>
          <p:cNvSpPr/>
          <p:nvPr/>
        </p:nvSpPr>
        <p:spPr>
          <a:xfrm>
            <a:off x="9870738" y="2839713"/>
            <a:ext cx="1252433" cy="386735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8" name="TextBox 116">
            <a:extLst>
              <a:ext uri="{FF2B5EF4-FFF2-40B4-BE49-F238E27FC236}">
                <a16:creationId xmlns:a16="http://schemas.microsoft.com/office/drawing/2014/main" id="{E3788167-78F6-203F-AD7C-B6438E21C887}"/>
              </a:ext>
            </a:extLst>
          </p:cNvPr>
          <p:cNvSpPr txBox="1"/>
          <p:nvPr/>
        </p:nvSpPr>
        <p:spPr>
          <a:xfrm>
            <a:off x="9870739" y="3204578"/>
            <a:ext cx="6044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App Group</a:t>
            </a:r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EFC3D277-5ECF-A1E8-97E0-A70BF5DB66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02696" y="2871279"/>
            <a:ext cx="324000" cy="324000"/>
          </a:xfrm>
          <a:prstGeom prst="rect">
            <a:avLst/>
          </a:prstGeom>
        </p:spPr>
      </p:pic>
      <p:sp>
        <p:nvSpPr>
          <p:cNvPr id="90" name="TextBox 116">
            <a:extLst>
              <a:ext uri="{FF2B5EF4-FFF2-40B4-BE49-F238E27FC236}">
                <a16:creationId xmlns:a16="http://schemas.microsoft.com/office/drawing/2014/main" id="{D6257610-262F-C988-2E86-C46FCA0416E4}"/>
              </a:ext>
            </a:extLst>
          </p:cNvPr>
          <p:cNvSpPr txBox="1"/>
          <p:nvPr/>
        </p:nvSpPr>
        <p:spPr>
          <a:xfrm>
            <a:off x="10559412" y="3204578"/>
            <a:ext cx="5528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Host Pool</a:t>
            </a:r>
          </a:p>
        </p:txBody>
      </p:sp>
      <p:pic>
        <p:nvPicPr>
          <p:cNvPr id="91" name="Graphic 90">
            <a:extLst>
              <a:ext uri="{FF2B5EF4-FFF2-40B4-BE49-F238E27FC236}">
                <a16:creationId xmlns:a16="http://schemas.microsoft.com/office/drawing/2014/main" id="{93A6FA56-8234-E005-99B9-B1CCC27918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68251" y="2871279"/>
            <a:ext cx="324000" cy="324000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C1BCB634-78CE-2093-134D-8DD763DD43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84579" y="2396828"/>
            <a:ext cx="288000" cy="2880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B2BF83C4-D21B-3A66-EAF2-BA809A642FA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118891" y="2608523"/>
            <a:ext cx="252000" cy="252000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1E039F37-1E16-8D34-698E-A2929FE38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183" y="3765894"/>
            <a:ext cx="198000" cy="198000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53B0FEFE-A4F9-48E9-4CEF-D63AA61C1B5E}"/>
              </a:ext>
            </a:extLst>
          </p:cNvPr>
          <p:cNvSpPr txBox="1"/>
          <p:nvPr/>
        </p:nvSpPr>
        <p:spPr>
          <a:xfrm>
            <a:off x="7057012" y="3741784"/>
            <a:ext cx="19000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>
                <a:latin typeface="Segoe UI Light" panose="020B0502040204020203" pitchFamily="34" charset="0"/>
                <a:cs typeface="Segoe UI Light" panose="020B0502040204020203" pitchFamily="34" charset="0"/>
              </a:rPr>
              <a:t>Spoke Network Resource Group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8584128-46A2-6270-F485-C63D2109AB4B}"/>
              </a:ext>
            </a:extLst>
          </p:cNvPr>
          <p:cNvSpPr txBox="1"/>
          <p:nvPr/>
        </p:nvSpPr>
        <p:spPr>
          <a:xfrm>
            <a:off x="3751927" y="1770333"/>
            <a:ext cx="146687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1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Subscription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EABB159-8611-9239-B9B8-CB3831FEF223}"/>
              </a:ext>
            </a:extLst>
          </p:cNvPr>
          <p:cNvSpPr/>
          <p:nvPr/>
        </p:nvSpPr>
        <p:spPr>
          <a:xfrm>
            <a:off x="3520569" y="2051521"/>
            <a:ext cx="8366631" cy="3330104"/>
          </a:xfrm>
          <a:prstGeom prst="rect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2000" ker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1D93D0CC-8D31-08DA-DFD5-8E6C7E1C893F}"/>
              </a:ext>
            </a:extLst>
          </p:cNvPr>
          <p:cNvSpPr/>
          <p:nvPr/>
        </p:nvSpPr>
        <p:spPr>
          <a:xfrm>
            <a:off x="9075846" y="4384104"/>
            <a:ext cx="2595554" cy="7739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 u="sng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FBA91C0-8DE1-A40D-12B3-B8E1502EE734}"/>
              </a:ext>
            </a:extLst>
          </p:cNvPr>
          <p:cNvSpPr txBox="1"/>
          <p:nvPr/>
        </p:nvSpPr>
        <p:spPr>
          <a:xfrm>
            <a:off x="11064090" y="4791784"/>
            <a:ext cx="653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Policy for APIM</a:t>
            </a:r>
            <a:endParaRPr lang="en-IN" sz="7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9CB4F48-9D26-8694-ACD9-BA26061CE466}"/>
              </a:ext>
            </a:extLst>
          </p:cNvPr>
          <p:cNvSpPr txBox="1"/>
          <p:nvPr/>
        </p:nvSpPr>
        <p:spPr>
          <a:xfrm>
            <a:off x="10647200" y="4791784"/>
            <a:ext cx="460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backup</a:t>
            </a:r>
            <a:endParaRPr lang="en-IN" sz="7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C359FBC-E8AF-89D6-088A-F0207FF3EAD4}"/>
              </a:ext>
            </a:extLst>
          </p:cNvPr>
          <p:cNvSpPr txBox="1"/>
          <p:nvPr/>
        </p:nvSpPr>
        <p:spPr>
          <a:xfrm>
            <a:off x="10023974" y="4791784"/>
            <a:ext cx="674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Log Analytics Workspace</a:t>
            </a:r>
            <a:endParaRPr lang="en-IN" sz="7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36" name="Graphic 135">
            <a:extLst>
              <a:ext uri="{FF2B5EF4-FFF2-40B4-BE49-F238E27FC236}">
                <a16:creationId xmlns:a16="http://schemas.microsoft.com/office/drawing/2014/main" id="{25CFAB98-251B-D3B9-5073-874706B1F09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715520" y="4476210"/>
            <a:ext cx="324000" cy="3240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FDC387ED-C423-E0FD-E954-10563E8421B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99372" y="4476210"/>
            <a:ext cx="324000" cy="324000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0F925C27-4DD7-346B-59C0-7ADD7CBE502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28759" y="4476210"/>
            <a:ext cx="324000" cy="324000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B262C5F8-1946-ED27-B6EC-49A4AFB7A9DD}"/>
              </a:ext>
            </a:extLst>
          </p:cNvPr>
          <p:cNvSpPr txBox="1"/>
          <p:nvPr/>
        </p:nvSpPr>
        <p:spPr>
          <a:xfrm>
            <a:off x="9659025" y="4791784"/>
            <a:ext cx="40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AD</a:t>
            </a:r>
            <a:endParaRPr lang="en-IN" sz="7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41" name="Graphic 140">
            <a:extLst>
              <a:ext uri="{FF2B5EF4-FFF2-40B4-BE49-F238E27FC236}">
                <a16:creationId xmlns:a16="http://schemas.microsoft.com/office/drawing/2014/main" id="{47C33A93-B408-99E1-538E-96E2930EDA8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69774" y="4476210"/>
            <a:ext cx="324000" cy="3240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D017498C-D54D-4335-0365-C9A4D38D1B93}"/>
              </a:ext>
            </a:extLst>
          </p:cNvPr>
          <p:cNvSpPr txBox="1"/>
          <p:nvPr/>
        </p:nvSpPr>
        <p:spPr>
          <a:xfrm>
            <a:off x="9090781" y="4791784"/>
            <a:ext cx="481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Monitor</a:t>
            </a:r>
            <a:endParaRPr lang="en-IN" sz="7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65" name="Graphic 164">
            <a:extLst>
              <a:ext uri="{FF2B5EF4-FFF2-40B4-BE49-F238E27FC236}">
                <a16:creationId xmlns:a16="http://schemas.microsoft.com/office/drawing/2014/main" id="{A0FCC796-C928-271D-7823-C9D99D13223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11279" y="4471897"/>
            <a:ext cx="343405" cy="323296"/>
          </a:xfrm>
          <a:prstGeom prst="rect">
            <a:avLst/>
          </a:prstGeom>
        </p:spPr>
      </p:pic>
      <p:sp>
        <p:nvSpPr>
          <p:cNvPr id="166" name="Rectangle 165">
            <a:extLst>
              <a:ext uri="{FF2B5EF4-FFF2-40B4-BE49-F238E27FC236}">
                <a16:creationId xmlns:a16="http://schemas.microsoft.com/office/drawing/2014/main" id="{E11C077A-9E71-902E-3A59-7DCBE1BB588B}"/>
              </a:ext>
            </a:extLst>
          </p:cNvPr>
          <p:cNvSpPr/>
          <p:nvPr/>
        </p:nvSpPr>
        <p:spPr>
          <a:xfrm>
            <a:off x="2072685" y="4795193"/>
            <a:ext cx="620591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algn="ctr" defTabSz="913739">
              <a:lnSpc>
                <a:spcPct val="90000"/>
              </a:lnSpc>
              <a:spcAft>
                <a:spcPts val="588"/>
              </a:spcAft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P2S User</a:t>
            </a:r>
          </a:p>
        </p:txBody>
      </p:sp>
      <p:sp>
        <p:nvSpPr>
          <p:cNvPr id="167" name="TextBox 114">
            <a:extLst>
              <a:ext uri="{FF2B5EF4-FFF2-40B4-BE49-F238E27FC236}">
                <a16:creationId xmlns:a16="http://schemas.microsoft.com/office/drawing/2014/main" id="{58B0740E-7B6D-E078-CCD7-FF4DB3244FFA}"/>
              </a:ext>
            </a:extLst>
          </p:cNvPr>
          <p:cNvSpPr txBox="1"/>
          <p:nvPr/>
        </p:nvSpPr>
        <p:spPr>
          <a:xfrm>
            <a:off x="2665865" y="4533517"/>
            <a:ext cx="7016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24">
              <a:buClr>
                <a:srgbClr val="000000"/>
              </a:buClr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Point-to-Site</a:t>
            </a:r>
            <a:endParaRPr lang="en-IN" sz="5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D31AA58-92D4-97E1-1852-6CD0C55128DD}"/>
              </a:ext>
            </a:extLst>
          </p:cNvPr>
          <p:cNvSpPr/>
          <p:nvPr/>
        </p:nvSpPr>
        <p:spPr>
          <a:xfrm>
            <a:off x="2859163" y="2860523"/>
            <a:ext cx="591185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algn="ctr" defTabSz="913714">
              <a:lnSpc>
                <a:spcPct val="90000"/>
              </a:lnSpc>
              <a:spcAft>
                <a:spcPts val="588"/>
              </a:spcAft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Site to Site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C7BCFE3-881E-40C9-1F59-DBC0247E493D}"/>
              </a:ext>
            </a:extLst>
          </p:cNvPr>
          <p:cNvSpPr/>
          <p:nvPr/>
        </p:nvSpPr>
        <p:spPr>
          <a:xfrm>
            <a:off x="3631750" y="2353072"/>
            <a:ext cx="2694166" cy="2844404"/>
          </a:xfrm>
          <a:prstGeom prst="roundRect">
            <a:avLst>
              <a:gd name="adj" fmla="val 5513"/>
            </a:avLst>
          </a:prstGeom>
          <a:solidFill>
            <a:srgbClr val="EC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IN" ker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36E1512E-FD2D-A4D6-19CF-4602DF6A6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8505" y="2355847"/>
            <a:ext cx="174240" cy="174240"/>
          </a:xfrm>
          <a:prstGeom prst="rect">
            <a:avLst/>
          </a:prstGeom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278C7511-0C80-B1BC-A0D8-D9597946EABE}"/>
              </a:ext>
            </a:extLst>
          </p:cNvPr>
          <p:cNvSpPr txBox="1"/>
          <p:nvPr/>
        </p:nvSpPr>
        <p:spPr>
          <a:xfrm>
            <a:off x="4685834" y="2327551"/>
            <a:ext cx="6933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latin typeface="Segoe UI Light" panose="020B0502040204020203" pitchFamily="34" charset="0"/>
                <a:cs typeface="Segoe UI Light" panose="020B0502040204020203" pitchFamily="34" charset="0"/>
              </a:rPr>
              <a:t>Hub VNet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F2BDED34-FD63-92C0-C815-DDD74FA40E8E}"/>
              </a:ext>
            </a:extLst>
          </p:cNvPr>
          <p:cNvSpPr/>
          <p:nvPr/>
        </p:nvSpPr>
        <p:spPr>
          <a:xfrm>
            <a:off x="3748074" y="2530406"/>
            <a:ext cx="2461518" cy="1941491"/>
          </a:xfrm>
          <a:prstGeom prst="roundRect">
            <a:avLst>
              <a:gd name="adj" fmla="val 6703"/>
            </a:avLst>
          </a:prstGeom>
          <a:solidFill>
            <a:schemeClr val="bg1"/>
          </a:solidFill>
          <a:ln w="19050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E2A6418-00EB-88A1-E01C-B277CBE58641}"/>
              </a:ext>
            </a:extLst>
          </p:cNvPr>
          <p:cNvSpPr txBox="1"/>
          <p:nvPr/>
        </p:nvSpPr>
        <p:spPr>
          <a:xfrm>
            <a:off x="4052883" y="3099974"/>
            <a:ext cx="6976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00">
                <a:latin typeface="Segoe UI Light" panose="020B0502040204020203" pitchFamily="34" charset="0"/>
                <a:cs typeface="Segoe UI Light" panose="020B0502040204020203" pitchFamily="34" charset="0"/>
              </a:rPr>
              <a:t>VPN Gateway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75B869AE-8A8C-014C-2B11-723AB5490D3E}"/>
              </a:ext>
            </a:extLst>
          </p:cNvPr>
          <p:cNvSpPr/>
          <p:nvPr/>
        </p:nvSpPr>
        <p:spPr>
          <a:xfrm>
            <a:off x="5025786" y="2785527"/>
            <a:ext cx="1062080" cy="684000"/>
          </a:xfrm>
          <a:prstGeom prst="roundRect">
            <a:avLst/>
          </a:prstGeom>
          <a:solidFill>
            <a:srgbClr val="F4F4F4"/>
          </a:solidFill>
          <a:ln w="19050" cap="rnd">
            <a:solidFill>
              <a:srgbClr val="4472C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09" name="Graphic 208">
            <a:extLst>
              <a:ext uri="{FF2B5EF4-FFF2-40B4-BE49-F238E27FC236}">
                <a16:creationId xmlns:a16="http://schemas.microsoft.com/office/drawing/2014/main" id="{C76AE3D4-167B-F29A-8CC8-5F2C126329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829449" y="2589193"/>
            <a:ext cx="152460" cy="152460"/>
          </a:xfrm>
          <a:prstGeom prst="rect">
            <a:avLst/>
          </a:prstGeom>
        </p:spPr>
      </p:pic>
      <p:sp>
        <p:nvSpPr>
          <p:cNvPr id="210" name="TextBox 209">
            <a:extLst>
              <a:ext uri="{FF2B5EF4-FFF2-40B4-BE49-F238E27FC236}">
                <a16:creationId xmlns:a16="http://schemas.microsoft.com/office/drawing/2014/main" id="{76F310C5-2740-5EAF-BCB4-CE3DECE8C15F}"/>
              </a:ext>
            </a:extLst>
          </p:cNvPr>
          <p:cNvSpPr txBox="1"/>
          <p:nvPr/>
        </p:nvSpPr>
        <p:spPr>
          <a:xfrm>
            <a:off x="3909223" y="2557701"/>
            <a:ext cx="8712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>
                <a:latin typeface="Segoe UI Light" panose="020B0502040204020203" pitchFamily="34" charset="0"/>
                <a:cs typeface="Segoe UI Light" panose="020B0502040204020203" pitchFamily="34" charset="0"/>
              </a:rPr>
              <a:t>GatewaySubnet</a:t>
            </a:r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9C522DA-20CE-7BA4-5ADD-B61CA7C025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025786" y="2589823"/>
            <a:ext cx="151200" cy="151200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C40F99F4-E055-D6BB-C588-0BC8C6B3E25C}"/>
              </a:ext>
            </a:extLst>
          </p:cNvPr>
          <p:cNvSpPr txBox="1"/>
          <p:nvPr/>
        </p:nvSpPr>
        <p:spPr>
          <a:xfrm>
            <a:off x="5118552" y="2557701"/>
            <a:ext cx="10477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err="1">
                <a:latin typeface="Segoe UI Light" panose="020B0502040204020203" pitchFamily="34" charset="0"/>
                <a:cs typeface="Segoe UI Light" panose="020B0502040204020203" pitchFamily="34" charset="0"/>
              </a:rPr>
              <a:t>AzureFirewallSubnet</a:t>
            </a:r>
            <a:endParaRPr lang="en-IN" sz="8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05" name="Graphic 204">
            <a:extLst>
              <a:ext uri="{FF2B5EF4-FFF2-40B4-BE49-F238E27FC236}">
                <a16:creationId xmlns:a16="http://schemas.microsoft.com/office/drawing/2014/main" id="{0543FCAB-3249-A4BC-E61D-7F0E1C6FD6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842679" y="3526236"/>
            <a:ext cx="151200" cy="151200"/>
          </a:xfrm>
          <a:prstGeom prst="rect">
            <a:avLst/>
          </a:prstGeom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6B9332A8-47CA-F178-8B21-0417BD386AE0}"/>
              </a:ext>
            </a:extLst>
          </p:cNvPr>
          <p:cNvSpPr txBox="1"/>
          <p:nvPr/>
        </p:nvSpPr>
        <p:spPr>
          <a:xfrm>
            <a:off x="3936746" y="3494114"/>
            <a:ext cx="6264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>
                <a:latin typeface="Segoe UI Light" panose="020B0502040204020203" pitchFamily="34" charset="0"/>
                <a:cs typeface="Segoe UI Light" panose="020B0502040204020203" pitchFamily="34" charset="0"/>
              </a:rPr>
              <a:t>PE Subnet</a:t>
            </a:r>
          </a:p>
        </p:txBody>
      </p:sp>
      <p:pic>
        <p:nvPicPr>
          <p:cNvPr id="179" name="Graphic 178">
            <a:extLst>
              <a:ext uri="{FF2B5EF4-FFF2-40B4-BE49-F238E27FC236}">
                <a16:creationId xmlns:a16="http://schemas.microsoft.com/office/drawing/2014/main" id="{9569E5FA-9156-6511-8DF6-A97C326F1E6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394826" y="2888301"/>
            <a:ext cx="324000" cy="324000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EEED2155-99F8-9F2B-FC36-6904CE65B23E}"/>
              </a:ext>
            </a:extLst>
          </p:cNvPr>
          <p:cNvSpPr txBox="1"/>
          <p:nvPr/>
        </p:nvSpPr>
        <p:spPr>
          <a:xfrm>
            <a:off x="5205608" y="3166470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700">
                <a:latin typeface="Segoe UI Light" panose="020B0502040204020203" pitchFamily="34" charset="0"/>
                <a:cs typeface="Segoe UI Light" panose="020B0502040204020203" pitchFamily="34" charset="0"/>
              </a:rPr>
              <a:t>Azure Firewall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50CE8331-74DF-74A6-D576-21863895AFC5}"/>
              </a:ext>
            </a:extLst>
          </p:cNvPr>
          <p:cNvSpPr/>
          <p:nvPr/>
        </p:nvSpPr>
        <p:spPr>
          <a:xfrm>
            <a:off x="3842679" y="2785527"/>
            <a:ext cx="1062080" cy="684000"/>
          </a:xfrm>
          <a:prstGeom prst="roundRect">
            <a:avLst>
              <a:gd name="adj" fmla="val 13882"/>
            </a:avLst>
          </a:prstGeom>
          <a:solidFill>
            <a:srgbClr val="F4F4F4"/>
          </a:solidFill>
          <a:ln w="19050" cap="rnd">
            <a:solidFill>
              <a:srgbClr val="4472C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C774A3F6-329E-55E9-894F-868A68C8CBEF}"/>
              </a:ext>
            </a:extLst>
          </p:cNvPr>
          <p:cNvSpPr/>
          <p:nvPr/>
        </p:nvSpPr>
        <p:spPr>
          <a:xfrm>
            <a:off x="5025786" y="3668377"/>
            <a:ext cx="1061700" cy="684000"/>
          </a:xfrm>
          <a:prstGeom prst="roundRect">
            <a:avLst>
              <a:gd name="adj" fmla="val 12837"/>
            </a:avLst>
          </a:prstGeom>
          <a:solidFill>
            <a:srgbClr val="F4F4F4"/>
          </a:solidFill>
          <a:ln w="19050" cap="rnd">
            <a:solidFill>
              <a:srgbClr val="4472C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03" name="Graphic 202">
            <a:extLst>
              <a:ext uri="{FF2B5EF4-FFF2-40B4-BE49-F238E27FC236}">
                <a16:creationId xmlns:a16="http://schemas.microsoft.com/office/drawing/2014/main" id="{8BE4233B-794D-36E5-C630-3284616F5A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025786" y="3526236"/>
            <a:ext cx="151200" cy="151200"/>
          </a:xfrm>
          <a:prstGeom prst="rect">
            <a:avLst/>
          </a:prstGeom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0A36A6C6-FA7D-F268-44C4-02B899D1CF28}"/>
              </a:ext>
            </a:extLst>
          </p:cNvPr>
          <p:cNvSpPr txBox="1"/>
          <p:nvPr/>
        </p:nvSpPr>
        <p:spPr>
          <a:xfrm>
            <a:off x="5107621" y="3494114"/>
            <a:ext cx="7381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>
                <a:latin typeface="Segoe UI Light" panose="020B0502040204020203" pitchFamily="34" charset="0"/>
                <a:cs typeface="Segoe UI Light" panose="020B0502040204020203" pitchFamily="34" charset="0"/>
              </a:rPr>
              <a:t>APIM Subnet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1CA0A3BA-5E9F-C5AB-E665-660C22B01A2B}"/>
              </a:ext>
            </a:extLst>
          </p:cNvPr>
          <p:cNvSpPr/>
          <p:nvPr/>
        </p:nvSpPr>
        <p:spPr>
          <a:xfrm>
            <a:off x="3842679" y="3668377"/>
            <a:ext cx="1062080" cy="684000"/>
          </a:xfrm>
          <a:prstGeom prst="roundRect">
            <a:avLst>
              <a:gd name="adj" fmla="val 13882"/>
            </a:avLst>
          </a:prstGeom>
          <a:solidFill>
            <a:srgbClr val="F4F4F4"/>
          </a:solidFill>
          <a:ln w="19050" cap="rnd">
            <a:solidFill>
              <a:srgbClr val="4472C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88" name="Graphic 187">
            <a:extLst>
              <a:ext uri="{FF2B5EF4-FFF2-40B4-BE49-F238E27FC236}">
                <a16:creationId xmlns:a16="http://schemas.microsoft.com/office/drawing/2014/main" id="{75B41AE0-71C1-CCE1-01D2-964A8734CC0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211719" y="3751099"/>
            <a:ext cx="324000" cy="324000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B5CEC299-2AA0-D82F-BA40-C14FF41FDD19}"/>
              </a:ext>
            </a:extLst>
          </p:cNvPr>
          <p:cNvSpPr txBox="1">
            <a:spLocks/>
          </p:cNvSpPr>
          <p:nvPr/>
        </p:nvSpPr>
        <p:spPr>
          <a:xfrm>
            <a:off x="3938193" y="4066248"/>
            <a:ext cx="8710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pPr>
              <a:defRPr/>
            </a:pPr>
            <a:r>
              <a:rPr lang="en-US" sz="700">
                <a:latin typeface="Segoe UI Light" panose="020B0502040204020203" pitchFamily="34" charset="0"/>
                <a:cs typeface="Segoe UI Light" panose="020B0502040204020203" pitchFamily="34" charset="0"/>
              </a:rPr>
              <a:t>Container Registry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B42C67B-3E0B-52B3-9F87-C11EE342A5C8}"/>
              </a:ext>
            </a:extLst>
          </p:cNvPr>
          <p:cNvSpPr txBox="1"/>
          <p:nvPr/>
        </p:nvSpPr>
        <p:spPr>
          <a:xfrm>
            <a:off x="5137379" y="4066248"/>
            <a:ext cx="8388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>
                <a:latin typeface="Segoe UI Light" panose="020B0502040204020203" pitchFamily="34" charset="0"/>
                <a:cs typeface="Segoe UI Light" panose="020B0502040204020203" pitchFamily="34" charset="0"/>
              </a:rPr>
              <a:t>API Management</a:t>
            </a:r>
          </a:p>
        </p:txBody>
      </p:sp>
      <p:pic>
        <p:nvPicPr>
          <p:cNvPr id="194" name="Graphic 193">
            <a:extLst>
              <a:ext uri="{FF2B5EF4-FFF2-40B4-BE49-F238E27FC236}">
                <a16:creationId xmlns:a16="http://schemas.microsoft.com/office/drawing/2014/main" id="{EEAA0BE2-7FE3-C402-DD0A-2897879048B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394826" y="3751099"/>
            <a:ext cx="324000" cy="324000"/>
          </a:xfrm>
          <a:prstGeom prst="rect">
            <a:avLst/>
          </a:prstGeom>
        </p:spPr>
      </p:pic>
      <p:pic>
        <p:nvPicPr>
          <p:cNvPr id="195" name="Graphic 194">
            <a:extLst>
              <a:ext uri="{FF2B5EF4-FFF2-40B4-BE49-F238E27FC236}">
                <a16:creationId xmlns:a16="http://schemas.microsoft.com/office/drawing/2014/main" id="{D474CF3D-FF5F-8451-766B-9F37B33C86B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985203" y="2687532"/>
            <a:ext cx="202925" cy="202925"/>
          </a:xfrm>
          <a:prstGeom prst="rect">
            <a:avLst/>
          </a:prstGeom>
        </p:spPr>
      </p:pic>
      <p:sp>
        <p:nvSpPr>
          <p:cNvPr id="196" name="TextBox 195">
            <a:extLst>
              <a:ext uri="{FF2B5EF4-FFF2-40B4-BE49-F238E27FC236}">
                <a16:creationId xmlns:a16="http://schemas.microsoft.com/office/drawing/2014/main" id="{325A36EF-7D17-5F19-0097-BDCF500FBEBC}"/>
              </a:ext>
            </a:extLst>
          </p:cNvPr>
          <p:cNvSpPr txBox="1"/>
          <p:nvPr/>
        </p:nvSpPr>
        <p:spPr>
          <a:xfrm>
            <a:off x="3763838" y="4481626"/>
            <a:ext cx="373785" cy="3035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7279" tIns="43640" rIns="87279" bIns="436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latin typeface="Segoe UI Light" panose="020B0502040204020203" pitchFamily="34" charset="0"/>
                <a:cs typeface="Segoe UI Light" panose="020B0502040204020203" pitchFamily="34" charset="0"/>
              </a:rPr>
              <a:t>VNet link​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3CB3C7A-BAF1-8366-548C-BC647D5DA0C5}"/>
              </a:ext>
            </a:extLst>
          </p:cNvPr>
          <p:cNvSpPr txBox="1"/>
          <p:nvPr/>
        </p:nvSpPr>
        <p:spPr>
          <a:xfrm>
            <a:off x="4105439" y="4854821"/>
            <a:ext cx="649035" cy="303576"/>
          </a:xfrm>
          <a:prstGeom prst="rect">
            <a:avLst/>
          </a:prstGeom>
          <a:noFill/>
        </p:spPr>
        <p:txBody>
          <a:bodyPr wrap="square" lIns="87279" tIns="43640" rIns="87279" bIns="43640" rtlCol="0" anchor="t">
            <a:spAutoFit/>
          </a:bodyPr>
          <a:lstStyle/>
          <a:p>
            <a:pPr algn="ctr"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Private DNS Zones</a:t>
            </a:r>
          </a:p>
        </p:txBody>
      </p:sp>
      <p:pic>
        <p:nvPicPr>
          <p:cNvPr id="198" name="Graphic 197">
            <a:extLst>
              <a:ext uri="{FF2B5EF4-FFF2-40B4-BE49-F238E27FC236}">
                <a16:creationId xmlns:a16="http://schemas.microsoft.com/office/drawing/2014/main" id="{F508F4F8-E7E9-413E-20AA-FD4FE7EF2B6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284762" y="4559932"/>
            <a:ext cx="324000" cy="324000"/>
          </a:xfrm>
          <a:prstGeom prst="rect">
            <a:avLst/>
          </a:prstGeom>
        </p:spPr>
      </p:pic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A2187D2D-0731-FAB1-76FB-E9EA5C9444C2}"/>
              </a:ext>
            </a:extLst>
          </p:cNvPr>
          <p:cNvCxnSpPr>
            <a:cxnSpLocks/>
            <a:stCxn id="198" idx="1"/>
          </p:cNvCxnSpPr>
          <p:nvPr/>
        </p:nvCxnSpPr>
        <p:spPr>
          <a:xfrm rot="10800000">
            <a:off x="4093818" y="4466538"/>
            <a:ext cx="190944" cy="255394"/>
          </a:xfrm>
          <a:prstGeom prst="bentConnector2">
            <a:avLst/>
          </a:prstGeom>
          <a:ln w="9525">
            <a:solidFill>
              <a:srgbClr val="5B9BD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Graphic 199">
            <a:extLst>
              <a:ext uri="{FF2B5EF4-FFF2-40B4-BE49-F238E27FC236}">
                <a16:creationId xmlns:a16="http://schemas.microsoft.com/office/drawing/2014/main" id="{3EFC3855-D836-8695-59D0-28164D7B850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435461" y="4559932"/>
            <a:ext cx="324000" cy="324000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389091C9-7E05-95A3-73EC-F8B3693E0EEA}"/>
              </a:ext>
            </a:extLst>
          </p:cNvPr>
          <p:cNvSpPr txBox="1"/>
          <p:nvPr/>
        </p:nvSpPr>
        <p:spPr>
          <a:xfrm>
            <a:off x="5321651" y="4854821"/>
            <a:ext cx="564799" cy="303576"/>
          </a:xfrm>
          <a:prstGeom prst="rect">
            <a:avLst/>
          </a:prstGeom>
          <a:noFill/>
        </p:spPr>
        <p:txBody>
          <a:bodyPr wrap="square" lIns="87279" tIns="43640" rIns="87279" bIns="43640" rtlCol="0" anchor="t">
            <a:spAutoFit/>
          </a:bodyPr>
          <a:lstStyle/>
          <a:p>
            <a:pPr algn="ctr"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Container Registry</a:t>
            </a:r>
          </a:p>
        </p:txBody>
      </p:sp>
      <p:sp>
        <p:nvSpPr>
          <p:cNvPr id="214" name="TextBox 116">
            <a:extLst>
              <a:ext uri="{FF2B5EF4-FFF2-40B4-BE49-F238E27FC236}">
                <a16:creationId xmlns:a16="http://schemas.microsoft.com/office/drawing/2014/main" id="{40471A82-8372-4808-1E49-DFE153E5BDBF}"/>
              </a:ext>
            </a:extLst>
          </p:cNvPr>
          <p:cNvSpPr txBox="1"/>
          <p:nvPr/>
        </p:nvSpPr>
        <p:spPr>
          <a:xfrm>
            <a:off x="6387924" y="2725303"/>
            <a:ext cx="466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/>
            </a:lvl1pPr>
          </a:lstStyle>
          <a:p>
            <a:pPr>
              <a:defRPr/>
            </a:pPr>
            <a:r>
              <a:rPr lang="en-IN" sz="700" err="1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VNet</a:t>
            </a: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pPr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Peering</a:t>
            </a:r>
          </a:p>
        </p:txBody>
      </p:sp>
      <p:pic>
        <p:nvPicPr>
          <p:cNvPr id="216" name="Graphic 215">
            <a:extLst>
              <a:ext uri="{FF2B5EF4-FFF2-40B4-BE49-F238E27FC236}">
                <a16:creationId xmlns:a16="http://schemas.microsoft.com/office/drawing/2014/main" id="{41BB8A05-7861-34DD-EF4A-AAB62CF38B37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99385" y="4476210"/>
            <a:ext cx="324000" cy="324000"/>
          </a:xfrm>
          <a:prstGeom prst="rect">
            <a:avLst/>
          </a:prstGeom>
        </p:spPr>
      </p:pic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8C9D1D2E-4D92-09B9-D595-ED0300AC8F77}"/>
              </a:ext>
            </a:extLst>
          </p:cNvPr>
          <p:cNvSpPr/>
          <p:nvPr/>
        </p:nvSpPr>
        <p:spPr>
          <a:xfrm>
            <a:off x="6921185" y="3987907"/>
            <a:ext cx="1984890" cy="1209569"/>
          </a:xfrm>
          <a:prstGeom prst="roundRect">
            <a:avLst>
              <a:gd name="adj" fmla="val 10352"/>
            </a:avLst>
          </a:prstGeom>
          <a:solidFill>
            <a:srgbClr val="EC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IN" ker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49" name="Google Shape;493;p72">
            <a:extLst>
              <a:ext uri="{FF2B5EF4-FFF2-40B4-BE49-F238E27FC236}">
                <a16:creationId xmlns:a16="http://schemas.microsoft.com/office/drawing/2014/main" id="{3AFEC8DE-5772-1E2A-5E8F-91A68296622C}"/>
              </a:ext>
            </a:extLst>
          </p:cNvPr>
          <p:cNvSpPr/>
          <p:nvPr/>
        </p:nvSpPr>
        <p:spPr>
          <a:xfrm>
            <a:off x="2206793" y="3273193"/>
            <a:ext cx="413436" cy="3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8" tIns="43552" rIns="87128" bIns="43552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prstClr val="black"/>
              </a:buClr>
              <a:buSzPts val="1200"/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Quattrocento Sans"/>
              </a:rPr>
              <a:t>SMTP Server</a:t>
            </a:r>
          </a:p>
        </p:txBody>
      </p: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id="{216A55E1-B4C6-1549-68E3-1E8AF53A0681}"/>
              </a:ext>
            </a:extLst>
          </p:cNvPr>
          <p:cNvCxnSpPr>
            <a:cxnSpLocks/>
            <a:stCxn id="173" idx="3"/>
            <a:endCxn id="69" idx="1"/>
          </p:cNvCxnSpPr>
          <p:nvPr/>
        </p:nvCxnSpPr>
        <p:spPr>
          <a:xfrm flipV="1">
            <a:off x="6209592" y="3046235"/>
            <a:ext cx="815731" cy="454917"/>
          </a:xfrm>
          <a:prstGeom prst="bentConnector3">
            <a:avLst>
              <a:gd name="adj1" fmla="val 50000"/>
            </a:avLst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Graphic 253">
            <a:extLst>
              <a:ext uri="{FF2B5EF4-FFF2-40B4-BE49-F238E27FC236}">
                <a16:creationId xmlns:a16="http://schemas.microsoft.com/office/drawing/2014/main" id="{1F4C37DD-9EE0-3497-2E1C-8024B7871B3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198406" y="2842983"/>
            <a:ext cx="430210" cy="430210"/>
          </a:xfrm>
          <a:prstGeom prst="rect">
            <a:avLst/>
          </a:prstGeom>
        </p:spPr>
      </p:pic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09F7534-05E9-9A05-3FE2-7035B6F98835}"/>
              </a:ext>
            </a:extLst>
          </p:cNvPr>
          <p:cNvCxnSpPr>
            <a:cxnSpLocks/>
          </p:cNvCxnSpPr>
          <p:nvPr/>
        </p:nvCxnSpPr>
        <p:spPr>
          <a:xfrm>
            <a:off x="2657503" y="3050521"/>
            <a:ext cx="1523154" cy="95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9" name="Graphic 258">
            <a:extLst>
              <a:ext uri="{FF2B5EF4-FFF2-40B4-BE49-F238E27FC236}">
                <a16:creationId xmlns:a16="http://schemas.microsoft.com/office/drawing/2014/main" id="{B189C8EC-3AA7-3261-9CE3-18597ADDA39E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211719" y="2875601"/>
            <a:ext cx="324000" cy="324000"/>
          </a:xfrm>
          <a:prstGeom prst="rect">
            <a:avLst/>
          </a:prstGeom>
        </p:spPr>
      </p:pic>
      <p:sp>
        <p:nvSpPr>
          <p:cNvPr id="260" name="TextBox 259">
            <a:extLst>
              <a:ext uri="{FF2B5EF4-FFF2-40B4-BE49-F238E27FC236}">
                <a16:creationId xmlns:a16="http://schemas.microsoft.com/office/drawing/2014/main" id="{66CD009F-88E4-ACBB-8796-D5F1250B0B5A}"/>
              </a:ext>
            </a:extLst>
          </p:cNvPr>
          <p:cNvSpPr txBox="1"/>
          <p:nvPr/>
        </p:nvSpPr>
        <p:spPr>
          <a:xfrm>
            <a:off x="3766021" y="3166470"/>
            <a:ext cx="11671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VPN Gateway</a:t>
            </a:r>
          </a:p>
        </p:txBody>
      </p:sp>
      <p:pic>
        <p:nvPicPr>
          <p:cNvPr id="267" name="Graphic 266">
            <a:extLst>
              <a:ext uri="{FF2B5EF4-FFF2-40B4-BE49-F238E27FC236}">
                <a16:creationId xmlns:a16="http://schemas.microsoft.com/office/drawing/2014/main" id="{27C55514-D7DF-0B92-E63D-EAFE20FB73A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871099" y="2813955"/>
            <a:ext cx="171450" cy="171450"/>
          </a:xfrm>
          <a:prstGeom prst="rect">
            <a:avLst/>
          </a:prstGeom>
        </p:spPr>
      </p:pic>
      <p:pic>
        <p:nvPicPr>
          <p:cNvPr id="268" name="Graphic 267">
            <a:extLst>
              <a:ext uri="{FF2B5EF4-FFF2-40B4-BE49-F238E27FC236}">
                <a16:creationId xmlns:a16="http://schemas.microsoft.com/office/drawing/2014/main" id="{D22D8AD2-6F3B-1C6C-4E3C-A4FD2CD96F1E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5043928" y="3696692"/>
            <a:ext cx="171450" cy="171450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002D703E-9BDA-5DF8-2021-4B8F806A7472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821669" y="3041802"/>
            <a:ext cx="171450" cy="171450"/>
          </a:xfrm>
          <a:prstGeom prst="rect">
            <a:avLst/>
          </a:prstGeom>
        </p:spPr>
      </p:pic>
      <p:pic>
        <p:nvPicPr>
          <p:cNvPr id="270" name="Graphic 269">
            <a:extLst>
              <a:ext uri="{FF2B5EF4-FFF2-40B4-BE49-F238E27FC236}">
                <a16:creationId xmlns:a16="http://schemas.microsoft.com/office/drawing/2014/main" id="{A0D3FBB8-6B3D-E34E-FA8D-100C044B8D6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818923" y="3924652"/>
            <a:ext cx="171450" cy="171450"/>
          </a:xfrm>
          <a:prstGeom prst="rect">
            <a:avLst/>
          </a:prstGeom>
        </p:spPr>
      </p:pic>
      <p:pic>
        <p:nvPicPr>
          <p:cNvPr id="271" name="Graphic 270">
            <a:extLst>
              <a:ext uri="{FF2B5EF4-FFF2-40B4-BE49-F238E27FC236}">
                <a16:creationId xmlns:a16="http://schemas.microsoft.com/office/drawing/2014/main" id="{C3494649-5B7D-8841-7E40-A4DCAA767B66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5999595" y="3924652"/>
            <a:ext cx="171450" cy="171450"/>
          </a:xfrm>
          <a:prstGeom prst="rect">
            <a:avLst/>
          </a:prstGeom>
        </p:spPr>
      </p:pic>
      <p:pic>
        <p:nvPicPr>
          <p:cNvPr id="272" name="Graphic 271">
            <a:extLst>
              <a:ext uri="{FF2B5EF4-FFF2-40B4-BE49-F238E27FC236}">
                <a16:creationId xmlns:a16="http://schemas.microsoft.com/office/drawing/2014/main" id="{9D839E47-FA88-6070-5C90-65AC2EF2442F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233922" y="2787927"/>
            <a:ext cx="171450" cy="171450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112C0EE8-0369-B6A5-9104-E3B5F612D41D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122274" y="3017695"/>
            <a:ext cx="171450" cy="171450"/>
          </a:xfrm>
          <a:prstGeom prst="rect">
            <a:avLst/>
          </a:prstGeom>
        </p:spPr>
      </p:pic>
      <p:sp>
        <p:nvSpPr>
          <p:cNvPr id="279" name="TextBox 18">
            <a:extLst>
              <a:ext uri="{FF2B5EF4-FFF2-40B4-BE49-F238E27FC236}">
                <a16:creationId xmlns:a16="http://schemas.microsoft.com/office/drawing/2014/main" id="{67A72D63-955E-698C-6B8F-B2297F32CF68}"/>
              </a:ext>
            </a:extLst>
          </p:cNvPr>
          <p:cNvSpPr txBox="1"/>
          <p:nvPr/>
        </p:nvSpPr>
        <p:spPr>
          <a:xfrm>
            <a:off x="2024021" y="2369749"/>
            <a:ext cx="937554" cy="2616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latin typeface="Segoe UI Light"/>
                <a:cs typeface="Segoe UI Light"/>
              </a:rPr>
              <a:t>On-premises</a:t>
            </a:r>
          </a:p>
        </p:txBody>
      </p:sp>
      <p:sp>
        <p:nvSpPr>
          <p:cNvPr id="281" name="AutoShape 3">
            <a:extLst>
              <a:ext uri="{FF2B5EF4-FFF2-40B4-BE49-F238E27FC236}">
                <a16:creationId xmlns:a16="http://schemas.microsoft.com/office/drawing/2014/main" id="{300329FC-FDFE-1026-3DE2-9F53F4EDC99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786679" y="2359017"/>
            <a:ext cx="271249" cy="27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D2597CC-5F2F-3785-2D02-903C8AF5B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679" y="2359017"/>
            <a:ext cx="135625" cy="2772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BBD9E083-ED30-993A-C2A4-EBCA0BDF8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304" y="2497642"/>
            <a:ext cx="135625" cy="138625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AD8C0B81-A8F1-41BF-9B76-DFCD96DAA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585" y="2402559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3FC5D788-3A38-895E-EF57-375B37D05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185" y="2402560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46FED1BE-ED83-91EC-9C63-3A5B75B44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585" y="2445214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B5A6C458-C152-DFAD-E084-6F021D624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185" y="2445214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90CF621D-2084-2F85-B358-6FBF01967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585" y="2488756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BF90267-B479-B47C-71C8-6A459095B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185" y="2488756"/>
            <a:ext cx="25212" cy="26659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CE6FD181-01A3-D9FC-8E59-7A80E57E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585" y="2532298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8BF6A49A-8526-0B83-C462-CB48D9476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185" y="2532298"/>
            <a:ext cx="25212" cy="25770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74C2987-A7ED-E4F6-E650-46837743B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973" y="2601611"/>
            <a:ext cx="33037" cy="34656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1C7B6471-520A-A1B2-F87B-C290E5695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209" y="2532298"/>
            <a:ext cx="25212" cy="25770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C4C26324-6A48-042E-4121-C70DA8478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810" y="2532298"/>
            <a:ext cx="25212" cy="25770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583467F5-BC97-AB30-72E2-F9F099A9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728" y="2601612"/>
            <a:ext cx="34776" cy="34656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26752314-84D6-3EEB-2C47-A163F4C36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209" y="2402562"/>
            <a:ext cx="51294" cy="51540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7" name="Freeform 20">
            <a:extLst>
              <a:ext uri="{FF2B5EF4-FFF2-40B4-BE49-F238E27FC236}">
                <a16:creationId xmlns:a16="http://schemas.microsoft.com/office/drawing/2014/main" id="{8623824D-20DE-9709-1D58-076A97BB522C}"/>
              </a:ext>
            </a:extLst>
          </p:cNvPr>
          <p:cNvSpPr>
            <a:spLocks/>
          </p:cNvSpPr>
          <p:nvPr/>
        </p:nvSpPr>
        <p:spPr bwMode="auto">
          <a:xfrm>
            <a:off x="1947516" y="2434551"/>
            <a:ext cx="85200" cy="19550"/>
          </a:xfrm>
          <a:custGeom>
            <a:avLst/>
            <a:gdLst>
              <a:gd name="T0" fmla="*/ 379 w 427"/>
              <a:gd name="T1" fmla="*/ 96 h 96"/>
              <a:gd name="T2" fmla="*/ 48 w 427"/>
              <a:gd name="T3" fmla="*/ 96 h 96"/>
              <a:gd name="T4" fmla="*/ 0 w 427"/>
              <a:gd name="T5" fmla="*/ 48 h 96"/>
              <a:gd name="T6" fmla="*/ 0 w 427"/>
              <a:gd name="T7" fmla="*/ 48 h 96"/>
              <a:gd name="T8" fmla="*/ 48 w 427"/>
              <a:gd name="T9" fmla="*/ 0 h 96"/>
              <a:gd name="T10" fmla="*/ 379 w 427"/>
              <a:gd name="T11" fmla="*/ 0 h 96"/>
              <a:gd name="T12" fmla="*/ 427 w 427"/>
              <a:gd name="T13" fmla="*/ 48 h 96"/>
              <a:gd name="T14" fmla="*/ 427 w 427"/>
              <a:gd name="T15" fmla="*/ 48 h 96"/>
              <a:gd name="T16" fmla="*/ 379 w 427"/>
              <a:gd name="T17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7" h="96">
                <a:moveTo>
                  <a:pt x="379" y="96"/>
                </a:moveTo>
                <a:cubicBezTo>
                  <a:pt x="48" y="96"/>
                  <a:pt x="48" y="96"/>
                  <a:pt x="48" y="96"/>
                </a:cubicBezTo>
                <a:cubicBezTo>
                  <a:pt x="22" y="96"/>
                  <a:pt x="0" y="75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1"/>
                  <a:pt x="22" y="0"/>
                  <a:pt x="48" y="0"/>
                </a:cubicBezTo>
                <a:cubicBezTo>
                  <a:pt x="379" y="0"/>
                  <a:pt x="379" y="0"/>
                  <a:pt x="379" y="0"/>
                </a:cubicBezTo>
                <a:cubicBezTo>
                  <a:pt x="406" y="0"/>
                  <a:pt x="427" y="21"/>
                  <a:pt x="427" y="48"/>
                </a:cubicBezTo>
                <a:cubicBezTo>
                  <a:pt x="427" y="48"/>
                  <a:pt x="427" y="48"/>
                  <a:pt x="427" y="48"/>
                </a:cubicBezTo>
                <a:cubicBezTo>
                  <a:pt x="427" y="75"/>
                  <a:pt x="406" y="96"/>
                  <a:pt x="379" y="96"/>
                </a:cubicBezTo>
                <a:close/>
              </a:path>
            </a:pathLst>
          </a:cu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F1726652-EBCF-9C6F-FF87-423404C16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115" y="2411447"/>
            <a:ext cx="33906" cy="33768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375" name="Connector: Elbow 374">
            <a:extLst>
              <a:ext uri="{FF2B5EF4-FFF2-40B4-BE49-F238E27FC236}">
                <a16:creationId xmlns:a16="http://schemas.microsoft.com/office/drawing/2014/main" id="{B698C820-4CCE-754A-9A32-6DBF34558A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26110" y="3142376"/>
            <a:ext cx="1657035" cy="1595944"/>
          </a:xfrm>
          <a:prstGeom prst="bentConnector3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6" name="Graphic 375">
            <a:extLst>
              <a:ext uri="{FF2B5EF4-FFF2-40B4-BE49-F238E27FC236}">
                <a16:creationId xmlns:a16="http://schemas.microsoft.com/office/drawing/2014/main" id="{32B2C0B5-CE23-4A03-9FE3-653B65CE3A30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520569" y="1757138"/>
            <a:ext cx="28720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33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19F8-92EB-F06A-8E19-D7014AFB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C83877-F5F3-A94B-C35F-BD493694CBF4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Availability Zone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0BE668F-5F8B-D694-1732-9AD0AA579FB8}"/>
              </a:ext>
            </a:extLst>
          </p:cNvPr>
          <p:cNvSpPr/>
          <p:nvPr/>
        </p:nvSpPr>
        <p:spPr>
          <a:xfrm>
            <a:off x="8203261" y="2401286"/>
            <a:ext cx="3192195" cy="2055429"/>
          </a:xfrm>
          <a:prstGeom prst="roundRect">
            <a:avLst>
              <a:gd name="adj" fmla="val 4899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1302710-FE75-CBA6-4AD1-7217279174F2}"/>
              </a:ext>
            </a:extLst>
          </p:cNvPr>
          <p:cNvSpPr/>
          <p:nvPr/>
        </p:nvSpPr>
        <p:spPr>
          <a:xfrm>
            <a:off x="8372291" y="2678776"/>
            <a:ext cx="2854135" cy="1625539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777369E-1C26-AB94-C1E4-1D3D6414459D}"/>
              </a:ext>
            </a:extLst>
          </p:cNvPr>
          <p:cNvGrpSpPr/>
          <p:nvPr/>
        </p:nvGrpSpPr>
        <p:grpSpPr>
          <a:xfrm>
            <a:off x="9207178" y="2431332"/>
            <a:ext cx="1184361" cy="251021"/>
            <a:chOff x="2924725" y="2678169"/>
            <a:chExt cx="1184361" cy="251021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99FFE388-D7E2-D46F-9B26-8F5B6ACEE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24725" y="2678169"/>
              <a:ext cx="251021" cy="251021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A7E405F-D4ED-9F26-8725-2D785E5C1F19}"/>
                </a:ext>
              </a:extLst>
            </p:cNvPr>
            <p:cNvSpPr/>
            <p:nvPr/>
          </p:nvSpPr>
          <p:spPr>
            <a:xfrm>
              <a:off x="3150982" y="2694281"/>
              <a:ext cx="958104" cy="216924"/>
            </a:xfrm>
            <a:prstGeom prst="rect">
              <a:avLst/>
            </a:prstGeom>
          </p:spPr>
          <p:txBody>
            <a:bodyPr wrap="square" lIns="91380" tIns="45691" rIns="91380" bIns="45691" rtlCol="0">
              <a:spAutoFit/>
            </a:bodyPr>
            <a:lstStyle/>
            <a:p>
              <a:pPr marL="0" marR="0" lvl="0" indent="0" algn="l" defTabSz="913714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Virtual Network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B076A8F-E19F-4CB3-BD35-01F87FBE32EB}"/>
              </a:ext>
            </a:extLst>
          </p:cNvPr>
          <p:cNvSpPr/>
          <p:nvPr/>
        </p:nvSpPr>
        <p:spPr bwMode="auto">
          <a:xfrm>
            <a:off x="8506544" y="2916327"/>
            <a:ext cx="2585629" cy="1235587"/>
          </a:xfrm>
          <a:prstGeom prst="roundRect">
            <a:avLst>
              <a:gd name="adj" fmla="val 11208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5C610C-5A4C-0A00-1483-62B8D7942B12}"/>
              </a:ext>
            </a:extLst>
          </p:cNvPr>
          <p:cNvGrpSpPr/>
          <p:nvPr/>
        </p:nvGrpSpPr>
        <p:grpSpPr>
          <a:xfrm>
            <a:off x="8506544" y="2695229"/>
            <a:ext cx="1110426" cy="215444"/>
            <a:chOff x="2169259" y="2973816"/>
            <a:chExt cx="1110426" cy="21544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A0F0FE-6E3B-F587-2C24-ACFD54D73936}"/>
                </a:ext>
              </a:extLst>
            </p:cNvPr>
            <p:cNvSpPr txBox="1"/>
            <p:nvPr/>
          </p:nvSpPr>
          <p:spPr>
            <a:xfrm>
              <a:off x="2303963" y="2973816"/>
              <a:ext cx="975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Compute Subnet</a:t>
              </a:r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3C84ED14-B77B-C977-3BF6-3612F9F03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9259" y="2990269"/>
              <a:ext cx="188595" cy="18859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017AC94-3C6B-68AA-38EE-E8DA61C9C532}"/>
              </a:ext>
            </a:extLst>
          </p:cNvPr>
          <p:cNvSpPr txBox="1"/>
          <p:nvPr/>
        </p:nvSpPr>
        <p:spPr>
          <a:xfrm>
            <a:off x="9164326" y="3932204"/>
            <a:ext cx="1270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Availability Zone</a:t>
            </a: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B6AEFD-9001-C91A-D990-D382348B19C2}"/>
              </a:ext>
            </a:extLst>
          </p:cNvPr>
          <p:cNvSpPr/>
          <p:nvPr/>
        </p:nvSpPr>
        <p:spPr>
          <a:xfrm>
            <a:off x="8649962" y="3203310"/>
            <a:ext cx="926527" cy="642184"/>
          </a:xfrm>
          <a:prstGeom prst="roundRect">
            <a:avLst>
              <a:gd name="adj" fmla="val 11344"/>
            </a:avLst>
          </a:prstGeom>
          <a:noFill/>
          <a:ln w="9525">
            <a:solidFill>
              <a:srgbClr val="4FAED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FE20575-6472-AD4A-CA5C-A3068A969267}"/>
              </a:ext>
            </a:extLst>
          </p:cNvPr>
          <p:cNvSpPr/>
          <p:nvPr/>
        </p:nvSpPr>
        <p:spPr>
          <a:xfrm>
            <a:off x="10005414" y="3203310"/>
            <a:ext cx="926527" cy="642184"/>
          </a:xfrm>
          <a:prstGeom prst="roundRect">
            <a:avLst>
              <a:gd name="adj" fmla="val 11344"/>
            </a:avLst>
          </a:prstGeom>
          <a:noFill/>
          <a:ln w="9525">
            <a:solidFill>
              <a:srgbClr val="4FAED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F69EB0-4D5A-BFB8-9D3F-10278AAA9828}"/>
              </a:ext>
            </a:extLst>
          </p:cNvPr>
          <p:cNvSpPr txBox="1"/>
          <p:nvPr/>
        </p:nvSpPr>
        <p:spPr>
          <a:xfrm>
            <a:off x="8871899" y="3850994"/>
            <a:ext cx="4826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Zone 1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9BA285-59C8-D5BC-0C90-ACD9BA943B2C}"/>
              </a:ext>
            </a:extLst>
          </p:cNvPr>
          <p:cNvSpPr txBox="1"/>
          <p:nvPr/>
        </p:nvSpPr>
        <p:spPr>
          <a:xfrm>
            <a:off x="10227351" y="3844730"/>
            <a:ext cx="4826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Zone 2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FD1804A7-B834-FB45-A3A7-9A8123D21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89019" y="2812312"/>
            <a:ext cx="207455" cy="207455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DF5E326-BDB2-D872-A8F9-433E5E8F143C}"/>
              </a:ext>
            </a:extLst>
          </p:cNvPr>
          <p:cNvCxnSpPr>
            <a:cxnSpLocks/>
            <a:stCxn id="26" idx="1"/>
            <a:endCxn id="14" idx="0"/>
          </p:cNvCxnSpPr>
          <p:nvPr/>
        </p:nvCxnSpPr>
        <p:spPr>
          <a:xfrm rot="10800000" flipV="1">
            <a:off x="9113227" y="2916040"/>
            <a:ext cx="575793" cy="287270"/>
          </a:xfrm>
          <a:prstGeom prst="bentConnector2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1056CDA-6537-F121-5C33-7ACA846451DB}"/>
              </a:ext>
            </a:extLst>
          </p:cNvPr>
          <p:cNvCxnSpPr>
            <a:cxnSpLocks/>
            <a:stCxn id="26" idx="3"/>
            <a:endCxn id="15" idx="0"/>
          </p:cNvCxnSpPr>
          <p:nvPr/>
        </p:nvCxnSpPr>
        <p:spPr>
          <a:xfrm>
            <a:off x="9896474" y="2916040"/>
            <a:ext cx="572204" cy="287270"/>
          </a:xfrm>
          <a:prstGeom prst="bentConnector2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C0076111-8BFB-FDD2-F552-29A1305D7B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17477" y="3331274"/>
            <a:ext cx="302400" cy="3024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C76BD9CD-D17A-E5B2-DC96-CAB522D4AA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62025" y="3331017"/>
            <a:ext cx="302400" cy="3024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702DD73-4647-343D-6593-017C875456C2}"/>
              </a:ext>
            </a:extLst>
          </p:cNvPr>
          <p:cNvSpPr txBox="1"/>
          <p:nvPr/>
        </p:nvSpPr>
        <p:spPr>
          <a:xfrm>
            <a:off x="10261504" y="3595857"/>
            <a:ext cx="4143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2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C4EE0F-FFA1-2032-5116-8430BEC85FA7}"/>
              </a:ext>
            </a:extLst>
          </p:cNvPr>
          <p:cNvSpPr txBox="1"/>
          <p:nvPr/>
        </p:nvSpPr>
        <p:spPr>
          <a:xfrm>
            <a:off x="8916380" y="3595857"/>
            <a:ext cx="393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1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61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24110-F679-753D-BF93-0A554F6E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74CF65-F512-8455-B96E-C333D9055B83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Availability Set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551C33D-303A-BCF1-DAAF-BE41D7C75804}"/>
              </a:ext>
            </a:extLst>
          </p:cNvPr>
          <p:cNvSpPr/>
          <p:nvPr/>
        </p:nvSpPr>
        <p:spPr>
          <a:xfrm>
            <a:off x="8941500" y="2555962"/>
            <a:ext cx="2494797" cy="1746077"/>
          </a:xfrm>
          <a:prstGeom prst="roundRect">
            <a:avLst>
              <a:gd name="adj" fmla="val 6645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510357F-E679-F28F-E1E0-7A9D136A1E67}"/>
              </a:ext>
            </a:extLst>
          </p:cNvPr>
          <p:cNvSpPr/>
          <p:nvPr/>
        </p:nvSpPr>
        <p:spPr>
          <a:xfrm>
            <a:off x="9111920" y="2833452"/>
            <a:ext cx="2153957" cy="1341587"/>
          </a:xfrm>
          <a:prstGeom prst="roundRect">
            <a:avLst>
              <a:gd name="adj" fmla="val 9232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AF8082-31E4-6E36-D278-506CDDBD4FDA}"/>
              </a:ext>
            </a:extLst>
          </p:cNvPr>
          <p:cNvGrpSpPr/>
          <p:nvPr/>
        </p:nvGrpSpPr>
        <p:grpSpPr>
          <a:xfrm>
            <a:off x="9596718" y="2586008"/>
            <a:ext cx="1184361" cy="251021"/>
            <a:chOff x="2924725" y="2678169"/>
            <a:chExt cx="1184361" cy="251021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9DB5CF6D-84DC-4244-76FE-9D2AA0FC4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24725" y="2678169"/>
              <a:ext cx="251021" cy="251021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7A44EBF-BB7D-ADD9-65A0-CC6BAEBBEAF3}"/>
                </a:ext>
              </a:extLst>
            </p:cNvPr>
            <p:cNvSpPr/>
            <p:nvPr/>
          </p:nvSpPr>
          <p:spPr>
            <a:xfrm>
              <a:off x="3150982" y="2694281"/>
              <a:ext cx="958104" cy="216924"/>
            </a:xfrm>
            <a:prstGeom prst="rect">
              <a:avLst/>
            </a:prstGeom>
          </p:spPr>
          <p:txBody>
            <a:bodyPr wrap="square" lIns="91380" tIns="45691" rIns="91380" bIns="45691" rtlCol="0">
              <a:spAutoFit/>
            </a:bodyPr>
            <a:lstStyle/>
            <a:p>
              <a:pPr marL="0" marR="0" lvl="0" indent="0" algn="l" defTabSz="913714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Virtual Network</a:t>
              </a: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833FC31-029F-6266-D570-4241CDA71076}"/>
              </a:ext>
            </a:extLst>
          </p:cNvPr>
          <p:cNvSpPr/>
          <p:nvPr/>
        </p:nvSpPr>
        <p:spPr bwMode="auto">
          <a:xfrm>
            <a:off x="9202626" y="3071004"/>
            <a:ext cx="1972545" cy="996086"/>
          </a:xfrm>
          <a:prstGeom prst="roundRect">
            <a:avLst>
              <a:gd name="adj" fmla="val 11208"/>
            </a:avLst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44A356-A89D-8A9C-9E65-DC006BA291CA}"/>
              </a:ext>
            </a:extLst>
          </p:cNvPr>
          <p:cNvGrpSpPr/>
          <p:nvPr/>
        </p:nvGrpSpPr>
        <p:grpSpPr>
          <a:xfrm>
            <a:off x="9203455" y="2849905"/>
            <a:ext cx="1110426" cy="215444"/>
            <a:chOff x="2169259" y="2973816"/>
            <a:chExt cx="1110426" cy="21544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223A0F1-4C86-7F58-DB40-85BEF5E22A0D}"/>
                </a:ext>
              </a:extLst>
            </p:cNvPr>
            <p:cNvSpPr txBox="1"/>
            <p:nvPr/>
          </p:nvSpPr>
          <p:spPr>
            <a:xfrm>
              <a:off x="2303963" y="2973816"/>
              <a:ext cx="975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Compute Subnet</a:t>
              </a: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03F681DE-2E78-BC93-47CD-63E73C042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9259" y="2990269"/>
              <a:ext cx="188595" cy="188595"/>
            </a:xfrm>
            <a:prstGeom prst="rect">
              <a:avLst/>
            </a:prstGeom>
          </p:spPr>
        </p:pic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ECDFBF75-6300-6CB5-000E-5E6341D050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9290" y="2970820"/>
            <a:ext cx="207455" cy="20745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E34D740-3A9A-D057-98B5-BA76BFC444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34191" y="3446764"/>
            <a:ext cx="302400" cy="302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A1F2CF9-5C95-C012-02D3-73A07E4885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84335" y="3446507"/>
            <a:ext cx="302400" cy="302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847B6A-C488-3F63-B9E3-629B22E4B305}"/>
              </a:ext>
            </a:extLst>
          </p:cNvPr>
          <p:cNvSpPr txBox="1"/>
          <p:nvPr/>
        </p:nvSpPr>
        <p:spPr>
          <a:xfrm>
            <a:off x="10378042" y="3711347"/>
            <a:ext cx="4143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2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3785F2-40E4-1CF7-AEB7-7E07A415D828}"/>
              </a:ext>
            </a:extLst>
          </p:cNvPr>
          <p:cNvSpPr txBox="1"/>
          <p:nvPr/>
        </p:nvSpPr>
        <p:spPr>
          <a:xfrm>
            <a:off x="9540885" y="3711347"/>
            <a:ext cx="393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1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490956-0BA3-BE9A-0DC5-54F791DCB7F2}"/>
              </a:ext>
            </a:extLst>
          </p:cNvPr>
          <p:cNvSpPr txBox="1"/>
          <p:nvPr/>
        </p:nvSpPr>
        <p:spPr>
          <a:xfrm>
            <a:off x="9771963" y="3884771"/>
            <a:ext cx="8338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Availability Set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A73101F-3D9B-9133-1A99-B374467C83BF}"/>
              </a:ext>
            </a:extLst>
          </p:cNvPr>
          <p:cNvSpPr/>
          <p:nvPr/>
        </p:nvSpPr>
        <p:spPr>
          <a:xfrm>
            <a:off x="9433831" y="3391060"/>
            <a:ext cx="1454406" cy="506830"/>
          </a:xfrm>
          <a:prstGeom prst="roundRect">
            <a:avLst>
              <a:gd name="adj" fmla="val 6222"/>
            </a:avLst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F50C33F-0887-2EF4-53D4-D13AC8BDAC30}"/>
              </a:ext>
            </a:extLst>
          </p:cNvPr>
          <p:cNvCxnSpPr>
            <a:cxnSpLocks/>
            <a:stCxn id="19" idx="1"/>
            <a:endCxn id="22" idx="0"/>
          </p:cNvCxnSpPr>
          <p:nvPr/>
        </p:nvCxnSpPr>
        <p:spPr>
          <a:xfrm rot="10800000" flipV="1">
            <a:off x="9735536" y="3074547"/>
            <a:ext cx="323755" cy="371959"/>
          </a:xfrm>
          <a:prstGeom prst="bentConnector2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71A554C-E2A4-7FA3-6035-791C725C4E94}"/>
              </a:ext>
            </a:extLst>
          </p:cNvPr>
          <p:cNvCxnSpPr>
            <a:cxnSpLocks/>
            <a:stCxn id="19" idx="3"/>
            <a:endCxn id="21" idx="0"/>
          </p:cNvCxnSpPr>
          <p:nvPr/>
        </p:nvCxnSpPr>
        <p:spPr>
          <a:xfrm>
            <a:off x="10266745" y="3074548"/>
            <a:ext cx="318646" cy="372216"/>
          </a:xfrm>
          <a:prstGeom prst="bentConnector2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205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8EEFF-2F8D-247C-D00F-34B8BF2FA9BE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Architecture Template | DNS Private Resolver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61CDD7-709F-424F-314C-B63E8BA4E1C6}"/>
              </a:ext>
            </a:extLst>
          </p:cNvPr>
          <p:cNvSpPr/>
          <p:nvPr/>
        </p:nvSpPr>
        <p:spPr>
          <a:xfrm>
            <a:off x="7140557" y="2196934"/>
            <a:ext cx="3576974" cy="2691342"/>
          </a:xfrm>
          <a:prstGeom prst="roundRect">
            <a:avLst>
              <a:gd name="adj" fmla="val 8018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0EFA61-5FA6-FBB5-C308-4C63467C9F6B}"/>
              </a:ext>
            </a:extLst>
          </p:cNvPr>
          <p:cNvSpPr/>
          <p:nvPr/>
        </p:nvSpPr>
        <p:spPr>
          <a:xfrm>
            <a:off x="7356457" y="2514770"/>
            <a:ext cx="3155334" cy="1505736"/>
          </a:xfrm>
          <a:prstGeom prst="roundRect">
            <a:avLst>
              <a:gd name="adj" fmla="val 10154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3F0F3F4-99F1-34B6-3CDC-83B6E3E8FA34}"/>
              </a:ext>
            </a:extLst>
          </p:cNvPr>
          <p:cNvGrpSpPr/>
          <p:nvPr/>
        </p:nvGrpSpPr>
        <p:grpSpPr>
          <a:xfrm>
            <a:off x="8341944" y="2257894"/>
            <a:ext cx="1184361" cy="251021"/>
            <a:chOff x="8207632" y="2250274"/>
            <a:chExt cx="1184361" cy="25102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C2B47B0-3E6F-68D4-445A-149B091FE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7632" y="2250274"/>
              <a:ext cx="251021" cy="251021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324133-DA41-639A-B32B-22548DC39EB0}"/>
                </a:ext>
              </a:extLst>
            </p:cNvPr>
            <p:cNvSpPr/>
            <p:nvPr/>
          </p:nvSpPr>
          <p:spPr>
            <a:xfrm>
              <a:off x="8433889" y="2266386"/>
              <a:ext cx="958104" cy="216924"/>
            </a:xfrm>
            <a:prstGeom prst="rect">
              <a:avLst/>
            </a:prstGeom>
          </p:spPr>
          <p:txBody>
            <a:bodyPr wrap="square" lIns="91380" tIns="45691" rIns="91380" bIns="45691" rtlCol="0">
              <a:spAutoFit/>
            </a:bodyPr>
            <a:lstStyle/>
            <a:p>
              <a:pPr marL="0" marR="0" lvl="0" indent="0" algn="l" defTabSz="913714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8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Virtual Network</a:t>
              </a:r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099547-53B4-2965-A4BB-4A496DA2C914}"/>
              </a:ext>
            </a:extLst>
          </p:cNvPr>
          <p:cNvSpPr/>
          <p:nvPr/>
        </p:nvSpPr>
        <p:spPr bwMode="auto">
          <a:xfrm>
            <a:off x="7570176" y="2887950"/>
            <a:ext cx="1196634" cy="812893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rgbClr val="4472C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36F90617-02DF-AAB8-59B0-D71DE6314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7148" y="3060396"/>
            <a:ext cx="469349" cy="46800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F4AB3DC-690A-46B4-BCAB-E722D330FD9B}"/>
              </a:ext>
            </a:extLst>
          </p:cNvPr>
          <p:cNvGrpSpPr/>
          <p:nvPr/>
        </p:nvGrpSpPr>
        <p:grpSpPr>
          <a:xfrm>
            <a:off x="7570176" y="2688969"/>
            <a:ext cx="1122517" cy="216000"/>
            <a:chOff x="6011711" y="3376820"/>
            <a:chExt cx="1122517" cy="216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724A35-EA6F-6C91-2BF8-1725D86F7FD6}"/>
                </a:ext>
              </a:extLst>
            </p:cNvPr>
            <p:cNvSpPr/>
            <p:nvPr/>
          </p:nvSpPr>
          <p:spPr>
            <a:xfrm>
              <a:off x="6175387" y="3384306"/>
              <a:ext cx="958841" cy="20313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739">
                <a:lnSpc>
                  <a:spcPct val="90000"/>
                </a:lnSpc>
                <a:spcAft>
                  <a:spcPts val="588"/>
                </a:spcAft>
                <a:defRPr/>
              </a:pPr>
              <a:r>
                <a:rPr lang="en-US" sz="800" kern="0">
                  <a:solidFill>
                    <a:prstClr val="black"/>
                  </a:solidFill>
                  <a:latin typeface="Segoe UI Light"/>
                  <a:cs typeface="Segoe UI Light"/>
                </a:rPr>
                <a:t>Inbound Subnet</a:t>
              </a: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F0754147-85F0-37B7-E459-0024410AF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11711" y="3376820"/>
              <a:ext cx="216000" cy="216000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0F03BBBC-1549-0FAD-9BDE-72F45B23AD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6493" y="3132396"/>
            <a:ext cx="324000" cy="324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39872A18-2EB1-4C64-8A05-919BCAF1EF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40557" y="1911362"/>
            <a:ext cx="270000" cy="270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B16498DC-A8B9-5DE9-2579-611EB166B0B4}"/>
              </a:ext>
            </a:extLst>
          </p:cNvPr>
          <p:cNvSpPr/>
          <p:nvPr/>
        </p:nvSpPr>
        <p:spPr>
          <a:xfrm>
            <a:off x="7377436" y="1930975"/>
            <a:ext cx="1166131" cy="2307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Resource Group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D623C39-000E-03B6-4A12-324FCD0E6BA7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77531" y="1219952"/>
            <a:ext cx="1440000" cy="1"/>
          </a:xfrm>
          <a:prstGeom prst="bentConnector3">
            <a:avLst>
              <a:gd name="adj1" fmla="val 50000"/>
            </a:avLst>
          </a:prstGeom>
          <a:ln w="12700">
            <a:solidFill>
              <a:srgbClr val="4472C4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C37C11-58E3-7AFF-CECE-42F97B4F0357}"/>
              </a:ext>
            </a:extLst>
          </p:cNvPr>
          <p:cNvSpPr/>
          <p:nvPr/>
        </p:nvSpPr>
        <p:spPr bwMode="auto">
          <a:xfrm>
            <a:off x="9113372" y="2887950"/>
            <a:ext cx="1196634" cy="812893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rgbClr val="4472C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A5802C-6300-8D2E-86BE-DD788D4B3726}"/>
              </a:ext>
            </a:extLst>
          </p:cNvPr>
          <p:cNvGrpSpPr/>
          <p:nvPr/>
        </p:nvGrpSpPr>
        <p:grpSpPr>
          <a:xfrm>
            <a:off x="9113372" y="2688969"/>
            <a:ext cx="1122517" cy="216000"/>
            <a:chOff x="6011711" y="3376820"/>
            <a:chExt cx="1122517" cy="216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C4336DE-04E2-AA13-A996-A5ADA43BA6AA}"/>
                </a:ext>
              </a:extLst>
            </p:cNvPr>
            <p:cNvSpPr/>
            <p:nvPr/>
          </p:nvSpPr>
          <p:spPr>
            <a:xfrm>
              <a:off x="6175387" y="3384306"/>
              <a:ext cx="958841" cy="20313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739">
                <a:lnSpc>
                  <a:spcPct val="90000"/>
                </a:lnSpc>
                <a:spcAft>
                  <a:spcPts val="588"/>
                </a:spcAft>
                <a:defRPr/>
              </a:pPr>
              <a:r>
                <a:rPr lang="en-US" sz="800" kern="0">
                  <a:solidFill>
                    <a:prstClr val="black"/>
                  </a:solidFill>
                  <a:latin typeface="Segoe UI Light"/>
                  <a:cs typeface="Segoe UI Light"/>
                </a:rPr>
                <a:t>Outbound Subnet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1B173DC8-9947-B142-1A17-A2A02FAC1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11711" y="3376820"/>
              <a:ext cx="216000" cy="216000"/>
            </a:xfrm>
            <a:prstGeom prst="rect">
              <a:avLst/>
            </a:prstGeom>
          </p:spPr>
        </p:pic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1256E68D-F4E2-E75F-A9B8-C6B847172E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49689" y="3132396"/>
            <a:ext cx="324000" cy="324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EB57FF9-25B5-45AB-3C48-D5287F5754B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4207" y="4269715"/>
            <a:ext cx="367200" cy="367200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3285B49-0BF0-67AD-D65F-78CBA84F02DC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>
            <a:off x="7784401" y="4026225"/>
            <a:ext cx="559806" cy="427091"/>
          </a:xfrm>
          <a:prstGeom prst="bentConnector2">
            <a:avLst/>
          </a:prstGeom>
          <a:ln w="12700">
            <a:solidFill>
              <a:srgbClr val="5B9B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0EF53-7226-996B-1157-86EF2385A633}"/>
              </a:ext>
            </a:extLst>
          </p:cNvPr>
          <p:cNvSpPr/>
          <p:nvPr/>
        </p:nvSpPr>
        <p:spPr>
          <a:xfrm>
            <a:off x="8086950" y="4626525"/>
            <a:ext cx="876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Private DNS Zone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109C83-3AE0-88B1-7C26-58B53B468222}"/>
              </a:ext>
            </a:extLst>
          </p:cNvPr>
          <p:cNvSpPr/>
          <p:nvPr/>
        </p:nvSpPr>
        <p:spPr>
          <a:xfrm>
            <a:off x="7757455" y="4142496"/>
            <a:ext cx="442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VNet Link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78531-9668-1A64-E44C-AF8C18A0238A}"/>
              </a:ext>
            </a:extLst>
          </p:cNvPr>
          <p:cNvSpPr txBox="1"/>
          <p:nvPr/>
        </p:nvSpPr>
        <p:spPr>
          <a:xfrm>
            <a:off x="9167393" y="4626524"/>
            <a:ext cx="1101949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>
                <a:latin typeface="Segoe UI Light" panose="020B0502040204020203" pitchFamily="34" charset="0"/>
                <a:cs typeface="Segoe UI Light" panose="020B0502040204020203" pitchFamily="34" charset="0"/>
              </a:rPr>
              <a:t>DNS Forwarding Ruleset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6B18CB-6A51-2972-1F0D-AEE5EBEC78EF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 flipH="1">
            <a:off x="9711228" y="3700843"/>
            <a:ext cx="461" cy="561299"/>
          </a:xfrm>
          <a:prstGeom prst="line">
            <a:avLst/>
          </a:prstGeom>
          <a:ln w="12700"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7225CBB0-1123-1FB9-D046-2CF84E11BBB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7628" y="4262142"/>
            <a:ext cx="367200" cy="3672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707DF5B-033F-E339-B1A1-4CD05D81C770}"/>
              </a:ext>
            </a:extLst>
          </p:cNvPr>
          <p:cNvSpPr/>
          <p:nvPr/>
        </p:nvSpPr>
        <p:spPr>
          <a:xfrm>
            <a:off x="9237781" y="4142496"/>
            <a:ext cx="427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VNet Link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EA27ACD-FB2D-2117-48E9-D5C43F8E59EE}"/>
              </a:ext>
            </a:extLst>
          </p:cNvPr>
          <p:cNvCxnSpPr>
            <a:cxnSpLocks/>
          </p:cNvCxnSpPr>
          <p:nvPr/>
        </p:nvCxnSpPr>
        <p:spPr>
          <a:xfrm rot="10800000">
            <a:off x="9309433" y="4020506"/>
            <a:ext cx="250580" cy="425236"/>
          </a:xfrm>
          <a:prstGeom prst="bentConnector2">
            <a:avLst/>
          </a:prstGeom>
          <a:ln w="12700">
            <a:solidFill>
              <a:srgbClr val="5B9B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847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5244-C374-1DEC-A1A3-CAB3A4A8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ACBA52-BD62-7994-223E-731BE790AC58}"/>
              </a:ext>
            </a:extLst>
          </p:cNvPr>
          <p:cNvSpPr txBox="1"/>
          <p:nvPr/>
        </p:nvSpPr>
        <p:spPr>
          <a:xfrm>
            <a:off x="134471" y="304801"/>
            <a:ext cx="1371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Sample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AD69F6-33E2-7121-628B-88311CC7EEA6}"/>
              </a:ext>
            </a:extLst>
          </p:cNvPr>
          <p:cNvSpPr/>
          <p:nvPr/>
        </p:nvSpPr>
        <p:spPr>
          <a:xfrm>
            <a:off x="1788087" y="836766"/>
            <a:ext cx="9685045" cy="5595710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4"/>
            <a:endParaRPr lang="en-US" sz="100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5D41DA-29B7-0D8F-C195-C4B586864BDD}"/>
              </a:ext>
            </a:extLst>
          </p:cNvPr>
          <p:cNvSpPr/>
          <p:nvPr/>
        </p:nvSpPr>
        <p:spPr>
          <a:xfrm>
            <a:off x="1993388" y="573156"/>
            <a:ext cx="1279597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3739">
              <a:lnSpc>
                <a:spcPct val="90000"/>
              </a:lnSpc>
              <a:spcAft>
                <a:spcPts val="588"/>
              </a:spcAft>
              <a:defRPr/>
            </a:pPr>
            <a:r>
              <a:rPr lang="en-US" sz="11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Subscription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D471EF5-FE2C-099E-4BB3-55FE79941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750" y="3324057"/>
            <a:ext cx="343405" cy="3434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142608-D9A3-2D86-BA2C-A3F4ED32611B}"/>
              </a:ext>
            </a:extLst>
          </p:cNvPr>
          <p:cNvSpPr/>
          <p:nvPr/>
        </p:nvSpPr>
        <p:spPr>
          <a:xfrm>
            <a:off x="15558" y="3666085"/>
            <a:ext cx="826007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User Request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315083-929E-AC98-7D56-26507E67E69E}"/>
              </a:ext>
            </a:extLst>
          </p:cNvPr>
          <p:cNvSpPr/>
          <p:nvPr/>
        </p:nvSpPr>
        <p:spPr>
          <a:xfrm>
            <a:off x="9821529" y="2508703"/>
            <a:ext cx="116288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AKS Managed RG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BEB61264-5C22-2675-CD0F-2B04606F1E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1042" y="2488513"/>
            <a:ext cx="252000" cy="2520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B959A10-901F-A9B9-D665-3C3A31913BC0}"/>
              </a:ext>
            </a:extLst>
          </p:cNvPr>
          <p:cNvSpPr/>
          <p:nvPr/>
        </p:nvSpPr>
        <p:spPr>
          <a:xfrm>
            <a:off x="9581043" y="2764397"/>
            <a:ext cx="1778619" cy="1084892"/>
          </a:xfrm>
          <a:prstGeom prst="roundRect">
            <a:avLst>
              <a:gd name="adj" fmla="val 10020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5D7457D-0C84-BBA4-348D-76B46C5003D1}"/>
              </a:ext>
            </a:extLst>
          </p:cNvPr>
          <p:cNvSpPr/>
          <p:nvPr/>
        </p:nvSpPr>
        <p:spPr bwMode="auto">
          <a:xfrm>
            <a:off x="10543175" y="2889142"/>
            <a:ext cx="666886" cy="824813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E726871-77F4-1CE2-A918-315FFA73A0FC}"/>
              </a:ext>
            </a:extLst>
          </p:cNvPr>
          <p:cNvSpPr/>
          <p:nvPr/>
        </p:nvSpPr>
        <p:spPr bwMode="auto">
          <a:xfrm>
            <a:off x="9730644" y="2889974"/>
            <a:ext cx="666886" cy="824813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763DB703-11CC-1084-6EAE-03DEA8855E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1221" y="3063662"/>
            <a:ext cx="367520" cy="36752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2F61575-C953-BCAA-731D-E7D193E75F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289" y="2937427"/>
            <a:ext cx="319647" cy="31010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F8BDE82-85E7-4F09-A784-0FF9D18D24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977" y="3345457"/>
            <a:ext cx="319647" cy="31010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2C51FF8-6480-5647-FBE1-C6CF77C021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947" y="2937427"/>
            <a:ext cx="319647" cy="31010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FD37678-C7E3-44C7-83D7-9ED812F484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2635" y="3345457"/>
            <a:ext cx="319647" cy="310105"/>
          </a:xfrm>
          <a:prstGeom prst="rect">
            <a:avLst/>
          </a:prstGeom>
        </p:spPr>
      </p:pic>
      <p:sp>
        <p:nvSpPr>
          <p:cNvPr id="69" name="TextBox 116">
            <a:extLst>
              <a:ext uri="{FF2B5EF4-FFF2-40B4-BE49-F238E27FC236}">
                <a16:creationId xmlns:a16="http://schemas.microsoft.com/office/drawing/2014/main" id="{8016170E-6351-68C7-BDE0-F5BA6064EF88}"/>
              </a:ext>
            </a:extLst>
          </p:cNvPr>
          <p:cNvSpPr txBox="1"/>
          <p:nvPr/>
        </p:nvSpPr>
        <p:spPr>
          <a:xfrm rot="5400000">
            <a:off x="5951662" y="3043074"/>
            <a:ext cx="892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</a:t>
            </a:r>
            <a:r>
              <a:rPr lang="en-IN" sz="9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et Peering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48CB51-6B90-2035-7433-3140D176E59D}"/>
              </a:ext>
            </a:extLst>
          </p:cNvPr>
          <p:cNvSpPr/>
          <p:nvPr/>
        </p:nvSpPr>
        <p:spPr>
          <a:xfrm>
            <a:off x="1049513" y="3666085"/>
            <a:ext cx="61106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Browser</a:t>
            </a: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3624827-E0EA-ADA0-75D5-166A764B3E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0314" y="3273410"/>
            <a:ext cx="444699" cy="444699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BB7BD3D5-63ED-0F39-3674-DCA494C1DFE0}"/>
              </a:ext>
            </a:extLst>
          </p:cNvPr>
          <p:cNvSpPr/>
          <p:nvPr/>
        </p:nvSpPr>
        <p:spPr>
          <a:xfrm>
            <a:off x="1008128" y="1742212"/>
            <a:ext cx="653671" cy="2030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S2S Tunnel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4" name="AutoShape 3">
            <a:extLst>
              <a:ext uri="{FF2B5EF4-FFF2-40B4-BE49-F238E27FC236}">
                <a16:creationId xmlns:a16="http://schemas.microsoft.com/office/drawing/2014/main" id="{976836C5-44F9-127E-A998-B1B5B6C685A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47328" y="1477810"/>
            <a:ext cx="806591" cy="80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5" name="Rectangle 5">
            <a:extLst>
              <a:ext uri="{FF2B5EF4-FFF2-40B4-BE49-F238E27FC236}">
                <a16:creationId xmlns:a16="http://schemas.microsoft.com/office/drawing/2014/main" id="{7B6560FA-B881-54E4-3070-9FCE6B852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28" y="1477810"/>
            <a:ext cx="403296" cy="80659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AF20537-C435-7FB1-6C16-CD679CA41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25" y="1881105"/>
            <a:ext cx="403297" cy="403296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7" name="Rectangle 7">
            <a:extLst>
              <a:ext uri="{FF2B5EF4-FFF2-40B4-BE49-F238E27FC236}">
                <a16:creationId xmlns:a16="http://schemas.microsoft.com/office/drawing/2014/main" id="{DDFC0FA3-67A6-60F5-BC94-95E4C6F97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52" y="1604486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8" name="Rectangle 8">
            <a:extLst>
              <a:ext uri="{FF2B5EF4-FFF2-40B4-BE49-F238E27FC236}">
                <a16:creationId xmlns:a16="http://schemas.microsoft.com/office/drawing/2014/main" id="{98600D82-F8BD-E7E3-FA91-E0E6B4DE1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28" y="1604487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9" name="Rectangle 9">
            <a:extLst>
              <a:ext uri="{FF2B5EF4-FFF2-40B4-BE49-F238E27FC236}">
                <a16:creationId xmlns:a16="http://schemas.microsoft.com/office/drawing/2014/main" id="{B4535621-3D60-071C-4E3D-439C89EA6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52" y="1728578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0" name="Rectangle 10">
            <a:extLst>
              <a:ext uri="{FF2B5EF4-FFF2-40B4-BE49-F238E27FC236}">
                <a16:creationId xmlns:a16="http://schemas.microsoft.com/office/drawing/2014/main" id="{3C44163B-4E46-F10E-693B-BDE1A4C5F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28" y="1728578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1" name="Rectangle 11">
            <a:extLst>
              <a:ext uri="{FF2B5EF4-FFF2-40B4-BE49-F238E27FC236}">
                <a16:creationId xmlns:a16="http://schemas.microsoft.com/office/drawing/2014/main" id="{B155E107-FCAE-4ACC-BE78-67F3702FD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52" y="1855254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2" name="Rectangle 12">
            <a:extLst>
              <a:ext uri="{FF2B5EF4-FFF2-40B4-BE49-F238E27FC236}">
                <a16:creationId xmlns:a16="http://schemas.microsoft.com/office/drawing/2014/main" id="{862CE66F-E6AA-0538-8E79-FEF8B20BF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28" y="1855254"/>
            <a:ext cx="74971" cy="77557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6044AB6C-1201-4171-6DDB-A18BC52AF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52" y="1981930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4" name="Rectangle 14">
            <a:extLst>
              <a:ext uri="{FF2B5EF4-FFF2-40B4-BE49-F238E27FC236}">
                <a16:creationId xmlns:a16="http://schemas.microsoft.com/office/drawing/2014/main" id="{FBB066A6-47D2-AEB7-ED71-4484FE7AB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28" y="1981930"/>
            <a:ext cx="74971" cy="74971"/>
          </a:xfrm>
          <a:prstGeom prst="rect">
            <a:avLst/>
          </a:prstGeom>
          <a:solidFill>
            <a:srgbClr val="0078D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5" name="Rectangle 15">
            <a:extLst>
              <a:ext uri="{FF2B5EF4-FFF2-40B4-BE49-F238E27FC236}">
                <a16:creationId xmlns:a16="http://schemas.microsoft.com/office/drawing/2014/main" id="{A8FFBD81-9232-FBE6-A410-D0B953FC5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56" y="2183578"/>
            <a:ext cx="98239" cy="100824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6" name="Rectangle 16">
            <a:extLst>
              <a:ext uri="{FF2B5EF4-FFF2-40B4-BE49-F238E27FC236}">
                <a16:creationId xmlns:a16="http://schemas.microsoft.com/office/drawing/2014/main" id="{5A078825-479D-BCC9-6506-68B81BE6D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447" y="1981930"/>
            <a:ext cx="74971" cy="74971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7" name="Rectangle 17">
            <a:extLst>
              <a:ext uri="{FF2B5EF4-FFF2-40B4-BE49-F238E27FC236}">
                <a16:creationId xmlns:a16="http://schemas.microsoft.com/office/drawing/2014/main" id="{D344F490-B587-1D53-88A9-B50626682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24" y="1981930"/>
            <a:ext cx="74971" cy="74971"/>
          </a:xfrm>
          <a:prstGeom prst="rect">
            <a:avLst/>
          </a:prstGeom>
          <a:solidFill>
            <a:srgbClr val="50E6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8" name="Rectangle 18">
            <a:extLst>
              <a:ext uri="{FF2B5EF4-FFF2-40B4-BE49-F238E27FC236}">
                <a16:creationId xmlns:a16="http://schemas.microsoft.com/office/drawing/2014/main" id="{05AB85A0-955B-E3A4-30A2-8C6BA2B6B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67" y="2183581"/>
            <a:ext cx="103409" cy="100824"/>
          </a:xfrm>
          <a:prstGeom prst="rect">
            <a:avLst/>
          </a:prstGeom>
          <a:solidFill>
            <a:srgbClr val="F8F7F6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9" name="Oval 19">
            <a:extLst>
              <a:ext uri="{FF2B5EF4-FFF2-40B4-BE49-F238E27FC236}">
                <a16:creationId xmlns:a16="http://schemas.microsoft.com/office/drawing/2014/main" id="{26473EB3-ADF1-E336-4237-52A49234B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447" y="1604494"/>
            <a:ext cx="152528" cy="149943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0" name="Freeform 20">
            <a:extLst>
              <a:ext uri="{FF2B5EF4-FFF2-40B4-BE49-F238E27FC236}">
                <a16:creationId xmlns:a16="http://schemas.microsoft.com/office/drawing/2014/main" id="{1F5886E5-70A1-4D1F-CC15-FF013C6A185B}"/>
              </a:ext>
            </a:extLst>
          </p:cNvPr>
          <p:cNvSpPr>
            <a:spLocks/>
          </p:cNvSpPr>
          <p:nvPr/>
        </p:nvSpPr>
        <p:spPr bwMode="auto">
          <a:xfrm>
            <a:off x="625595" y="1697557"/>
            <a:ext cx="253352" cy="56875"/>
          </a:xfrm>
          <a:custGeom>
            <a:avLst/>
            <a:gdLst>
              <a:gd name="T0" fmla="*/ 379 w 427"/>
              <a:gd name="T1" fmla="*/ 96 h 96"/>
              <a:gd name="T2" fmla="*/ 48 w 427"/>
              <a:gd name="T3" fmla="*/ 96 h 96"/>
              <a:gd name="T4" fmla="*/ 0 w 427"/>
              <a:gd name="T5" fmla="*/ 48 h 96"/>
              <a:gd name="T6" fmla="*/ 0 w 427"/>
              <a:gd name="T7" fmla="*/ 48 h 96"/>
              <a:gd name="T8" fmla="*/ 48 w 427"/>
              <a:gd name="T9" fmla="*/ 0 h 96"/>
              <a:gd name="T10" fmla="*/ 379 w 427"/>
              <a:gd name="T11" fmla="*/ 0 h 96"/>
              <a:gd name="T12" fmla="*/ 427 w 427"/>
              <a:gd name="T13" fmla="*/ 48 h 96"/>
              <a:gd name="T14" fmla="*/ 427 w 427"/>
              <a:gd name="T15" fmla="*/ 48 h 96"/>
              <a:gd name="T16" fmla="*/ 379 w 427"/>
              <a:gd name="T17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7" h="96">
                <a:moveTo>
                  <a:pt x="379" y="96"/>
                </a:moveTo>
                <a:cubicBezTo>
                  <a:pt x="48" y="96"/>
                  <a:pt x="48" y="96"/>
                  <a:pt x="48" y="96"/>
                </a:cubicBezTo>
                <a:cubicBezTo>
                  <a:pt x="22" y="96"/>
                  <a:pt x="0" y="75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1"/>
                  <a:pt x="22" y="0"/>
                  <a:pt x="48" y="0"/>
                </a:cubicBezTo>
                <a:cubicBezTo>
                  <a:pt x="379" y="0"/>
                  <a:pt x="379" y="0"/>
                  <a:pt x="379" y="0"/>
                </a:cubicBezTo>
                <a:cubicBezTo>
                  <a:pt x="406" y="0"/>
                  <a:pt x="427" y="21"/>
                  <a:pt x="427" y="48"/>
                </a:cubicBezTo>
                <a:cubicBezTo>
                  <a:pt x="427" y="48"/>
                  <a:pt x="427" y="48"/>
                  <a:pt x="427" y="48"/>
                </a:cubicBezTo>
                <a:cubicBezTo>
                  <a:pt x="427" y="75"/>
                  <a:pt x="406" y="96"/>
                  <a:pt x="379" y="96"/>
                </a:cubicBezTo>
                <a:close/>
              </a:path>
            </a:pathLst>
          </a:cu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1" name="Oval 21">
            <a:extLst>
              <a:ext uri="{FF2B5EF4-FFF2-40B4-BE49-F238E27FC236}">
                <a16:creationId xmlns:a16="http://schemas.microsoft.com/office/drawing/2014/main" id="{3E9D5E5D-8B41-6CD2-DFE0-AAF4E15B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68" y="1630342"/>
            <a:ext cx="100824" cy="98239"/>
          </a:xfrm>
          <a:prstGeom prst="ellipse">
            <a:avLst/>
          </a:prstGeom>
          <a:solidFill>
            <a:srgbClr val="50E6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E588186-E931-F357-EFB7-898369D41D4A}"/>
              </a:ext>
            </a:extLst>
          </p:cNvPr>
          <p:cNvSpPr/>
          <p:nvPr/>
        </p:nvSpPr>
        <p:spPr>
          <a:xfrm>
            <a:off x="171634" y="2334728"/>
            <a:ext cx="757983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Datacenter</a:t>
            </a: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75DB17F-6A8A-5CBB-5D12-542E6B265904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>
            <a:off x="590155" y="3495761"/>
            <a:ext cx="502282" cy="95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7C5D16F2-AF2A-B5AF-CE3E-6563FC31F099}"/>
              </a:ext>
            </a:extLst>
          </p:cNvPr>
          <p:cNvCxnSpPr>
            <a:cxnSpLocks/>
            <a:stCxn id="13" idx="3"/>
            <a:endCxn id="116" idx="1"/>
          </p:cNvCxnSpPr>
          <p:nvPr/>
        </p:nvCxnSpPr>
        <p:spPr>
          <a:xfrm flipV="1">
            <a:off x="5589246" y="1869264"/>
            <a:ext cx="999308" cy="2076354"/>
          </a:xfrm>
          <a:prstGeom prst="bentConnector3">
            <a:avLst>
              <a:gd name="adj1" fmla="val 70970"/>
            </a:avLst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55B53F7-2BE4-CC44-3140-1308067663D5}"/>
              </a:ext>
            </a:extLst>
          </p:cNvPr>
          <p:cNvSpPr/>
          <p:nvPr/>
        </p:nvSpPr>
        <p:spPr>
          <a:xfrm>
            <a:off x="2142108" y="912302"/>
            <a:ext cx="131922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RG</a:t>
            </a:r>
          </a:p>
        </p:txBody>
      </p:sp>
      <p:pic>
        <p:nvPicPr>
          <p:cNvPr id="174" name="Graphic 173">
            <a:extLst>
              <a:ext uri="{FF2B5EF4-FFF2-40B4-BE49-F238E27FC236}">
                <a16:creationId xmlns:a16="http://schemas.microsoft.com/office/drawing/2014/main" id="{CC33042B-12B4-0CC0-7A19-BC0F124896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03896" y="901718"/>
            <a:ext cx="252000" cy="252000"/>
          </a:xfrm>
          <a:prstGeom prst="rect">
            <a:avLst/>
          </a:prstGeom>
        </p:spPr>
      </p:pic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50A2B9FE-7EBD-7689-5AD1-582FDF6A994F}"/>
              </a:ext>
            </a:extLst>
          </p:cNvPr>
          <p:cNvSpPr/>
          <p:nvPr/>
        </p:nvSpPr>
        <p:spPr>
          <a:xfrm>
            <a:off x="1904030" y="1167520"/>
            <a:ext cx="4291200" cy="1280668"/>
          </a:xfrm>
          <a:prstGeom prst="roundRect">
            <a:avLst>
              <a:gd name="adj" fmla="val 10020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71" name="Graphic 170">
            <a:extLst>
              <a:ext uri="{FF2B5EF4-FFF2-40B4-BE49-F238E27FC236}">
                <a16:creationId xmlns:a16="http://schemas.microsoft.com/office/drawing/2014/main" id="{E401398D-A24D-F1D9-5D2A-F364720A44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85074" y="1173855"/>
            <a:ext cx="216000" cy="216000"/>
          </a:xfrm>
          <a:prstGeom prst="rect">
            <a:avLst/>
          </a:prstGeom>
        </p:spPr>
      </p:pic>
      <p:sp>
        <p:nvSpPr>
          <p:cNvPr id="172" name="Rectangle 171">
            <a:extLst>
              <a:ext uri="{FF2B5EF4-FFF2-40B4-BE49-F238E27FC236}">
                <a16:creationId xmlns:a16="http://schemas.microsoft.com/office/drawing/2014/main" id="{DEC8B30B-1039-AB6B-972B-496F5329FF5F}"/>
              </a:ext>
            </a:extLst>
          </p:cNvPr>
          <p:cNvSpPr/>
          <p:nvPr/>
        </p:nvSpPr>
        <p:spPr>
          <a:xfrm>
            <a:off x="3504245" y="1173393"/>
            <a:ext cx="1309229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Hub Virtual Network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97966BF9-90A4-5618-A6A3-913D07A8413C}"/>
              </a:ext>
            </a:extLst>
          </p:cNvPr>
          <p:cNvSpPr/>
          <p:nvPr/>
        </p:nvSpPr>
        <p:spPr>
          <a:xfrm>
            <a:off x="2030877" y="1415664"/>
            <a:ext cx="4036795" cy="906677"/>
          </a:xfrm>
          <a:prstGeom prst="roundRect">
            <a:avLst>
              <a:gd name="adj" fmla="val 10157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199D0EF-6AE9-10CC-2622-37258ADC7B79}"/>
              </a:ext>
            </a:extLst>
          </p:cNvPr>
          <p:cNvSpPr txBox="1"/>
          <p:nvPr/>
        </p:nvSpPr>
        <p:spPr>
          <a:xfrm>
            <a:off x="2216003" y="1433003"/>
            <a:ext cx="845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GatewaySubnet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70" name="Graphic 169">
            <a:extLst>
              <a:ext uri="{FF2B5EF4-FFF2-40B4-BE49-F238E27FC236}">
                <a16:creationId xmlns:a16="http://schemas.microsoft.com/office/drawing/2014/main" id="{45A39B51-7522-0E59-6334-E50D9898C2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93289" y="1446428"/>
            <a:ext cx="188595" cy="188595"/>
          </a:xfrm>
          <a:prstGeom prst="rect">
            <a:avLst/>
          </a:prstGeom>
        </p:spPr>
      </p:pic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AE9963BC-F154-F460-6F6D-B2260B2E8926}"/>
              </a:ext>
            </a:extLst>
          </p:cNvPr>
          <p:cNvSpPr/>
          <p:nvPr/>
        </p:nvSpPr>
        <p:spPr>
          <a:xfrm rot="16200000">
            <a:off x="2637002" y="4320688"/>
            <a:ext cx="1269686" cy="2757688"/>
          </a:xfrm>
          <a:prstGeom prst="roundRect">
            <a:avLst>
              <a:gd name="adj" fmla="val 9812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6" name="Graphic 205">
            <a:extLst>
              <a:ext uri="{FF2B5EF4-FFF2-40B4-BE49-F238E27FC236}">
                <a16:creationId xmlns:a16="http://schemas.microsoft.com/office/drawing/2014/main" id="{D74DEB66-66A9-964A-C00F-FB740379DC9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05393" y="5793772"/>
            <a:ext cx="367520" cy="367520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7A419650-111F-00E7-1FA2-A5FE87CC8444}"/>
              </a:ext>
            </a:extLst>
          </p:cNvPr>
          <p:cNvSpPr txBox="1"/>
          <p:nvPr/>
        </p:nvSpPr>
        <p:spPr>
          <a:xfrm>
            <a:off x="2027894" y="6126136"/>
            <a:ext cx="72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Monitor</a:t>
            </a:r>
          </a:p>
        </p:txBody>
      </p:sp>
      <p:pic>
        <p:nvPicPr>
          <p:cNvPr id="210" name="Graphic 209">
            <a:extLst>
              <a:ext uri="{FF2B5EF4-FFF2-40B4-BE49-F238E27FC236}">
                <a16:creationId xmlns:a16="http://schemas.microsoft.com/office/drawing/2014/main" id="{E3207522-5A86-C4DA-2EFC-E6F66C299DE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069716" y="5793772"/>
            <a:ext cx="367520" cy="367520"/>
          </a:xfrm>
          <a:prstGeom prst="rect">
            <a:avLst/>
          </a:prstGeom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96E81D30-4776-FEF1-E6D8-C19E38EF4CB4}"/>
              </a:ext>
            </a:extLst>
          </p:cNvPr>
          <p:cNvSpPr txBox="1"/>
          <p:nvPr/>
        </p:nvSpPr>
        <p:spPr>
          <a:xfrm>
            <a:off x="3040043" y="6126136"/>
            <a:ext cx="4268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Alerts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91B7B69-D890-A471-4807-EBCD37F675B0}"/>
              </a:ext>
            </a:extLst>
          </p:cNvPr>
          <p:cNvSpPr txBox="1"/>
          <p:nvPr/>
        </p:nvSpPr>
        <p:spPr>
          <a:xfrm>
            <a:off x="3756538" y="6126136"/>
            <a:ext cx="76326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DevOps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15" name="Graphic 214">
            <a:extLst>
              <a:ext uri="{FF2B5EF4-FFF2-40B4-BE49-F238E27FC236}">
                <a16:creationId xmlns:a16="http://schemas.microsoft.com/office/drawing/2014/main" id="{7BB44012-0E38-5BD3-408D-3C209DA56F3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54410" y="5793772"/>
            <a:ext cx="367520" cy="367520"/>
          </a:xfrm>
          <a:prstGeom prst="rect">
            <a:avLst/>
          </a:prstGeom>
        </p:spPr>
      </p:pic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985B48C3-C2BF-33B9-CED2-F3E203AE5503}"/>
              </a:ext>
            </a:extLst>
          </p:cNvPr>
          <p:cNvCxnSpPr>
            <a:cxnSpLocks/>
          </p:cNvCxnSpPr>
          <p:nvPr/>
        </p:nvCxnSpPr>
        <p:spPr>
          <a:xfrm>
            <a:off x="1024805" y="1954810"/>
            <a:ext cx="1422187" cy="245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56E20F0-31D3-FC65-34E8-450FFD2E98A8}"/>
              </a:ext>
            </a:extLst>
          </p:cNvPr>
          <p:cNvSpPr/>
          <p:nvPr/>
        </p:nvSpPr>
        <p:spPr>
          <a:xfrm>
            <a:off x="5001615" y="5010492"/>
            <a:ext cx="1319223" cy="234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Shared RG</a:t>
            </a:r>
          </a:p>
        </p:txBody>
      </p:sp>
      <p:pic>
        <p:nvPicPr>
          <p:cNvPr id="221" name="Graphic 220">
            <a:extLst>
              <a:ext uri="{FF2B5EF4-FFF2-40B4-BE49-F238E27FC236}">
                <a16:creationId xmlns:a16="http://schemas.microsoft.com/office/drawing/2014/main" id="{0A665299-21D7-483A-8AB0-C0BFC173FA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4778" y="5000398"/>
            <a:ext cx="251999" cy="252000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C9BCCAFC-4665-B288-45DB-DFCDEBFEF2E5}"/>
              </a:ext>
            </a:extLst>
          </p:cNvPr>
          <p:cNvSpPr/>
          <p:nvPr/>
        </p:nvSpPr>
        <p:spPr>
          <a:xfrm>
            <a:off x="4760009" y="5266273"/>
            <a:ext cx="3890215" cy="1078390"/>
          </a:xfrm>
          <a:prstGeom prst="roundRect">
            <a:avLst>
              <a:gd name="adj" fmla="val 9225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27" name="Graphic 226">
            <a:extLst>
              <a:ext uri="{FF2B5EF4-FFF2-40B4-BE49-F238E27FC236}">
                <a16:creationId xmlns:a16="http://schemas.microsoft.com/office/drawing/2014/main" id="{00F03831-C665-5EBF-CDA9-EC1D0F262FC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761021" y="5528332"/>
            <a:ext cx="302400" cy="302400"/>
          </a:xfrm>
          <a:prstGeom prst="rect">
            <a:avLst/>
          </a:prstGeom>
        </p:spPr>
      </p:pic>
      <p:sp>
        <p:nvSpPr>
          <p:cNvPr id="228" name="TextBox 227">
            <a:extLst>
              <a:ext uri="{FF2B5EF4-FFF2-40B4-BE49-F238E27FC236}">
                <a16:creationId xmlns:a16="http://schemas.microsoft.com/office/drawing/2014/main" id="{609EAA22-B838-91B8-A269-99B7F86018D9}"/>
              </a:ext>
            </a:extLst>
          </p:cNvPr>
          <p:cNvSpPr txBox="1"/>
          <p:nvPr/>
        </p:nvSpPr>
        <p:spPr>
          <a:xfrm>
            <a:off x="7686773" y="5801402"/>
            <a:ext cx="4585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3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7E75FAE-6EAF-239F-3FA6-E4CE1721E087}"/>
              </a:ext>
            </a:extLst>
          </p:cNvPr>
          <p:cNvSpPr txBox="1"/>
          <p:nvPr/>
        </p:nvSpPr>
        <p:spPr>
          <a:xfrm>
            <a:off x="8152990" y="5817944"/>
            <a:ext cx="526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Storage Account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31" name="Graphic 230">
            <a:extLst>
              <a:ext uri="{FF2B5EF4-FFF2-40B4-BE49-F238E27FC236}">
                <a16:creationId xmlns:a16="http://schemas.microsoft.com/office/drawing/2014/main" id="{17C0BE8A-6898-9200-207D-E2B11B37825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64500" y="5529671"/>
            <a:ext cx="303735" cy="303735"/>
          </a:xfrm>
          <a:prstGeom prst="rect">
            <a:avLst/>
          </a:prstGeom>
        </p:spPr>
      </p:pic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4EF104D3-3673-2259-E75C-4BC2C65B5FAE}"/>
              </a:ext>
            </a:extLst>
          </p:cNvPr>
          <p:cNvSpPr/>
          <p:nvPr/>
        </p:nvSpPr>
        <p:spPr bwMode="auto">
          <a:xfrm>
            <a:off x="4915984" y="5474118"/>
            <a:ext cx="1483301" cy="574534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33" name="Graphic 232">
            <a:extLst>
              <a:ext uri="{FF2B5EF4-FFF2-40B4-BE49-F238E27FC236}">
                <a16:creationId xmlns:a16="http://schemas.microsoft.com/office/drawing/2014/main" id="{1CA75F67-E6F8-31B0-C21C-243F56EEA9A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06061" y="5528332"/>
            <a:ext cx="302400" cy="302400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14C4F23B-836E-BB83-26BA-CD9037050464}"/>
              </a:ext>
            </a:extLst>
          </p:cNvPr>
          <p:cNvSpPr txBox="1"/>
          <p:nvPr/>
        </p:nvSpPr>
        <p:spPr>
          <a:xfrm>
            <a:off x="5459248" y="5814420"/>
            <a:ext cx="3923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2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35" name="Graphic 234">
            <a:extLst>
              <a:ext uri="{FF2B5EF4-FFF2-40B4-BE49-F238E27FC236}">
                <a16:creationId xmlns:a16="http://schemas.microsoft.com/office/drawing/2014/main" id="{45BC19C8-F091-676C-296C-398BF94F51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78518" y="5528332"/>
            <a:ext cx="302400" cy="302400"/>
          </a:xfrm>
          <a:prstGeom prst="rect">
            <a:avLst/>
          </a:prstGeom>
        </p:spPr>
      </p:pic>
      <p:sp>
        <p:nvSpPr>
          <p:cNvPr id="236" name="TextBox 235">
            <a:extLst>
              <a:ext uri="{FF2B5EF4-FFF2-40B4-BE49-F238E27FC236}">
                <a16:creationId xmlns:a16="http://schemas.microsoft.com/office/drawing/2014/main" id="{A258A68A-8BD8-11A7-DED8-5262F32B4579}"/>
              </a:ext>
            </a:extLst>
          </p:cNvPr>
          <p:cNvSpPr txBox="1"/>
          <p:nvPr/>
        </p:nvSpPr>
        <p:spPr>
          <a:xfrm>
            <a:off x="5935578" y="5807078"/>
            <a:ext cx="394982" cy="202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3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CE445E94-F1E0-F8A5-B4C2-52AADD9B41B0}"/>
              </a:ext>
            </a:extLst>
          </p:cNvPr>
          <p:cNvSpPr/>
          <p:nvPr/>
        </p:nvSpPr>
        <p:spPr bwMode="auto">
          <a:xfrm>
            <a:off x="6531622" y="5474118"/>
            <a:ext cx="1078207" cy="574534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39" name="Graphic 238">
            <a:extLst>
              <a:ext uri="{FF2B5EF4-FFF2-40B4-BE49-F238E27FC236}">
                <a16:creationId xmlns:a16="http://schemas.microsoft.com/office/drawing/2014/main" id="{23F53BF2-960B-10CE-D445-27D1A8FF025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76549" y="5528332"/>
            <a:ext cx="302400" cy="302400"/>
          </a:xfrm>
          <a:prstGeom prst="rect">
            <a:avLst/>
          </a:prstGeom>
        </p:spPr>
      </p:pic>
      <p:sp>
        <p:nvSpPr>
          <p:cNvPr id="240" name="TextBox 239">
            <a:extLst>
              <a:ext uri="{FF2B5EF4-FFF2-40B4-BE49-F238E27FC236}">
                <a16:creationId xmlns:a16="http://schemas.microsoft.com/office/drawing/2014/main" id="{9EE997F1-9B7D-5DAB-D379-B6EB4756631B}"/>
              </a:ext>
            </a:extLst>
          </p:cNvPr>
          <p:cNvSpPr txBox="1"/>
          <p:nvPr/>
        </p:nvSpPr>
        <p:spPr>
          <a:xfrm>
            <a:off x="6637790" y="5799850"/>
            <a:ext cx="387104" cy="202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</a:t>
            </a: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41" name="Graphic 240">
            <a:extLst>
              <a:ext uri="{FF2B5EF4-FFF2-40B4-BE49-F238E27FC236}">
                <a16:creationId xmlns:a16="http://schemas.microsoft.com/office/drawing/2014/main" id="{83F70863-10F9-848E-27C3-A6F5150CFC0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70779" y="5528332"/>
            <a:ext cx="302400" cy="302400"/>
          </a:xfrm>
          <a:prstGeom prst="rect">
            <a:avLst/>
          </a:prstGeom>
        </p:spPr>
      </p:pic>
      <p:sp>
        <p:nvSpPr>
          <p:cNvPr id="242" name="TextBox 241">
            <a:extLst>
              <a:ext uri="{FF2B5EF4-FFF2-40B4-BE49-F238E27FC236}">
                <a16:creationId xmlns:a16="http://schemas.microsoft.com/office/drawing/2014/main" id="{74379AA7-463A-CC51-55C9-F44F35004195}"/>
              </a:ext>
            </a:extLst>
          </p:cNvPr>
          <p:cNvSpPr txBox="1"/>
          <p:nvPr/>
        </p:nvSpPr>
        <p:spPr>
          <a:xfrm>
            <a:off x="7112281" y="5799850"/>
            <a:ext cx="422745" cy="202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2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C6235DCB-C38A-1D12-737A-C5FB009E0554}"/>
              </a:ext>
            </a:extLst>
          </p:cNvPr>
          <p:cNvSpPr/>
          <p:nvPr/>
        </p:nvSpPr>
        <p:spPr>
          <a:xfrm>
            <a:off x="4843457" y="5404933"/>
            <a:ext cx="3294703" cy="845527"/>
          </a:xfrm>
          <a:prstGeom prst="roundRect">
            <a:avLst>
              <a:gd name="adj" fmla="val 622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44" name="Graphic 243">
            <a:extLst>
              <a:ext uri="{FF2B5EF4-FFF2-40B4-BE49-F238E27FC236}">
                <a16:creationId xmlns:a16="http://schemas.microsoft.com/office/drawing/2014/main" id="{F623F785-3772-C444-52B0-5975007007D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33603" y="5528332"/>
            <a:ext cx="302400" cy="302400"/>
          </a:xfrm>
          <a:prstGeom prst="rect">
            <a:avLst/>
          </a:prstGeom>
        </p:spPr>
      </p:pic>
      <p:sp>
        <p:nvSpPr>
          <p:cNvPr id="245" name="TextBox 244">
            <a:extLst>
              <a:ext uri="{FF2B5EF4-FFF2-40B4-BE49-F238E27FC236}">
                <a16:creationId xmlns:a16="http://schemas.microsoft.com/office/drawing/2014/main" id="{57F09DF7-A966-D142-89EF-47C3E4319273}"/>
              </a:ext>
            </a:extLst>
          </p:cNvPr>
          <p:cNvSpPr txBox="1"/>
          <p:nvPr/>
        </p:nvSpPr>
        <p:spPr>
          <a:xfrm>
            <a:off x="5001085" y="5788703"/>
            <a:ext cx="3691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VM 1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AAB031E0-4F88-B60D-8A4E-128654B32A34}"/>
              </a:ext>
            </a:extLst>
          </p:cNvPr>
          <p:cNvSpPr txBox="1"/>
          <p:nvPr/>
        </p:nvSpPr>
        <p:spPr>
          <a:xfrm>
            <a:off x="4950944" y="6037365"/>
            <a:ext cx="125670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Proximity Placement Group 1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6A8F5E5-5759-8F6E-25D0-9277D0854FAA}"/>
              </a:ext>
            </a:extLst>
          </p:cNvPr>
          <p:cNvSpPr txBox="1"/>
          <p:nvPr/>
        </p:nvSpPr>
        <p:spPr>
          <a:xfrm>
            <a:off x="6435693" y="6037365"/>
            <a:ext cx="12700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Proximity Placement Group 2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ECF4AFCB-2825-6AC0-854F-E5FEA3823CF1}"/>
              </a:ext>
            </a:extLst>
          </p:cNvPr>
          <p:cNvSpPr/>
          <p:nvPr/>
        </p:nvSpPr>
        <p:spPr>
          <a:xfrm>
            <a:off x="9033048" y="4706555"/>
            <a:ext cx="1319223" cy="234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Shared RG</a:t>
            </a:r>
          </a:p>
        </p:txBody>
      </p:sp>
      <p:pic>
        <p:nvPicPr>
          <p:cNvPr id="225" name="Graphic 224">
            <a:extLst>
              <a:ext uri="{FF2B5EF4-FFF2-40B4-BE49-F238E27FC236}">
                <a16:creationId xmlns:a16="http://schemas.microsoft.com/office/drawing/2014/main" id="{71D09B5E-5E11-1E08-CA5C-DEEBD39610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86211" y="4696461"/>
            <a:ext cx="251999" cy="252000"/>
          </a:xfrm>
          <a:prstGeom prst="rect">
            <a:avLst/>
          </a:prstGeom>
        </p:spPr>
      </p:pic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B195A8BC-0787-0F0B-893B-F3471EAC6A98}"/>
              </a:ext>
            </a:extLst>
          </p:cNvPr>
          <p:cNvSpPr/>
          <p:nvPr/>
        </p:nvSpPr>
        <p:spPr>
          <a:xfrm>
            <a:off x="8786212" y="4955472"/>
            <a:ext cx="2570978" cy="1389191"/>
          </a:xfrm>
          <a:prstGeom prst="roundRect">
            <a:avLst>
              <a:gd name="adj" fmla="val 11588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475988E-33E2-E87D-B5D6-54479003CA02}"/>
              </a:ext>
            </a:extLst>
          </p:cNvPr>
          <p:cNvSpPr txBox="1"/>
          <p:nvPr/>
        </p:nvSpPr>
        <p:spPr>
          <a:xfrm>
            <a:off x="10832908" y="5702665"/>
            <a:ext cx="526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Storage Account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52" name="Graphic 251">
            <a:extLst>
              <a:ext uri="{FF2B5EF4-FFF2-40B4-BE49-F238E27FC236}">
                <a16:creationId xmlns:a16="http://schemas.microsoft.com/office/drawing/2014/main" id="{5048965A-664F-9299-2E19-A786E611CC8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944418" y="5404713"/>
            <a:ext cx="303735" cy="303735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BF7F9693-E276-D149-513B-ACE333502C7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739788" y="5167357"/>
            <a:ext cx="207455" cy="207455"/>
          </a:xfrm>
          <a:prstGeom prst="rect">
            <a:avLst/>
          </a:prstGeom>
        </p:spPr>
      </p:pic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DEFA7EE2-85A9-ECB8-BBF5-510DE7C8F8D1}"/>
              </a:ext>
            </a:extLst>
          </p:cNvPr>
          <p:cNvSpPr/>
          <p:nvPr/>
        </p:nvSpPr>
        <p:spPr bwMode="auto">
          <a:xfrm>
            <a:off x="8983857" y="5396717"/>
            <a:ext cx="1720093" cy="734332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55" name="Graphic 254">
            <a:extLst>
              <a:ext uri="{FF2B5EF4-FFF2-40B4-BE49-F238E27FC236}">
                <a16:creationId xmlns:a16="http://schemas.microsoft.com/office/drawing/2014/main" id="{139BBA83-7CFE-9FEF-AE8A-C7CBDBEBCB6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114689" y="5516301"/>
            <a:ext cx="302400" cy="302400"/>
          </a:xfrm>
          <a:prstGeom prst="rect">
            <a:avLst/>
          </a:prstGeom>
        </p:spPr>
      </p:pic>
      <p:pic>
        <p:nvPicPr>
          <p:cNvPr id="256" name="Graphic 255">
            <a:extLst>
              <a:ext uri="{FF2B5EF4-FFF2-40B4-BE49-F238E27FC236}">
                <a16:creationId xmlns:a16="http://schemas.microsoft.com/office/drawing/2014/main" id="{91DBEEEC-351F-5623-31E7-59FB45B12BD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264833" y="5516044"/>
            <a:ext cx="302400" cy="302400"/>
          </a:xfrm>
          <a:prstGeom prst="rect">
            <a:avLst/>
          </a:prstGeom>
        </p:spPr>
      </p:pic>
      <p:sp>
        <p:nvSpPr>
          <p:cNvPr id="257" name="TextBox 256">
            <a:extLst>
              <a:ext uri="{FF2B5EF4-FFF2-40B4-BE49-F238E27FC236}">
                <a16:creationId xmlns:a16="http://schemas.microsoft.com/office/drawing/2014/main" id="{91B8A7E5-850D-CD36-963E-5C8D205D2099}"/>
              </a:ext>
            </a:extLst>
          </p:cNvPr>
          <p:cNvSpPr txBox="1"/>
          <p:nvPr/>
        </p:nvSpPr>
        <p:spPr>
          <a:xfrm>
            <a:off x="10058540" y="5780884"/>
            <a:ext cx="4143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2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60F3E53-2958-F177-2E12-E441E174F611}"/>
              </a:ext>
            </a:extLst>
          </p:cNvPr>
          <p:cNvSpPr txBox="1"/>
          <p:nvPr/>
        </p:nvSpPr>
        <p:spPr>
          <a:xfrm>
            <a:off x="9221383" y="5780884"/>
            <a:ext cx="393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 1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DB0C154E-690B-390F-6306-790AC37BD392}"/>
              </a:ext>
            </a:extLst>
          </p:cNvPr>
          <p:cNvSpPr/>
          <p:nvPr/>
        </p:nvSpPr>
        <p:spPr>
          <a:xfrm>
            <a:off x="8903807" y="5128727"/>
            <a:ext cx="1921300" cy="1157700"/>
          </a:xfrm>
          <a:prstGeom prst="roundRect">
            <a:avLst>
              <a:gd name="adj" fmla="val 622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94DAE5B-60F9-0C8C-BA73-FA7206924906}"/>
              </a:ext>
            </a:extLst>
          </p:cNvPr>
          <p:cNvSpPr txBox="1"/>
          <p:nvPr/>
        </p:nvSpPr>
        <p:spPr>
          <a:xfrm>
            <a:off x="9220248" y="6112191"/>
            <a:ext cx="128246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Proximity Placement Group 3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AF4BAAD0-A064-A989-6C65-DDD2E350ED3D}"/>
              </a:ext>
            </a:extLst>
          </p:cNvPr>
          <p:cNvSpPr txBox="1"/>
          <p:nvPr/>
        </p:nvSpPr>
        <p:spPr>
          <a:xfrm>
            <a:off x="9392194" y="5954308"/>
            <a:ext cx="8338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Availability Set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7ACFD439-6D77-9CA6-7DDC-273D429AE794}"/>
              </a:ext>
            </a:extLst>
          </p:cNvPr>
          <p:cNvSpPr/>
          <p:nvPr/>
        </p:nvSpPr>
        <p:spPr>
          <a:xfrm>
            <a:off x="9114329" y="5460597"/>
            <a:ext cx="1454406" cy="506830"/>
          </a:xfrm>
          <a:prstGeom prst="roundRect">
            <a:avLst>
              <a:gd name="adj" fmla="val 6222"/>
            </a:avLst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263" name="Connector: Elbow 262">
            <a:extLst>
              <a:ext uri="{FF2B5EF4-FFF2-40B4-BE49-F238E27FC236}">
                <a16:creationId xmlns:a16="http://schemas.microsoft.com/office/drawing/2014/main" id="{E4C4A82C-E46B-6EE1-F15A-0B4492352E2F}"/>
              </a:ext>
            </a:extLst>
          </p:cNvPr>
          <p:cNvCxnSpPr>
            <a:cxnSpLocks/>
            <a:stCxn id="253" idx="1"/>
            <a:endCxn id="256" idx="0"/>
          </p:cNvCxnSpPr>
          <p:nvPr/>
        </p:nvCxnSpPr>
        <p:spPr>
          <a:xfrm rot="10800000" flipV="1">
            <a:off x="9416034" y="5271084"/>
            <a:ext cx="323755" cy="244959"/>
          </a:xfrm>
          <a:prstGeom prst="bentConnector2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4" name="Connector: Elbow 263">
            <a:extLst>
              <a:ext uri="{FF2B5EF4-FFF2-40B4-BE49-F238E27FC236}">
                <a16:creationId xmlns:a16="http://schemas.microsoft.com/office/drawing/2014/main" id="{F64637EE-AA95-1831-222A-FF3C35C1C346}"/>
              </a:ext>
            </a:extLst>
          </p:cNvPr>
          <p:cNvCxnSpPr>
            <a:cxnSpLocks/>
            <a:stCxn id="253" idx="3"/>
            <a:endCxn id="255" idx="0"/>
          </p:cNvCxnSpPr>
          <p:nvPr/>
        </p:nvCxnSpPr>
        <p:spPr>
          <a:xfrm>
            <a:off x="9947243" y="5271085"/>
            <a:ext cx="318646" cy="245216"/>
          </a:xfrm>
          <a:prstGeom prst="bentConnector2">
            <a:avLst/>
          </a:prstGeom>
          <a:ln w="952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61EC5947-92FB-4BD8-7D54-838F48F9B1AB}"/>
              </a:ext>
            </a:extLst>
          </p:cNvPr>
          <p:cNvCxnSpPr>
            <a:cxnSpLocks/>
          </p:cNvCxnSpPr>
          <p:nvPr/>
        </p:nvCxnSpPr>
        <p:spPr>
          <a:xfrm flipV="1">
            <a:off x="4998855" y="2320934"/>
            <a:ext cx="0" cy="700789"/>
          </a:xfrm>
          <a:prstGeom prst="straightConnector1">
            <a:avLst/>
          </a:prstGeom>
          <a:ln w="12700">
            <a:solidFill>
              <a:srgbClr val="2BCBED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196F2A4-F6B7-FEAF-0119-F5AB18CD56EC}"/>
              </a:ext>
            </a:extLst>
          </p:cNvPr>
          <p:cNvSpPr/>
          <p:nvPr/>
        </p:nvSpPr>
        <p:spPr>
          <a:xfrm>
            <a:off x="6688921" y="912302"/>
            <a:ext cx="121482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Spoke RG</a:t>
            </a:r>
          </a:p>
        </p:txBody>
      </p:sp>
      <p:pic>
        <p:nvPicPr>
          <p:cNvPr id="150" name="Graphic 149">
            <a:extLst>
              <a:ext uri="{FF2B5EF4-FFF2-40B4-BE49-F238E27FC236}">
                <a16:creationId xmlns:a16="http://schemas.microsoft.com/office/drawing/2014/main" id="{33F1D026-0760-45BB-A59C-9BBA30E006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1546" y="901718"/>
            <a:ext cx="252000" cy="252000"/>
          </a:xfrm>
          <a:prstGeom prst="rect">
            <a:avLst/>
          </a:prstGeom>
        </p:spPr>
      </p:pic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0EA25F8A-8375-67D6-6D1F-B2A77EA9E81C}"/>
              </a:ext>
            </a:extLst>
          </p:cNvPr>
          <p:cNvSpPr/>
          <p:nvPr/>
        </p:nvSpPr>
        <p:spPr>
          <a:xfrm>
            <a:off x="6451546" y="1167520"/>
            <a:ext cx="4874866" cy="1281600"/>
          </a:xfrm>
          <a:prstGeom prst="roundRect">
            <a:avLst>
              <a:gd name="adj" fmla="val 10020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157BB3CD-1552-1CEF-7991-322C2C6EBD21}"/>
              </a:ext>
            </a:extLst>
          </p:cNvPr>
          <p:cNvSpPr/>
          <p:nvPr/>
        </p:nvSpPr>
        <p:spPr>
          <a:xfrm>
            <a:off x="6588554" y="1415664"/>
            <a:ext cx="4600851" cy="907200"/>
          </a:xfrm>
          <a:prstGeom prst="roundRect">
            <a:avLst>
              <a:gd name="adj" fmla="val 10636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63B495B-ED03-94F2-7242-6C18490B5CAB}"/>
              </a:ext>
            </a:extLst>
          </p:cNvPr>
          <p:cNvSpPr/>
          <p:nvPr/>
        </p:nvSpPr>
        <p:spPr>
          <a:xfrm>
            <a:off x="8243460" y="1173393"/>
            <a:ext cx="1512831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Spoke Virtual Network</a:t>
            </a:r>
          </a:p>
        </p:txBody>
      </p:sp>
      <p:pic>
        <p:nvPicPr>
          <p:cNvPr id="148" name="Graphic 147">
            <a:extLst>
              <a:ext uri="{FF2B5EF4-FFF2-40B4-BE49-F238E27FC236}">
                <a16:creationId xmlns:a16="http://schemas.microsoft.com/office/drawing/2014/main" id="{E9A91A86-3176-EE87-4C9D-EE13980FF4E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21667" y="1173855"/>
            <a:ext cx="216000" cy="216000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667929BE-BD22-D9E7-F379-A0D542B81A1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737916" y="1856727"/>
            <a:ext cx="172800" cy="172800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1D9C9505-7433-3384-555E-641EAE446016}"/>
              </a:ext>
            </a:extLst>
          </p:cNvPr>
          <p:cNvSpPr txBox="1"/>
          <p:nvPr/>
        </p:nvSpPr>
        <p:spPr>
          <a:xfrm>
            <a:off x="7914332" y="1433003"/>
            <a:ext cx="9228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VNet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Int. Subnet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A302C09F-2544-9F5C-47AA-5319461911DE}"/>
              </a:ext>
            </a:extLst>
          </p:cNvPr>
          <p:cNvSpPr/>
          <p:nvPr/>
        </p:nvSpPr>
        <p:spPr bwMode="auto">
          <a:xfrm>
            <a:off x="7796757" y="1655127"/>
            <a:ext cx="1022400" cy="576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46" name="Graphic 145">
            <a:extLst>
              <a:ext uri="{FF2B5EF4-FFF2-40B4-BE49-F238E27FC236}">
                <a16:creationId xmlns:a16="http://schemas.microsoft.com/office/drawing/2014/main" id="{746634EA-FA70-9E06-0086-765444A5F9E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96757" y="1446428"/>
            <a:ext cx="188595" cy="188595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20A5AD6-9537-92A8-9C2A-940E82CAF589}"/>
              </a:ext>
            </a:extLst>
          </p:cNvPr>
          <p:cNvSpPr txBox="1"/>
          <p:nvPr/>
        </p:nvSpPr>
        <p:spPr>
          <a:xfrm>
            <a:off x="6811305" y="1433003"/>
            <a:ext cx="6177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PE Subnet</a:t>
            </a:r>
          </a:p>
        </p:txBody>
      </p:sp>
      <p:pic>
        <p:nvPicPr>
          <p:cNvPr id="127" name="Graphic 126">
            <a:extLst>
              <a:ext uri="{FF2B5EF4-FFF2-40B4-BE49-F238E27FC236}">
                <a16:creationId xmlns:a16="http://schemas.microsoft.com/office/drawing/2014/main" id="{54C29D8D-E338-7ED5-C035-F94611A85E0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70195" y="1446428"/>
            <a:ext cx="188595" cy="188595"/>
          </a:xfrm>
          <a:prstGeom prst="rect">
            <a:avLst/>
          </a:prstGeom>
        </p:spPr>
      </p:pic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E108933-A595-C92E-249B-A5EA384685EE}"/>
              </a:ext>
            </a:extLst>
          </p:cNvPr>
          <p:cNvSpPr/>
          <p:nvPr/>
        </p:nvSpPr>
        <p:spPr bwMode="auto">
          <a:xfrm>
            <a:off x="6670195" y="1655127"/>
            <a:ext cx="1022400" cy="576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23" name="Graphic 334">
            <a:extLst>
              <a:ext uri="{FF2B5EF4-FFF2-40B4-BE49-F238E27FC236}">
                <a16:creationId xmlns:a16="http://schemas.microsoft.com/office/drawing/2014/main" id="{C2BE8A8A-83E7-0C18-E53D-301DBC060F2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610377" y="1856727"/>
            <a:ext cx="172800" cy="17280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807CD868-B14D-4A43-2F52-5D997E40B2E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043589" y="1756882"/>
            <a:ext cx="303735" cy="303735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47683254-80AC-E158-F7F5-32BE6E0AD78E}"/>
              </a:ext>
            </a:extLst>
          </p:cNvPr>
          <p:cNvSpPr txBox="1"/>
          <p:nvPr/>
        </p:nvSpPr>
        <p:spPr>
          <a:xfrm>
            <a:off x="9065751" y="1433003"/>
            <a:ext cx="650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ML Subnet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41" name="Graphic 140">
            <a:extLst>
              <a:ext uri="{FF2B5EF4-FFF2-40B4-BE49-F238E27FC236}">
                <a16:creationId xmlns:a16="http://schemas.microsoft.com/office/drawing/2014/main" id="{6FBD6B99-E426-870F-8B71-79E7488464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23319" y="1446428"/>
            <a:ext cx="188595" cy="188595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9C3B1159-B37F-C751-ECA1-ED2519770E08}"/>
              </a:ext>
            </a:extLst>
          </p:cNvPr>
          <p:cNvSpPr txBox="1"/>
          <p:nvPr/>
        </p:nvSpPr>
        <p:spPr>
          <a:xfrm>
            <a:off x="10172564" y="1433003"/>
            <a:ext cx="6946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AKS Subnet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34" name="Graphic 133">
            <a:extLst>
              <a:ext uri="{FF2B5EF4-FFF2-40B4-BE49-F238E27FC236}">
                <a16:creationId xmlns:a16="http://schemas.microsoft.com/office/drawing/2014/main" id="{AEAB392D-97E6-B93B-9BE3-12AEDE9850D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49882" y="1446428"/>
            <a:ext cx="188595" cy="188595"/>
          </a:xfrm>
          <a:prstGeom prst="rect">
            <a:avLst/>
          </a:prstGeom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D22E0177-4938-8905-8017-AF577788B803}"/>
              </a:ext>
            </a:extLst>
          </p:cNvPr>
          <p:cNvSpPr txBox="1"/>
          <p:nvPr/>
        </p:nvSpPr>
        <p:spPr>
          <a:xfrm>
            <a:off x="2804548" y="5461637"/>
            <a:ext cx="915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Microsoft Defender for Cloud</a:t>
            </a:r>
          </a:p>
        </p:txBody>
      </p:sp>
      <p:pic>
        <p:nvPicPr>
          <p:cNvPr id="208" name="Graphic 207">
            <a:extLst>
              <a:ext uri="{FF2B5EF4-FFF2-40B4-BE49-F238E27FC236}">
                <a16:creationId xmlns:a16="http://schemas.microsoft.com/office/drawing/2014/main" id="{32F31EC0-4DC4-BEEF-A39F-AD361353F5A1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078301" y="5135855"/>
            <a:ext cx="367520" cy="367520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C6239EAB-7F3A-E1A8-439B-DED6F53DB97D}"/>
              </a:ext>
            </a:extLst>
          </p:cNvPr>
          <p:cNvSpPr txBox="1"/>
          <p:nvPr/>
        </p:nvSpPr>
        <p:spPr>
          <a:xfrm>
            <a:off x="3791232" y="5461637"/>
            <a:ext cx="69387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 Insights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13" name="Graphic 212">
            <a:extLst>
              <a:ext uri="{FF2B5EF4-FFF2-40B4-BE49-F238E27FC236}">
                <a16:creationId xmlns:a16="http://schemas.microsoft.com/office/drawing/2014/main" id="{930FAB53-03B8-5D14-20BC-67663486F42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54410" y="5135855"/>
            <a:ext cx="367520" cy="367520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CBE1ED0C-5613-52E6-8B0C-AF21E3A0DC31}"/>
              </a:ext>
            </a:extLst>
          </p:cNvPr>
          <p:cNvSpPr txBox="1"/>
          <p:nvPr/>
        </p:nvSpPr>
        <p:spPr>
          <a:xfrm>
            <a:off x="2045417" y="5461637"/>
            <a:ext cx="687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22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IN" sz="700" b="0"/>
              <a:t>Microsoft Entra ID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236C56B7-C301-62BF-8E5C-A813A707E70B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205553" y="5136015"/>
            <a:ext cx="367200" cy="367200"/>
          </a:xfrm>
          <a:prstGeom prst="rect">
            <a:avLst/>
          </a:prstGeom>
        </p:spPr>
      </p:pic>
      <p:sp>
        <p:nvSpPr>
          <p:cNvPr id="333" name="TextBox 116">
            <a:extLst>
              <a:ext uri="{FF2B5EF4-FFF2-40B4-BE49-F238E27FC236}">
                <a16:creationId xmlns:a16="http://schemas.microsoft.com/office/drawing/2014/main" id="{2EA6C825-ED6E-FCA5-AF5D-22AF7349BC95}"/>
              </a:ext>
            </a:extLst>
          </p:cNvPr>
          <p:cNvSpPr txBox="1"/>
          <p:nvPr/>
        </p:nvSpPr>
        <p:spPr>
          <a:xfrm>
            <a:off x="4981884" y="2480010"/>
            <a:ext cx="8214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</a:t>
            </a:r>
            <a:r>
              <a:rPr lang="en-IN" sz="9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et Peering </a:t>
            </a: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39EB78B-F80B-E96B-83F2-1791FC99D296}"/>
              </a:ext>
            </a:extLst>
          </p:cNvPr>
          <p:cNvSpPr/>
          <p:nvPr/>
        </p:nvSpPr>
        <p:spPr>
          <a:xfrm>
            <a:off x="1884375" y="226490"/>
            <a:ext cx="1279597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3739">
              <a:lnSpc>
                <a:spcPct val="90000"/>
              </a:lnSpc>
              <a:spcAft>
                <a:spcPts val="588"/>
              </a:spcAft>
              <a:defRPr/>
            </a:pPr>
            <a:r>
              <a:rPr lang="en-US" sz="11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 Tenant</a:t>
            </a:r>
          </a:p>
        </p:txBody>
      </p:sp>
      <p:pic>
        <p:nvPicPr>
          <p:cNvPr id="345" name="Graphic 344">
            <a:extLst>
              <a:ext uri="{FF2B5EF4-FFF2-40B4-BE49-F238E27FC236}">
                <a16:creationId xmlns:a16="http://schemas.microsoft.com/office/drawing/2014/main" id="{F71EC4D0-812C-D585-7532-EFFF7D15DF3B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788087" y="580297"/>
            <a:ext cx="230400" cy="230400"/>
          </a:xfrm>
          <a:prstGeom prst="rect">
            <a:avLst/>
          </a:prstGeom>
        </p:spPr>
      </p:pic>
      <p:sp>
        <p:nvSpPr>
          <p:cNvPr id="346" name="Rectangle 345">
            <a:extLst>
              <a:ext uri="{FF2B5EF4-FFF2-40B4-BE49-F238E27FC236}">
                <a16:creationId xmlns:a16="http://schemas.microsoft.com/office/drawing/2014/main" id="{E158ACC1-18C3-3B92-D843-A79F95049026}"/>
              </a:ext>
            </a:extLst>
          </p:cNvPr>
          <p:cNvSpPr/>
          <p:nvPr/>
        </p:nvSpPr>
        <p:spPr>
          <a:xfrm>
            <a:off x="1681116" y="498755"/>
            <a:ext cx="9948750" cy="6034418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4"/>
            <a:endParaRPr lang="en-US" sz="100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3A25D2A7-D3D8-119B-26B7-C7AA70116ED3}"/>
              </a:ext>
            </a:extLst>
          </p:cNvPr>
          <p:cNvSpPr/>
          <p:nvPr/>
        </p:nvSpPr>
        <p:spPr bwMode="auto">
          <a:xfrm>
            <a:off x="2093289" y="1655127"/>
            <a:ext cx="1022400" cy="576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BFBBA31-32D9-1654-AFCD-24F0D9C0E668}"/>
              </a:ext>
            </a:extLst>
          </p:cNvPr>
          <p:cNvSpPr/>
          <p:nvPr/>
        </p:nvSpPr>
        <p:spPr>
          <a:xfrm>
            <a:off x="2161951" y="2050882"/>
            <a:ext cx="876641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VPN Gateway</a:t>
            </a:r>
          </a:p>
        </p:txBody>
      </p:sp>
      <p:pic>
        <p:nvPicPr>
          <p:cNvPr id="168" name="Graphic 167">
            <a:extLst>
              <a:ext uri="{FF2B5EF4-FFF2-40B4-BE49-F238E27FC236}">
                <a16:creationId xmlns:a16="http://schemas.microsoft.com/office/drawing/2014/main" id="{7847632E-6FE8-D893-9490-14D09E9AFB6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449691" y="1734341"/>
            <a:ext cx="301161" cy="3024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5A786194-B50B-8F9D-9BFD-1A1EC5D1F482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107131" y="1676915"/>
            <a:ext cx="171450" cy="171450"/>
          </a:xfrm>
          <a:prstGeom prst="rect">
            <a:avLst/>
          </a:prstGeom>
        </p:spPr>
      </p:pic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0A06E498-E21F-26EE-4F36-9FB07E8EA73B}"/>
              </a:ext>
            </a:extLst>
          </p:cNvPr>
          <p:cNvSpPr/>
          <p:nvPr/>
        </p:nvSpPr>
        <p:spPr bwMode="auto">
          <a:xfrm>
            <a:off x="8923319" y="1655127"/>
            <a:ext cx="1022400" cy="576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36" name="Graphic 135">
            <a:extLst>
              <a:ext uri="{FF2B5EF4-FFF2-40B4-BE49-F238E27FC236}">
                <a16:creationId xmlns:a16="http://schemas.microsoft.com/office/drawing/2014/main" id="{CF73B0AE-DE65-2936-C360-43FD5B4E5C5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860635" y="1856727"/>
            <a:ext cx="172800" cy="1728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F82320D6-ADEF-A1CD-7BA6-3FA51BC27D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290834" y="1774404"/>
            <a:ext cx="302400" cy="302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E40BA6-1393-405F-9A5C-6F5669FBE386}"/>
              </a:ext>
            </a:extLst>
          </p:cNvPr>
          <p:cNvSpPr txBox="1"/>
          <p:nvPr/>
        </p:nvSpPr>
        <p:spPr>
          <a:xfrm>
            <a:off x="9270359" y="2050882"/>
            <a:ext cx="3433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84ADF387-9987-AA89-B63D-42F828B2285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938117" y="1679564"/>
            <a:ext cx="171450" cy="171450"/>
          </a:xfrm>
          <a:prstGeom prst="rect">
            <a:avLst/>
          </a:prstGeom>
        </p:spPr>
      </p:pic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7B26600-6213-AC11-9BE1-4FDE284F32A6}"/>
              </a:ext>
            </a:extLst>
          </p:cNvPr>
          <p:cNvSpPr/>
          <p:nvPr/>
        </p:nvSpPr>
        <p:spPr bwMode="auto">
          <a:xfrm>
            <a:off x="10049882" y="1655127"/>
            <a:ext cx="1022400" cy="576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29" name="Graphic 128">
            <a:extLst>
              <a:ext uri="{FF2B5EF4-FFF2-40B4-BE49-F238E27FC236}">
                <a16:creationId xmlns:a16="http://schemas.microsoft.com/office/drawing/2014/main" id="{6F48E940-1D0D-D0DD-46A6-A0C9A7259A8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988851" y="1856727"/>
            <a:ext cx="172800" cy="1728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D15C583-A221-0D71-763B-9A9BC8588D6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29147" y="1774404"/>
            <a:ext cx="302400" cy="30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FDFC248-DA54-61F7-01E6-B58F218F5AF8}"/>
              </a:ext>
            </a:extLst>
          </p:cNvPr>
          <p:cNvSpPr txBox="1"/>
          <p:nvPr/>
        </p:nvSpPr>
        <p:spPr>
          <a:xfrm>
            <a:off x="10408672" y="2050882"/>
            <a:ext cx="3433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VM</a:t>
            </a:r>
            <a:endParaRPr kumimoji="0" lang="en-IN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A36107F-9C15-1037-79C9-4999D7325710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062177" y="1679564"/>
            <a:ext cx="171450" cy="1714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82A4DF-6003-ACA3-8C24-3BE38ED307D8}"/>
              </a:ext>
            </a:extLst>
          </p:cNvPr>
          <p:cNvSpPr/>
          <p:nvPr/>
        </p:nvSpPr>
        <p:spPr>
          <a:xfrm>
            <a:off x="2152140" y="2498608"/>
            <a:ext cx="131922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Shared RG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E062704-6DA7-C950-AE1F-4C32518B68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04029" y="2488513"/>
            <a:ext cx="252000" cy="2520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769341-8563-8548-52A6-E1930F1B3F9F}"/>
              </a:ext>
            </a:extLst>
          </p:cNvPr>
          <p:cNvSpPr/>
          <p:nvPr/>
        </p:nvSpPr>
        <p:spPr>
          <a:xfrm>
            <a:off x="1893001" y="2763895"/>
            <a:ext cx="4291812" cy="2189557"/>
          </a:xfrm>
          <a:prstGeom prst="roundRect">
            <a:avLst>
              <a:gd name="adj" fmla="val 4899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8B2661-A73D-D6B7-8B72-517988D84A28}"/>
              </a:ext>
            </a:extLst>
          </p:cNvPr>
          <p:cNvSpPr/>
          <p:nvPr/>
        </p:nvSpPr>
        <p:spPr>
          <a:xfrm>
            <a:off x="2031267" y="3021723"/>
            <a:ext cx="3557979" cy="1847789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920BB09-8352-8219-C787-126830E95E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41292" y="2774261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BED894D-1A11-4B7C-D211-5146FA744953}"/>
              </a:ext>
            </a:extLst>
          </p:cNvPr>
          <p:cNvSpPr/>
          <p:nvPr/>
        </p:nvSpPr>
        <p:spPr>
          <a:xfrm>
            <a:off x="3269992" y="2783256"/>
            <a:ext cx="1309229" cy="2169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Shared Virtual Network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3B77FA3-0651-E848-FE75-45E8C6F240B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95554" y="3496362"/>
            <a:ext cx="857135" cy="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Graphic 281">
            <a:extLst>
              <a:ext uri="{FF2B5EF4-FFF2-40B4-BE49-F238E27FC236}">
                <a16:creationId xmlns:a16="http://schemas.microsoft.com/office/drawing/2014/main" id="{F866CE42-739B-D05E-ACEC-F2DF534DEB2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5734041" y="2922414"/>
            <a:ext cx="302400" cy="302400"/>
          </a:xfrm>
          <a:prstGeom prst="rect">
            <a:avLst/>
          </a:prstGeom>
        </p:spPr>
      </p:pic>
      <p:sp>
        <p:nvSpPr>
          <p:cNvPr id="102" name="TextBox 282">
            <a:extLst>
              <a:ext uri="{FF2B5EF4-FFF2-40B4-BE49-F238E27FC236}">
                <a16:creationId xmlns:a16="http://schemas.microsoft.com/office/drawing/2014/main" id="{DBF20291-A7B3-5EB8-1A5D-20C41D9E4A02}"/>
              </a:ext>
            </a:extLst>
          </p:cNvPr>
          <p:cNvSpPr txBox="1"/>
          <p:nvPr/>
        </p:nvSpPr>
        <p:spPr>
          <a:xfrm>
            <a:off x="5615365" y="3228035"/>
            <a:ext cx="5397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Key Vault</a:t>
            </a:r>
          </a:p>
        </p:txBody>
      </p:sp>
      <p:pic>
        <p:nvPicPr>
          <p:cNvPr id="104" name="Graphic 295">
            <a:extLst>
              <a:ext uri="{FF2B5EF4-FFF2-40B4-BE49-F238E27FC236}">
                <a16:creationId xmlns:a16="http://schemas.microsoft.com/office/drawing/2014/main" id="{28341305-451F-AAEF-F273-00055ED6086D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5734041" y="3440426"/>
            <a:ext cx="302400" cy="302400"/>
          </a:xfrm>
          <a:prstGeom prst="rect">
            <a:avLst/>
          </a:prstGeom>
        </p:spPr>
      </p:pic>
      <p:sp>
        <p:nvSpPr>
          <p:cNvPr id="105" name="TextBox 296">
            <a:extLst>
              <a:ext uri="{FF2B5EF4-FFF2-40B4-BE49-F238E27FC236}">
                <a16:creationId xmlns:a16="http://schemas.microsoft.com/office/drawing/2014/main" id="{C2EC28FC-B05B-0FDE-954F-79F65202D59C}"/>
              </a:ext>
            </a:extLst>
          </p:cNvPr>
          <p:cNvSpPr txBox="1"/>
          <p:nvPr/>
        </p:nvSpPr>
        <p:spPr>
          <a:xfrm>
            <a:off x="5595900" y="3745563"/>
            <a:ext cx="5786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DNS Zone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254F6DEB-0EBC-E14E-5278-21511E84F6AE}"/>
              </a:ext>
            </a:extLst>
          </p:cNvPr>
          <p:cNvSpPr/>
          <p:nvPr/>
        </p:nvSpPr>
        <p:spPr bwMode="auto">
          <a:xfrm>
            <a:off x="2120484" y="3224814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8C0D480-8BB8-7A11-F512-6D6F77AB030F}"/>
              </a:ext>
            </a:extLst>
          </p:cNvPr>
          <p:cNvSpPr txBox="1"/>
          <p:nvPr/>
        </p:nvSpPr>
        <p:spPr>
          <a:xfrm>
            <a:off x="2221250" y="3650702"/>
            <a:ext cx="833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Application Gateway</a:t>
            </a:r>
          </a:p>
        </p:txBody>
      </p:sp>
      <p:pic>
        <p:nvPicPr>
          <p:cNvPr id="153" name="Graphic 152">
            <a:extLst>
              <a:ext uri="{FF2B5EF4-FFF2-40B4-BE49-F238E27FC236}">
                <a16:creationId xmlns:a16="http://schemas.microsoft.com/office/drawing/2014/main" id="{92680FCE-EAB1-7071-FD6C-D89FC497D97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86113" y="3346015"/>
            <a:ext cx="303735" cy="303735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ED8CD688-A9FF-E471-09DD-BEB087E7ACF9}"/>
              </a:ext>
            </a:extLst>
          </p:cNvPr>
          <p:cNvSpPr txBox="1"/>
          <p:nvPr/>
        </p:nvSpPr>
        <p:spPr>
          <a:xfrm>
            <a:off x="2218191" y="3026257"/>
            <a:ext cx="794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AppGwSubnet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56" name="Graphic 155">
            <a:extLst>
              <a:ext uri="{FF2B5EF4-FFF2-40B4-BE49-F238E27FC236}">
                <a16:creationId xmlns:a16="http://schemas.microsoft.com/office/drawing/2014/main" id="{79CEABAD-F4C4-BBFD-C11C-423E624682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95839" y="3039682"/>
            <a:ext cx="188595" cy="188595"/>
          </a:xfrm>
          <a:prstGeom prst="rect">
            <a:avLst/>
          </a:prstGeom>
        </p:spPr>
      </p:pic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B1258A1E-08E4-503E-359E-5598A2452E78}"/>
              </a:ext>
            </a:extLst>
          </p:cNvPr>
          <p:cNvSpPr/>
          <p:nvPr/>
        </p:nvSpPr>
        <p:spPr bwMode="auto">
          <a:xfrm>
            <a:off x="3282630" y="3224814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E70DB65-EFAF-3BAE-577B-C3F6E9DECA20}"/>
              </a:ext>
            </a:extLst>
          </p:cNvPr>
          <p:cNvSpPr txBox="1"/>
          <p:nvPr/>
        </p:nvSpPr>
        <p:spPr>
          <a:xfrm>
            <a:off x="3546475" y="3650702"/>
            <a:ext cx="4949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Bastion</a:t>
            </a:r>
          </a:p>
        </p:txBody>
      </p:sp>
      <p:pic>
        <p:nvPicPr>
          <p:cNvPr id="177" name="Picture 176" descr="Icon&#10;&#10;Description automatically generated">
            <a:extLst>
              <a:ext uri="{FF2B5EF4-FFF2-40B4-BE49-F238E27FC236}">
                <a16:creationId xmlns:a16="http://schemas.microsoft.com/office/drawing/2014/main" id="{4B9D9C73-06CE-A9AC-C659-4BD084312ED5}"/>
              </a:ext>
            </a:extLst>
          </p:cNvPr>
          <p:cNvPicPr>
            <a:picLocks noChangeAspect="1"/>
          </p:cNvPicPr>
          <p:nvPr/>
        </p:nvPicPr>
        <p:blipFill rotWithShape="1"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0" r="24304"/>
          <a:stretch/>
        </p:blipFill>
        <p:spPr>
          <a:xfrm>
            <a:off x="3634994" y="3346015"/>
            <a:ext cx="314240" cy="302400"/>
          </a:xfrm>
          <a:prstGeom prst="rect">
            <a:avLst/>
          </a:prstGeom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0DB38BC0-03EB-5351-AB9B-1C9C222B76A9}"/>
              </a:ext>
            </a:extLst>
          </p:cNvPr>
          <p:cNvSpPr txBox="1"/>
          <p:nvPr/>
        </p:nvSpPr>
        <p:spPr>
          <a:xfrm>
            <a:off x="3402958" y="3026257"/>
            <a:ext cx="8102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BastionSubnet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80" name="Graphic 179">
            <a:extLst>
              <a:ext uri="{FF2B5EF4-FFF2-40B4-BE49-F238E27FC236}">
                <a16:creationId xmlns:a16="http://schemas.microsoft.com/office/drawing/2014/main" id="{7EC23EBD-D56F-58CC-33FB-58ABE5169E0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82768" y="3039682"/>
            <a:ext cx="188595" cy="188595"/>
          </a:xfrm>
          <a:prstGeom prst="rect">
            <a:avLst/>
          </a:prstGeom>
        </p:spPr>
      </p:pic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1E85CED-BDB3-231B-404B-86A8EC44E973}"/>
              </a:ext>
            </a:extLst>
          </p:cNvPr>
          <p:cNvSpPr/>
          <p:nvPr/>
        </p:nvSpPr>
        <p:spPr bwMode="auto">
          <a:xfrm>
            <a:off x="2120484" y="4113746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9A6254D-58CC-EDF2-667F-2E0E1BE5DECA}"/>
              </a:ext>
            </a:extLst>
          </p:cNvPr>
          <p:cNvSpPr/>
          <p:nvPr/>
        </p:nvSpPr>
        <p:spPr>
          <a:xfrm>
            <a:off x="2291789" y="4516872"/>
            <a:ext cx="685525" cy="2861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Firewall</a:t>
            </a:r>
          </a:p>
        </p:txBody>
      </p:sp>
      <p:pic>
        <p:nvPicPr>
          <p:cNvPr id="184" name="Graphic 183">
            <a:extLst>
              <a:ext uri="{FF2B5EF4-FFF2-40B4-BE49-F238E27FC236}">
                <a16:creationId xmlns:a16="http://schemas.microsoft.com/office/drawing/2014/main" id="{93704EA1-D20E-040E-9569-BC473C813F1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480484" y="4238564"/>
            <a:ext cx="302400" cy="302400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EA10ACE9-66D3-1F7F-A513-4EFF7E19C763}"/>
              </a:ext>
            </a:extLst>
          </p:cNvPr>
          <p:cNvSpPr txBox="1"/>
          <p:nvPr/>
        </p:nvSpPr>
        <p:spPr>
          <a:xfrm>
            <a:off x="2218191" y="3909537"/>
            <a:ext cx="1041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err="1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AzureFirewallSubnet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87" name="Graphic 186">
            <a:extLst>
              <a:ext uri="{FF2B5EF4-FFF2-40B4-BE49-F238E27FC236}">
                <a16:creationId xmlns:a16="http://schemas.microsoft.com/office/drawing/2014/main" id="{70126303-DB0C-5032-9A05-8D364EFBDAD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95839" y="3922962"/>
            <a:ext cx="188595" cy="188595"/>
          </a:xfrm>
          <a:prstGeom prst="rect">
            <a:avLst/>
          </a:prstGeom>
        </p:spPr>
      </p:pic>
      <p:sp>
        <p:nvSpPr>
          <p:cNvPr id="266" name="TextBox 265">
            <a:extLst>
              <a:ext uri="{FF2B5EF4-FFF2-40B4-BE49-F238E27FC236}">
                <a16:creationId xmlns:a16="http://schemas.microsoft.com/office/drawing/2014/main" id="{5B6C3AAB-0635-F980-B92E-4870E6763F83}"/>
              </a:ext>
            </a:extLst>
          </p:cNvPr>
          <p:cNvSpPr txBox="1"/>
          <p:nvPr/>
        </p:nvSpPr>
        <p:spPr>
          <a:xfrm>
            <a:off x="5524644" y="4455923"/>
            <a:ext cx="72119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700" kern="0">
                <a:latin typeface="Segoe UI Light"/>
                <a:cs typeface="Segoe UI Light"/>
              </a:rPr>
              <a:t>NAT Gateway</a:t>
            </a:r>
            <a:endParaRPr lang="en-US">
              <a:ea typeface="+mn-ea"/>
            </a:endParaRPr>
          </a:p>
        </p:txBody>
      </p:sp>
      <p:pic>
        <p:nvPicPr>
          <p:cNvPr id="267" name="Graphic 266">
            <a:extLst>
              <a:ext uri="{FF2B5EF4-FFF2-40B4-BE49-F238E27FC236}">
                <a16:creationId xmlns:a16="http://schemas.microsoft.com/office/drawing/2014/main" id="{6C382E5A-B984-45B0-FD41-AAB01367995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734041" y="4151090"/>
            <a:ext cx="302400" cy="302400"/>
          </a:xfrm>
          <a:prstGeom prst="rect">
            <a:avLst/>
          </a:prstGeom>
        </p:spPr>
      </p:pic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33C44585-36AB-D94C-F397-DC47518AE1D3}"/>
              </a:ext>
            </a:extLst>
          </p:cNvPr>
          <p:cNvSpPr/>
          <p:nvPr/>
        </p:nvSpPr>
        <p:spPr bwMode="auto">
          <a:xfrm>
            <a:off x="4438602" y="3220316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69" name="TextBox 333">
            <a:extLst>
              <a:ext uri="{FF2B5EF4-FFF2-40B4-BE49-F238E27FC236}">
                <a16:creationId xmlns:a16="http://schemas.microsoft.com/office/drawing/2014/main" id="{B990D27C-D721-D3C7-78EC-C6D05BE2E385}"/>
              </a:ext>
            </a:extLst>
          </p:cNvPr>
          <p:cNvSpPr txBox="1"/>
          <p:nvPr/>
        </p:nvSpPr>
        <p:spPr>
          <a:xfrm>
            <a:off x="4656757" y="3650702"/>
            <a:ext cx="5860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PE</a:t>
            </a:r>
          </a:p>
        </p:txBody>
      </p:sp>
      <p:pic>
        <p:nvPicPr>
          <p:cNvPr id="270" name="Graphic 269">
            <a:extLst>
              <a:ext uri="{FF2B5EF4-FFF2-40B4-BE49-F238E27FC236}">
                <a16:creationId xmlns:a16="http://schemas.microsoft.com/office/drawing/2014/main" id="{827D6F69-4FA6-0850-E7C0-96CB21F496D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797935" y="3346015"/>
            <a:ext cx="303735" cy="303735"/>
          </a:xfrm>
          <a:prstGeom prst="rect">
            <a:avLst/>
          </a:prstGeom>
        </p:spPr>
      </p:pic>
      <p:sp>
        <p:nvSpPr>
          <p:cNvPr id="272" name="TextBox 271">
            <a:extLst>
              <a:ext uri="{FF2B5EF4-FFF2-40B4-BE49-F238E27FC236}">
                <a16:creationId xmlns:a16="http://schemas.microsoft.com/office/drawing/2014/main" id="{7C99F0CD-C554-7BA3-F286-D2BD3400C614}"/>
              </a:ext>
            </a:extLst>
          </p:cNvPr>
          <p:cNvSpPr txBox="1"/>
          <p:nvPr/>
        </p:nvSpPr>
        <p:spPr>
          <a:xfrm>
            <a:off x="4582516" y="3026257"/>
            <a:ext cx="6286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PE Subnet</a:t>
            </a:r>
          </a:p>
        </p:txBody>
      </p:sp>
      <p:pic>
        <p:nvPicPr>
          <p:cNvPr id="273" name="Graphic 272">
            <a:extLst>
              <a:ext uri="{FF2B5EF4-FFF2-40B4-BE49-F238E27FC236}">
                <a16:creationId xmlns:a16="http://schemas.microsoft.com/office/drawing/2014/main" id="{171EE40E-F42F-D8F5-8C61-AE90F7A378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60422" y="3039682"/>
            <a:ext cx="188595" cy="188595"/>
          </a:xfrm>
          <a:prstGeom prst="rect">
            <a:avLst/>
          </a:prstGeom>
        </p:spPr>
      </p:pic>
      <p:pic>
        <p:nvPicPr>
          <p:cNvPr id="274" name="Graphic 334">
            <a:extLst>
              <a:ext uri="{FF2B5EF4-FFF2-40B4-BE49-F238E27FC236}">
                <a16:creationId xmlns:a16="http://schemas.microsoft.com/office/drawing/2014/main" id="{BA50D734-F62B-EE37-E817-C85CC0A12E9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376877" y="3475008"/>
            <a:ext cx="172800" cy="172800"/>
          </a:xfrm>
          <a:prstGeom prst="rect">
            <a:avLst/>
          </a:prstGeom>
        </p:spPr>
      </p:pic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10A039DE-C87A-FD9E-DE51-F812540324EA}"/>
              </a:ext>
            </a:extLst>
          </p:cNvPr>
          <p:cNvSpPr/>
          <p:nvPr/>
        </p:nvSpPr>
        <p:spPr bwMode="auto">
          <a:xfrm>
            <a:off x="3282630" y="4110653"/>
            <a:ext cx="1022400" cy="684000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D86E86FF-5BD0-61B6-8026-9554EF258258}"/>
              </a:ext>
            </a:extLst>
          </p:cNvPr>
          <p:cNvSpPr txBox="1"/>
          <p:nvPr/>
        </p:nvSpPr>
        <p:spPr>
          <a:xfrm>
            <a:off x="3466696" y="4516872"/>
            <a:ext cx="6580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DevOps VM</a:t>
            </a:r>
          </a:p>
        </p:txBody>
      </p:sp>
      <p:pic>
        <p:nvPicPr>
          <p:cNvPr id="277" name="Graphic 276">
            <a:extLst>
              <a:ext uri="{FF2B5EF4-FFF2-40B4-BE49-F238E27FC236}">
                <a16:creationId xmlns:a16="http://schemas.microsoft.com/office/drawing/2014/main" id="{19F857D3-9387-B24E-6C4F-56C95F8640F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644523" y="4235471"/>
            <a:ext cx="302400" cy="302400"/>
          </a:xfrm>
          <a:prstGeom prst="rect">
            <a:avLst/>
          </a:prstGeom>
        </p:spPr>
      </p:pic>
      <p:pic>
        <p:nvPicPr>
          <p:cNvPr id="278" name="Graphic 277">
            <a:extLst>
              <a:ext uri="{FF2B5EF4-FFF2-40B4-BE49-F238E27FC236}">
                <a16:creationId xmlns:a16="http://schemas.microsoft.com/office/drawing/2014/main" id="{54A252A9-3886-1002-321E-8EC1742AB10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221172" y="4366928"/>
            <a:ext cx="172800" cy="172800"/>
          </a:xfrm>
          <a:prstGeom prst="rect">
            <a:avLst/>
          </a:prstGeom>
        </p:spPr>
      </p:pic>
      <p:sp>
        <p:nvSpPr>
          <p:cNvPr id="280" name="Rectangle 279">
            <a:extLst>
              <a:ext uri="{FF2B5EF4-FFF2-40B4-BE49-F238E27FC236}">
                <a16:creationId xmlns:a16="http://schemas.microsoft.com/office/drawing/2014/main" id="{DD421031-0EA1-E916-D910-2261C27E0F4D}"/>
              </a:ext>
            </a:extLst>
          </p:cNvPr>
          <p:cNvSpPr/>
          <p:nvPr/>
        </p:nvSpPr>
        <p:spPr>
          <a:xfrm>
            <a:off x="3406250" y="3912629"/>
            <a:ext cx="897828" cy="2030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3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DevOps Subnet</a:t>
            </a:r>
          </a:p>
        </p:txBody>
      </p:sp>
      <p:pic>
        <p:nvPicPr>
          <p:cNvPr id="281" name="Graphic 280">
            <a:extLst>
              <a:ext uri="{FF2B5EF4-FFF2-40B4-BE49-F238E27FC236}">
                <a16:creationId xmlns:a16="http://schemas.microsoft.com/office/drawing/2014/main" id="{18C6FF1E-19E4-94E9-96D6-58ECB80356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83988" y="3919869"/>
            <a:ext cx="188595" cy="188595"/>
          </a:xfrm>
          <a:prstGeom prst="rect">
            <a:avLst/>
          </a:prstGeom>
        </p:spPr>
      </p:pic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BFB90E56-2F52-511A-1D23-A5E993F14220}"/>
              </a:ext>
            </a:extLst>
          </p:cNvPr>
          <p:cNvSpPr/>
          <p:nvPr/>
        </p:nvSpPr>
        <p:spPr bwMode="auto">
          <a:xfrm>
            <a:off x="4443274" y="4111629"/>
            <a:ext cx="1022056" cy="682048"/>
          </a:xfrm>
          <a:prstGeom prst="roundRect">
            <a:avLst/>
          </a:prstGeom>
          <a:solidFill>
            <a:schemeClr val="bg1">
              <a:lumMod val="85000"/>
              <a:alpha val="30000"/>
            </a:schemeClr>
          </a:solidFill>
          <a:ln w="19050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380" tIns="45691" rIns="91380" bIns="456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00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83" name="Graphic 282">
            <a:extLst>
              <a:ext uri="{FF2B5EF4-FFF2-40B4-BE49-F238E27FC236}">
                <a16:creationId xmlns:a16="http://schemas.microsoft.com/office/drawing/2014/main" id="{28822559-DEE6-8A95-8BE5-6C55A0B12C5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376879" y="4368880"/>
            <a:ext cx="172800" cy="172800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4F54D277-2012-AE20-4FAD-413E99EA230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08671" y="4236447"/>
            <a:ext cx="302400" cy="302400"/>
          </a:xfrm>
          <a:prstGeom prst="rect">
            <a:avLst/>
          </a:prstGeom>
        </p:spPr>
      </p:pic>
      <p:sp>
        <p:nvSpPr>
          <p:cNvPr id="286" name="TextBox 285">
            <a:extLst>
              <a:ext uri="{FF2B5EF4-FFF2-40B4-BE49-F238E27FC236}">
                <a16:creationId xmlns:a16="http://schemas.microsoft.com/office/drawing/2014/main" id="{6EF5D798-3EBA-6CDA-92CD-4B548E8A9FB0}"/>
              </a:ext>
            </a:extLst>
          </p:cNvPr>
          <p:cNvSpPr txBox="1"/>
          <p:nvPr/>
        </p:nvSpPr>
        <p:spPr>
          <a:xfrm>
            <a:off x="4681429" y="4516872"/>
            <a:ext cx="5568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DSHA VM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E7B379BB-2A6B-3BE7-7E73-23DCF5197EEB}"/>
              </a:ext>
            </a:extLst>
          </p:cNvPr>
          <p:cNvSpPr/>
          <p:nvPr/>
        </p:nvSpPr>
        <p:spPr>
          <a:xfrm>
            <a:off x="4565751" y="3913605"/>
            <a:ext cx="944453" cy="2030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8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Workload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Subnet</a:t>
            </a:r>
          </a:p>
        </p:txBody>
      </p:sp>
      <p:pic>
        <p:nvPicPr>
          <p:cNvPr id="292" name="Graphic 291">
            <a:extLst>
              <a:ext uri="{FF2B5EF4-FFF2-40B4-BE49-F238E27FC236}">
                <a16:creationId xmlns:a16="http://schemas.microsoft.com/office/drawing/2014/main" id="{336A5C85-705D-A4C3-CFE4-F2D24F3219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43273" y="3920845"/>
            <a:ext cx="188595" cy="1885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7A11B6A-E72B-3AAA-B757-E78A9E53A5B0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136180" y="3263136"/>
            <a:ext cx="171450" cy="1714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97684C0-1FC2-9782-17FF-75527C5020F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460422" y="4137912"/>
            <a:ext cx="171450" cy="1714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68DF584-9D9C-D3C0-944C-B9899169521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299913" y="4137912"/>
            <a:ext cx="171450" cy="1714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122B175C-DEE6-0E53-CF58-13A14B15F43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056053" y="3476591"/>
            <a:ext cx="172800" cy="1728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A08599-9DDD-DEDF-C046-399379845101}"/>
              </a:ext>
            </a:extLst>
          </p:cNvPr>
          <p:cNvSpPr/>
          <p:nvPr/>
        </p:nvSpPr>
        <p:spPr>
          <a:xfrm>
            <a:off x="6490674" y="2765068"/>
            <a:ext cx="3013071" cy="1657965"/>
          </a:xfrm>
          <a:prstGeom prst="roundRect">
            <a:avLst>
              <a:gd name="adj" fmla="val 10020"/>
            </a:avLst>
          </a:prstGeom>
          <a:solidFill>
            <a:schemeClr val="accent1">
              <a:alpha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2DB74E3-0701-B0F9-6631-53A3F1A694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90673" y="2488513"/>
            <a:ext cx="252000" cy="252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979B9EE-BE0B-384A-7FE8-48EB1BAD65BA}"/>
              </a:ext>
            </a:extLst>
          </p:cNvPr>
          <p:cNvSpPr/>
          <p:nvPr/>
        </p:nvSpPr>
        <p:spPr>
          <a:xfrm>
            <a:off x="6727508" y="2508703"/>
            <a:ext cx="121944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Spoke KMCOX RG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E680D5F-2EFB-AC32-1609-527B2CD33FC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793577" y="2933087"/>
            <a:ext cx="334109" cy="33410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5D2F5C8-C0BC-9DEB-51E9-0DD9AE8A7804}"/>
              </a:ext>
            </a:extLst>
          </p:cNvPr>
          <p:cNvSpPr txBox="1"/>
          <p:nvPr/>
        </p:nvSpPr>
        <p:spPr>
          <a:xfrm>
            <a:off x="6642036" y="3282325"/>
            <a:ext cx="6371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App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C1F59F6-CDF7-7B07-DF4C-F8F753E2D61E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455575" y="2933087"/>
            <a:ext cx="334109" cy="3341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DAF3BCB-7D91-EDD2-DBA2-E6FCFF1E3A3E}"/>
              </a:ext>
            </a:extLst>
          </p:cNvPr>
          <p:cNvSpPr txBox="1"/>
          <p:nvPr/>
        </p:nvSpPr>
        <p:spPr>
          <a:xfrm>
            <a:off x="7320823" y="3282325"/>
            <a:ext cx="60361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Key Vault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9AB0C7-CF58-5ED7-D069-49C0F97315A9}"/>
              </a:ext>
            </a:extLst>
          </p:cNvPr>
          <p:cNvSpPr/>
          <p:nvPr/>
        </p:nvSpPr>
        <p:spPr>
          <a:xfrm>
            <a:off x="7973926" y="3282325"/>
            <a:ext cx="730832" cy="28617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Azure Open AI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A276BE35-3ABB-7D1B-60B2-3F57B295339D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6777149" y="3709713"/>
            <a:ext cx="334109" cy="33410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7B5247-49EC-D1F0-A8E5-C8AA8D766824}"/>
              </a:ext>
            </a:extLst>
          </p:cNvPr>
          <p:cNvSpPr txBox="1"/>
          <p:nvPr/>
        </p:nvSpPr>
        <p:spPr>
          <a:xfrm>
            <a:off x="6623744" y="4060046"/>
            <a:ext cx="6737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Cosmos DB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A058D056-067D-CBB1-E925-2784BE857883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172288" y="3709713"/>
            <a:ext cx="334109" cy="334109"/>
          </a:xfrm>
          <a:prstGeom prst="rect">
            <a:avLst/>
          </a:prstGeom>
        </p:spPr>
      </p:pic>
      <p:sp>
        <p:nvSpPr>
          <p:cNvPr id="111" name="Shape 1595">
            <a:extLst>
              <a:ext uri="{FF2B5EF4-FFF2-40B4-BE49-F238E27FC236}">
                <a16:creationId xmlns:a16="http://schemas.microsoft.com/office/drawing/2014/main" id="{7A0CCCD9-3713-0F25-E58B-BFAD8AC448CE}"/>
              </a:ext>
            </a:extLst>
          </p:cNvPr>
          <p:cNvSpPr/>
          <p:nvPr/>
        </p:nvSpPr>
        <p:spPr>
          <a:xfrm>
            <a:off x="7966544" y="4060046"/>
            <a:ext cx="745597" cy="20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47">
              <a:buClr>
                <a:srgbClr val="000000"/>
              </a:buClr>
              <a:defRPr/>
            </a:pPr>
            <a:r>
              <a:rPr lang="en-IN" sz="7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Quattrocento Sans"/>
              </a:rPr>
              <a:t>Bot Service</a:t>
            </a:r>
          </a:p>
        </p:txBody>
      </p:sp>
      <p:sp>
        <p:nvSpPr>
          <p:cNvPr id="42" name="Shape 1595">
            <a:extLst>
              <a:ext uri="{FF2B5EF4-FFF2-40B4-BE49-F238E27FC236}">
                <a16:creationId xmlns:a16="http://schemas.microsoft.com/office/drawing/2014/main" id="{5CACC96F-C317-83E9-08AC-DEE624C0BAD2}"/>
              </a:ext>
            </a:extLst>
          </p:cNvPr>
          <p:cNvSpPr/>
          <p:nvPr/>
        </p:nvSpPr>
        <p:spPr>
          <a:xfrm>
            <a:off x="7278671" y="4060046"/>
            <a:ext cx="6879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2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  <a:sym typeface="Quattrocento Sans"/>
              </a:rPr>
              <a:t>Azure ML</a:t>
            </a:r>
          </a:p>
        </p:txBody>
      </p:sp>
      <p:pic>
        <p:nvPicPr>
          <p:cNvPr id="216" name="Graphic 215">
            <a:extLst>
              <a:ext uri="{FF2B5EF4-FFF2-40B4-BE49-F238E27FC236}">
                <a16:creationId xmlns:a16="http://schemas.microsoft.com/office/drawing/2014/main" id="{B641D135-E16F-A85D-B932-756284409C76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7458900" y="3709713"/>
            <a:ext cx="334800" cy="3348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1876991-DFD5-7C2B-00C1-91B7C73878B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897807" y="2933087"/>
            <a:ext cx="334109" cy="33410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4BF2B0F-8BBD-3C93-ECDA-6448C161C824}"/>
              </a:ext>
            </a:extLst>
          </p:cNvPr>
          <p:cNvSpPr txBox="1"/>
          <p:nvPr/>
        </p:nvSpPr>
        <p:spPr>
          <a:xfrm>
            <a:off x="8801484" y="3282325"/>
            <a:ext cx="526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Storage Account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7B58BB-0E79-D4DE-8BB5-CB5057CFF014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8937303" y="3709713"/>
            <a:ext cx="256680" cy="33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2FD73F1-2463-9081-233F-9245CB94AE12}"/>
              </a:ext>
            </a:extLst>
          </p:cNvPr>
          <p:cNvSpPr txBox="1"/>
          <p:nvPr/>
        </p:nvSpPr>
        <p:spPr>
          <a:xfrm>
            <a:off x="8801484" y="4058951"/>
            <a:ext cx="526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ADLS Gen2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B2B46C0B-FB0D-1846-7C35-69C675A0D4F4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8171942" y="2956734"/>
            <a:ext cx="334800" cy="3348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8319418E-18CE-D638-2D49-466A1A769004}"/>
              </a:ext>
            </a:extLst>
          </p:cNvPr>
          <p:cNvSpPr/>
          <p:nvPr/>
        </p:nvSpPr>
        <p:spPr>
          <a:xfrm>
            <a:off x="6757136" y="2050882"/>
            <a:ext cx="876641" cy="189224"/>
          </a:xfrm>
          <a:prstGeom prst="rect">
            <a:avLst/>
          </a:prstGeom>
        </p:spPr>
        <p:txBody>
          <a:bodyPr wrap="square" lIns="91380" tIns="45691" rIns="91380" bIns="45691" rtlCol="0">
            <a:spAutoFit/>
          </a:bodyPr>
          <a:lstStyle/>
          <a:p>
            <a:pPr marL="0" marR="0" lvl="0" indent="0" algn="ctr" defTabSz="91371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EBD673B3-C0B3-AEAC-F76D-E652FC05F79E}"/>
              </a:ext>
            </a:extLst>
          </p:cNvPr>
          <p:cNvCxnSpPr>
            <a:cxnSpLocks/>
            <a:stCxn id="282" idx="2"/>
            <a:endCxn id="259" idx="0"/>
          </p:cNvCxnSpPr>
          <p:nvPr/>
        </p:nvCxnSpPr>
        <p:spPr>
          <a:xfrm rot="16200000" flipH="1">
            <a:off x="7241854" y="2506124"/>
            <a:ext cx="335050" cy="491015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>
                <a:lumMod val="60000"/>
                <a:lumOff val="4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8744F761-2A29-26EC-FF4C-593C6A078D9F}"/>
              </a:ext>
            </a:extLst>
          </p:cNvPr>
          <p:cNvCxnSpPr>
            <a:cxnSpLocks/>
            <a:stCxn id="282" idx="2"/>
            <a:endCxn id="243" idx="0"/>
          </p:cNvCxnSpPr>
          <p:nvPr/>
        </p:nvCxnSpPr>
        <p:spPr>
          <a:xfrm rot="16200000" flipH="1">
            <a:off x="5416927" y="4331051"/>
            <a:ext cx="611256" cy="1536507"/>
          </a:xfrm>
          <a:prstGeom prst="bentConnector3">
            <a:avLst>
              <a:gd name="adj1" fmla="val 27561"/>
            </a:avLst>
          </a:prstGeom>
          <a:ln w="12700">
            <a:solidFill>
              <a:schemeClr val="accent6">
                <a:lumMod val="60000"/>
                <a:lumOff val="4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8A6F66B-DEFE-D172-37A4-FAC789B77C9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7127686" y="3100142"/>
            <a:ext cx="231964" cy="0"/>
          </a:xfrm>
          <a:prstGeom prst="line">
            <a:avLst/>
          </a:prstGeom>
          <a:ln>
            <a:solidFill>
              <a:srgbClr val="2BC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33EE33C-CF0B-0DB3-665A-E96B7C0C6C53}"/>
              </a:ext>
            </a:extLst>
          </p:cNvPr>
          <p:cNvCxnSpPr>
            <a:cxnSpLocks/>
          </p:cNvCxnSpPr>
          <p:nvPr/>
        </p:nvCxnSpPr>
        <p:spPr>
          <a:xfrm flipV="1">
            <a:off x="7356157" y="2773920"/>
            <a:ext cx="0" cy="329323"/>
          </a:xfrm>
          <a:prstGeom prst="line">
            <a:avLst/>
          </a:prstGeom>
          <a:ln>
            <a:solidFill>
              <a:srgbClr val="2BC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D3045ED-019E-227C-A859-8E52A1E34558}"/>
              </a:ext>
            </a:extLst>
          </p:cNvPr>
          <p:cNvCxnSpPr>
            <a:cxnSpLocks/>
          </p:cNvCxnSpPr>
          <p:nvPr/>
        </p:nvCxnSpPr>
        <p:spPr>
          <a:xfrm>
            <a:off x="7353104" y="2776068"/>
            <a:ext cx="567252" cy="0"/>
          </a:xfrm>
          <a:prstGeom prst="line">
            <a:avLst/>
          </a:prstGeom>
          <a:ln>
            <a:solidFill>
              <a:srgbClr val="2BC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7B89F56-C112-C462-8064-0C445BE60708}"/>
              </a:ext>
            </a:extLst>
          </p:cNvPr>
          <p:cNvCxnSpPr>
            <a:cxnSpLocks/>
          </p:cNvCxnSpPr>
          <p:nvPr/>
        </p:nvCxnSpPr>
        <p:spPr>
          <a:xfrm flipV="1">
            <a:off x="7916863" y="1932811"/>
            <a:ext cx="0" cy="843237"/>
          </a:xfrm>
          <a:prstGeom prst="line">
            <a:avLst/>
          </a:prstGeom>
          <a:ln>
            <a:solidFill>
              <a:srgbClr val="2BCB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D7A89EA-98E1-FD8C-4925-3B9452304391}"/>
              </a:ext>
            </a:extLst>
          </p:cNvPr>
          <p:cNvCxnSpPr/>
          <p:nvPr/>
        </p:nvCxnSpPr>
        <p:spPr>
          <a:xfrm>
            <a:off x="7914640" y="1932811"/>
            <a:ext cx="426720" cy="0"/>
          </a:xfrm>
          <a:prstGeom prst="straightConnector1">
            <a:avLst/>
          </a:prstGeom>
          <a:ln>
            <a:solidFill>
              <a:srgbClr val="2BCBED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Graphic 113">
            <a:extLst>
              <a:ext uri="{FF2B5EF4-FFF2-40B4-BE49-F238E27FC236}">
                <a16:creationId xmlns:a16="http://schemas.microsoft.com/office/drawing/2014/main" id="{1F523343-3481-E084-3139-DE17B26D71B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663783" y="204831"/>
            <a:ext cx="28720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40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C62BE-F770-EE9A-0B89-887A9978C1E2}"/>
              </a:ext>
            </a:extLst>
          </p:cNvPr>
          <p:cNvSpPr txBox="1"/>
          <p:nvPr/>
        </p:nvSpPr>
        <p:spPr>
          <a:xfrm>
            <a:off x="134471" y="304801"/>
            <a:ext cx="5289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Segoe UI Light" panose="020B0502040204020203" pitchFamily="34" charset="0"/>
                <a:cs typeface="Segoe UI Light" panose="020B0502040204020203" pitchFamily="34" charset="0"/>
              </a:rPr>
              <a:t>Reference Links for SVG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010F0-3316-6173-136D-F5DDBECE0ADB}"/>
              </a:ext>
            </a:extLst>
          </p:cNvPr>
          <p:cNvSpPr txBox="1"/>
          <p:nvPr/>
        </p:nvSpPr>
        <p:spPr>
          <a:xfrm>
            <a:off x="601830" y="1247894"/>
            <a:ext cx="10414513" cy="37802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Segoe UI Light" panose="020B0502040204020203" pitchFamily="34" charset="0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icons - Azure Architecture </a:t>
            </a:r>
            <a:r>
              <a:rPr lang="en-IN" dirty="0" err="1">
                <a:latin typeface="Segoe UI Light" panose="020B0502040204020203" pitchFamily="34" charset="0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Center</a:t>
            </a:r>
            <a:r>
              <a:rPr lang="en-IN" dirty="0">
                <a:latin typeface="Segoe UI Light" panose="020B0502040204020203" pitchFamily="34" charset="0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Microsoft Learn</a:t>
            </a:r>
            <a:br>
              <a:rPr lang="en-IN" dirty="0">
                <a:latin typeface="Segoe UI Light" panose="020B0502040204020203" pitchFamily="34" charset="0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IN" dirty="0">
                <a:latin typeface="Segoe UI Light" panose="020B0502040204020203" pitchFamily="34" charset="0"/>
                <a:cs typeface="Segoe UI 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code.benco.io/icon-collection/</a:t>
            </a:r>
            <a:endParaRPr lang="en-IN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Segoe UI Light" panose="020B0502040204020203" pitchFamily="34" charset="0"/>
                <a:cs typeface="Segoe UI Ligh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Amazing Icon Downloader (google.com)</a:t>
            </a:r>
            <a:endParaRPr lang="en-IN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Segoe UI Light"/>
                <a:cs typeface="Segoe UI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logos for '' (</a:t>
            </a:r>
            <a:r>
              <a:rPr lang="en-IN" dirty="0" err="1">
                <a:latin typeface="Segoe UI Light"/>
                <a:cs typeface="Segoe UI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vectorlogo.zone</a:t>
            </a:r>
            <a:r>
              <a:rPr lang="en-IN" dirty="0">
                <a:latin typeface="Segoe UI Light"/>
                <a:cs typeface="Segoe UI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IN" dirty="0">
              <a:latin typeface="Segoe UI Light"/>
              <a:cs typeface="Segoe UI Light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Segoe UI Light"/>
                <a:cs typeface="Segoe UI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Azure-Design/</a:t>
            </a:r>
            <a:r>
              <a:rPr lang="en-IN" dirty="0" err="1">
                <a:latin typeface="Segoe UI Light"/>
                <a:cs typeface="Segoe UI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SVG_Azure_All</a:t>
            </a:r>
            <a:r>
              <a:rPr lang="en-IN" dirty="0">
                <a:latin typeface="Segoe UI Light"/>
                <a:cs typeface="Segoe UI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at master · David-Summers/Azure-Design · GitHub</a:t>
            </a:r>
            <a:br>
              <a:rPr lang="en-IN" dirty="0">
                <a:latin typeface="Segoe UI Light"/>
                <a:cs typeface="Segoe UI Light"/>
              </a:rPr>
            </a:br>
            <a:r>
              <a:rPr lang="en-IN" u="sng" dirty="0">
                <a:latin typeface="Segoe UI Light"/>
                <a:cs typeface="Segoe UI Ligh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https://vectorseek.com/</a:t>
            </a:r>
            <a:endParaRPr lang="en-IN" u="sng" dirty="0">
              <a:latin typeface="Segoe UI Light"/>
              <a:cs typeface="Segoe UI Light"/>
            </a:endParaRPr>
          </a:p>
          <a:p>
            <a:pPr>
              <a:lnSpc>
                <a:spcPct val="150000"/>
              </a:lnSpc>
            </a:pPr>
            <a:r>
              <a:rPr lang="en-IN" u="sng" dirty="0">
                <a:latin typeface="Segoe UI Light"/>
                <a:cs typeface="Segoe UI Ligh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https://cloud-icons.onemodel.app/azure/new_icons/icon_service_data_collection_rules</a:t>
            </a:r>
            <a:br>
              <a:rPr lang="en-IN" u="sng" dirty="0">
                <a:latin typeface="Segoe UI Light"/>
                <a:cs typeface="Segoe UI Light"/>
              </a:rPr>
            </a:br>
            <a:r>
              <a:rPr lang="en-IN" u="sng" dirty="0">
                <a:latin typeface="Segoe UI Light"/>
                <a:cs typeface="Segoe UI Ligh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https://az-icons.com/icon/groups</a:t>
            </a:r>
            <a:endParaRPr lang="en-IN" u="sng" dirty="0">
              <a:latin typeface="Segoe UI Light"/>
              <a:cs typeface="Segoe UI Light"/>
            </a:endParaRPr>
          </a:p>
          <a:p>
            <a:pPr>
              <a:lnSpc>
                <a:spcPct val="150000"/>
              </a:lnSpc>
            </a:pPr>
            <a:r>
              <a:rPr lang="en-IN" u="sng" dirty="0">
                <a:latin typeface="Segoe UI Light"/>
                <a:cs typeface="Segoe UI Light"/>
              </a:rPr>
              <a:t>https://www.svgviewer.dev/s/403638/sync</a:t>
            </a:r>
          </a:p>
        </p:txBody>
      </p:sp>
    </p:spTree>
    <p:extLst>
      <p:ext uri="{BB962C8B-B14F-4D97-AF65-F5344CB8AC3E}">
        <p14:creationId xmlns:p14="http://schemas.microsoft.com/office/powerpoint/2010/main" val="187851358"/>
      </p:ext>
    </p:extLst>
  </p:cSld>
  <p:clrMapOvr>
    <a:masterClrMapping/>
  </p:clrMapOvr>
</p:sld>
</file>

<file path=ppt/theme/theme1.xml><?xml version="1.0" encoding="utf-8"?>
<a:theme xmlns:a="http://schemas.openxmlformats.org/drawingml/2006/main" name="CT PPT Them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 PPT Theme 2" id="{8AEDCFBB-84DE-4652-B553-013EDA0D270D}" vid="{35EA7542-72CC-41D7-BE61-23BC66444F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DA4D9473F5894790FA3D275DD35136" ma:contentTypeVersion="24" ma:contentTypeDescription="Create a new document." ma:contentTypeScope="" ma:versionID="963afe7cd88fd2cda5aaa57c55d76be9">
  <xsd:schema xmlns:xsd="http://www.w3.org/2001/XMLSchema" xmlns:xs="http://www.w3.org/2001/XMLSchema" xmlns:p="http://schemas.microsoft.com/office/2006/metadata/properties" xmlns:ns2="bf70f3e3-3f7a-417f-9559-0c3af7f58df7" xmlns:ns3="789ad118-fc3a-4b04-bdba-8afd829291e0" targetNamespace="http://schemas.microsoft.com/office/2006/metadata/properties" ma:root="true" ma:fieldsID="709507661acfacc1cf0738acb9e3fd0c" ns2:_="" ns3:_="">
    <xsd:import namespace="bf70f3e3-3f7a-417f-9559-0c3af7f58df7"/>
    <xsd:import namespace="789ad118-fc3a-4b04-bdba-8afd829291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3:TaxCatchAll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70f3e3-3f7a-417f-9559-0c3af7f58d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9ad118-fc3a-4b04-bdba-8afd829291e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cf21e6b-5322-40ee-a312-d30857cd4334}" ma:internalName="TaxCatchAll" ma:showField="CatchAllData" ma:web="789ad118-fc3a-4b04-bdba-8afd829291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9ad118-fc3a-4b04-bdba-8afd829291e0" xsi:nil="true"/>
    <lcf76f155ced4ddcb4097134ff3c332f xmlns="bf70f3e3-3f7a-417f-9559-0c3af7f58df7" xsi:nil="true"/>
  </documentManagement>
</p:properties>
</file>

<file path=customXml/itemProps1.xml><?xml version="1.0" encoding="utf-8"?>
<ds:datastoreItem xmlns:ds="http://schemas.openxmlformats.org/officeDocument/2006/customXml" ds:itemID="{DBFC799D-58C9-4682-B213-56C74397C3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70f3e3-3f7a-417f-9559-0c3af7f58df7"/>
    <ds:schemaRef ds:uri="789ad118-fc3a-4b04-bdba-8afd829291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FF060C-EE56-49FE-965C-9FCB6713E1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446F1A-6189-4352-BA67-C7C7573A45C5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bf70f3e3-3f7a-417f-9559-0c3af7f58df7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789ad118-fc3a-4b04-bdba-8afd829291e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CT PPT Theme 2 (1)</Template>
  <TotalTime>2025</TotalTime>
  <Words>1744</Words>
  <Application>Microsoft Office PowerPoint</Application>
  <PresentationFormat>Widescreen</PresentationFormat>
  <Paragraphs>408</Paragraphs>
  <Slides>31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Arial</vt:lpstr>
      <vt:lpstr>Calibri</vt:lpstr>
      <vt:lpstr>Calibri Light</vt:lpstr>
      <vt:lpstr>Segoe UI</vt:lpstr>
      <vt:lpstr>Segoe UI Light</vt:lpstr>
      <vt:lpstr>Wingdings</vt:lpstr>
      <vt:lpstr>CT PPT Theme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Chetan Jangid</dc:creator>
  <cp:lastModifiedBy>Ayushi Sharma1</cp:lastModifiedBy>
  <cp:revision>1</cp:revision>
  <dcterms:created xsi:type="dcterms:W3CDTF">2013-07-15T20:26:40Z</dcterms:created>
  <dcterms:modified xsi:type="dcterms:W3CDTF">2025-12-16T18:52:25Z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0x0101005ADA4D9473F5894790FA3D275DD35136</vt:lpwstr>
  </property>
</Properties>
</file>